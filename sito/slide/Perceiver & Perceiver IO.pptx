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60" r:id="rId2"/>
    <p:sldId id="275" r:id="rId3"/>
    <p:sldId id="276" r:id="rId4"/>
    <p:sldId id="321" r:id="rId5"/>
    <p:sldId id="322" r:id="rId6"/>
    <p:sldId id="316" r:id="rId7"/>
    <p:sldId id="314" r:id="rId8"/>
    <p:sldId id="280" r:id="rId9"/>
    <p:sldId id="279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90" r:id="rId18"/>
    <p:sldId id="291" r:id="rId19"/>
    <p:sldId id="292" r:id="rId20"/>
    <p:sldId id="294" r:id="rId21"/>
    <p:sldId id="295" r:id="rId22"/>
    <p:sldId id="297" r:id="rId23"/>
    <p:sldId id="298" r:id="rId24"/>
    <p:sldId id="299" r:id="rId25"/>
    <p:sldId id="300" r:id="rId26"/>
    <p:sldId id="302" r:id="rId27"/>
    <p:sldId id="303" r:id="rId28"/>
    <p:sldId id="304" r:id="rId29"/>
    <p:sldId id="305" r:id="rId30"/>
    <p:sldId id="306" r:id="rId31"/>
    <p:sldId id="307" r:id="rId32"/>
    <p:sldId id="308" r:id="rId33"/>
    <p:sldId id="309" r:id="rId34"/>
    <p:sldId id="310" r:id="rId35"/>
    <p:sldId id="311" r:id="rId36"/>
    <p:sldId id="312" r:id="rId37"/>
    <p:sldId id="313" r:id="rId38"/>
    <p:sldId id="262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02E61-26DD-4A1E-8E6A-E2067667E5F7}" v="386" dt="2026-06-26T11:04:36.9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1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Gigli" userId="f89a709f7a6bca5b" providerId="LiveId" clId="{C4A6562D-4991-4ACE-B1F8-42E496B0C622}"/>
    <pc:docChg chg="undo custSel addSld delSld modSld sldOrd">
      <pc:chgData name="Francesco Gigli" userId="f89a709f7a6bca5b" providerId="LiveId" clId="{C4A6562D-4991-4ACE-B1F8-42E496B0C622}" dt="2026-06-26T14:08:48.857" v="1379" actId="1076"/>
      <pc:docMkLst>
        <pc:docMk/>
      </pc:docMkLst>
      <pc:sldChg chg="add del">
        <pc:chgData name="Francesco Gigli" userId="f89a709f7a6bca5b" providerId="LiveId" clId="{C4A6562D-4991-4ACE-B1F8-42E496B0C622}" dt="2026-06-26T08:26:54.554" v="627"/>
        <pc:sldMkLst>
          <pc:docMk/>
          <pc:sldMk cId="2332281121" sldId="262"/>
        </pc:sldMkLst>
      </pc:sldChg>
      <pc:sldChg chg="modSp del mod">
        <pc:chgData name="Francesco Gigli" userId="f89a709f7a6bca5b" providerId="LiveId" clId="{C4A6562D-4991-4ACE-B1F8-42E496B0C622}" dt="2026-06-26T13:29:24.450" v="1370" actId="47"/>
        <pc:sldMkLst>
          <pc:docMk/>
          <pc:sldMk cId="2822460831" sldId="274"/>
        </pc:sldMkLst>
      </pc:sldChg>
      <pc:sldChg chg="addSp delSp modSp mod">
        <pc:chgData name="Francesco Gigli" userId="f89a709f7a6bca5b" providerId="LiveId" clId="{C4A6562D-4991-4ACE-B1F8-42E496B0C622}" dt="2026-06-26T09:06:40.325" v="882" actId="20577"/>
        <pc:sldMkLst>
          <pc:docMk/>
          <pc:sldMk cId="1215343669" sldId="276"/>
        </pc:sldMkLst>
        <pc:spChg chg="mod">
          <ac:chgData name="Francesco Gigli" userId="f89a709f7a6bca5b" providerId="LiveId" clId="{C4A6562D-4991-4ACE-B1F8-42E496B0C622}" dt="2026-06-26T09:04:45.587" v="778" actId="1076"/>
          <ac:spMkLst>
            <pc:docMk/>
            <pc:sldMk cId="1215343669" sldId="276"/>
            <ac:spMk id="4" creationId="{A79B9830-61D5-1253-FF73-4F280D46A53B}"/>
          </ac:spMkLst>
        </pc:spChg>
        <pc:spChg chg="mod">
          <ac:chgData name="Francesco Gigli" userId="f89a709f7a6bca5b" providerId="LiveId" clId="{C4A6562D-4991-4ACE-B1F8-42E496B0C622}" dt="2026-06-26T09:04:39.526" v="776" actId="14100"/>
          <ac:spMkLst>
            <pc:docMk/>
            <pc:sldMk cId="1215343669" sldId="276"/>
            <ac:spMk id="5" creationId="{A99989DC-1BCA-404D-8A2C-A424F24F9AC8}"/>
          </ac:spMkLst>
        </pc:spChg>
        <pc:spChg chg="mod">
          <ac:chgData name="Francesco Gigli" userId="f89a709f7a6bca5b" providerId="LiveId" clId="{C4A6562D-4991-4ACE-B1F8-42E496B0C622}" dt="2026-06-26T09:04:28.681" v="775" actId="14100"/>
          <ac:spMkLst>
            <pc:docMk/>
            <pc:sldMk cId="1215343669" sldId="276"/>
            <ac:spMk id="6" creationId="{73496C9D-A997-440D-A477-CCD3631D2FFE}"/>
          </ac:spMkLst>
        </pc:spChg>
        <pc:spChg chg="mod">
          <ac:chgData name="Francesco Gigli" userId="f89a709f7a6bca5b" providerId="LiveId" clId="{C4A6562D-4991-4ACE-B1F8-42E496B0C622}" dt="2026-06-26T09:05:06.128" v="825" actId="1037"/>
          <ac:spMkLst>
            <pc:docMk/>
            <pc:sldMk cId="1215343669" sldId="276"/>
            <ac:spMk id="7" creationId="{E47BE781-BDE9-4F6D-BF99-15505C0BAC56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8" creationId="{277B1E6E-9151-41C9-8860-C0222476830B}"/>
          </ac:spMkLst>
        </pc:spChg>
        <pc:spChg chg="mod">
          <ac:chgData name="Francesco Gigli" userId="f89a709f7a6bca5b" providerId="LiveId" clId="{C4A6562D-4991-4ACE-B1F8-42E496B0C622}" dt="2026-06-26T09:05:43.620" v="874" actId="20577"/>
          <ac:spMkLst>
            <pc:docMk/>
            <pc:sldMk cId="1215343669" sldId="276"/>
            <ac:spMk id="9" creationId="{751429FB-981B-4CCE-9EBA-712549F3A7C5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0" creationId="{1D0C3AD1-30A3-46A4-9ABC-317BD81D00EC}"/>
          </ac:spMkLst>
        </pc:spChg>
        <pc:spChg chg="mod">
          <ac:chgData name="Francesco Gigli" userId="f89a709f7a6bca5b" providerId="LiveId" clId="{C4A6562D-4991-4ACE-B1F8-42E496B0C622}" dt="2026-06-26T09:05:43.001" v="873" actId="20577"/>
          <ac:spMkLst>
            <pc:docMk/>
            <pc:sldMk cId="1215343669" sldId="276"/>
            <ac:spMk id="11" creationId="{380C3E53-A290-4590-AB07-B9A6F66C1468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2" creationId="{5D7263DC-37ED-4B49-950F-0306756FC5EC}"/>
          </ac:spMkLst>
        </pc:spChg>
        <pc:spChg chg="mod">
          <ac:chgData name="Francesco Gigli" userId="f89a709f7a6bca5b" providerId="LiveId" clId="{C4A6562D-4991-4ACE-B1F8-42E496B0C622}" dt="2026-06-26T09:05:42.828" v="872" actId="20577"/>
          <ac:spMkLst>
            <pc:docMk/>
            <pc:sldMk cId="1215343669" sldId="276"/>
            <ac:spMk id="13" creationId="{609A5295-4DC2-481B-AEA7-BCA8CD30DFB4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4" creationId="{679DC7B8-B681-47AE-BD4D-4374C6D1E3B3}"/>
          </ac:spMkLst>
        </pc:spChg>
        <pc:spChg chg="mod">
          <ac:chgData name="Francesco Gigli" userId="f89a709f7a6bca5b" providerId="LiveId" clId="{C4A6562D-4991-4ACE-B1F8-42E496B0C622}" dt="2026-06-26T09:05:21.483" v="829" actId="14100"/>
          <ac:spMkLst>
            <pc:docMk/>
            <pc:sldMk cId="1215343669" sldId="276"/>
            <ac:spMk id="15" creationId="{648B9E9E-C403-49DE-956D-21C670CB8EE5}"/>
          </ac:spMkLst>
        </pc:spChg>
        <pc:spChg chg="mod">
          <ac:chgData name="Francesco Gigli" userId="f89a709f7a6bca5b" providerId="LiveId" clId="{C4A6562D-4991-4ACE-B1F8-42E496B0C622}" dt="2026-06-26T09:05:51.310" v="875" actId="14100"/>
          <ac:spMkLst>
            <pc:docMk/>
            <pc:sldMk cId="1215343669" sldId="276"/>
            <ac:spMk id="16" creationId="{C175B906-1279-4504-8FFF-FB4757B2C068}"/>
          </ac:spMkLst>
        </pc:spChg>
        <pc:spChg chg="del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7" creationId="{5251AE95-1DA5-4502-8202-EC1C34487B74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8" creationId="{31310673-6690-4268-8F77-A92AB08AA31C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21" creationId="{A65B67BC-D358-4F83-A36E-E5EBCD28604D}"/>
          </ac:spMkLst>
        </pc:spChg>
        <pc:spChg chg="mod">
          <ac:chgData name="Francesco Gigli" userId="f89a709f7a6bca5b" providerId="LiveId" clId="{C4A6562D-4991-4ACE-B1F8-42E496B0C622}" dt="2026-06-26T09:06:40.325" v="882" actId="20577"/>
          <ac:spMkLst>
            <pc:docMk/>
            <pc:sldMk cId="1215343669" sldId="276"/>
            <ac:spMk id="23" creationId="{C00477AF-EB6F-4E8B-9A72-0CCBCB474D0C}"/>
          </ac:spMkLst>
        </pc:spChg>
        <pc:graphicFrameChg chg="del mod">
          <ac:chgData name="Francesco Gigli" userId="f89a709f7a6bca5b" providerId="LiveId" clId="{C4A6562D-4991-4ACE-B1F8-42E496B0C622}" dt="2026-06-26T08:55:17.471" v="656" actId="478"/>
          <ac:graphicFrameMkLst>
            <pc:docMk/>
            <pc:sldMk cId="1215343669" sldId="276"/>
            <ac:graphicFrameMk id="20" creationId="{4F55156B-D676-419B-9AE8-C8D0CAB89D42}"/>
          </ac:graphicFrameMkLst>
        </pc:graphicFrameChg>
        <pc:picChg chg="add del mod">
          <ac:chgData name="Francesco Gigli" userId="f89a709f7a6bca5b" providerId="LiveId" clId="{C4A6562D-4991-4ACE-B1F8-42E496B0C622}" dt="2026-06-26T08:59:26.240" v="752" actId="478"/>
          <ac:picMkLst>
            <pc:docMk/>
            <pc:sldMk cId="1215343669" sldId="276"/>
            <ac:picMk id="19" creationId="{BEE88A9E-B5F5-2D12-A08F-91D691F5FE04}"/>
          </ac:picMkLst>
        </pc:picChg>
        <pc:picChg chg="add mod">
          <ac:chgData name="Francesco Gigli" userId="f89a709f7a6bca5b" providerId="LiveId" clId="{C4A6562D-4991-4ACE-B1F8-42E496B0C622}" dt="2026-06-26T09:06:11.617" v="881" actId="1076"/>
          <ac:picMkLst>
            <pc:docMk/>
            <pc:sldMk cId="1215343669" sldId="276"/>
            <ac:picMk id="25" creationId="{C1E313AC-613D-8635-BE29-C1A0626E1ACC}"/>
          </ac:picMkLst>
        </pc:picChg>
        <pc:picChg chg="add mod">
          <ac:chgData name="Francesco Gigli" userId="f89a709f7a6bca5b" providerId="LiveId" clId="{C4A6562D-4991-4ACE-B1F8-42E496B0C622}" dt="2026-06-26T09:06:09.472" v="880" actId="1076"/>
          <ac:picMkLst>
            <pc:docMk/>
            <pc:sldMk cId="1215343669" sldId="276"/>
            <ac:picMk id="26" creationId="{CEE7E67F-5AC5-6905-6829-BC989AA43835}"/>
          </ac:picMkLst>
        </pc:picChg>
        <pc:picChg chg="add mod">
          <ac:chgData name="Francesco Gigli" userId="f89a709f7a6bca5b" providerId="LiveId" clId="{C4A6562D-4991-4ACE-B1F8-42E496B0C622}" dt="2026-06-26T09:06:06.079" v="879" actId="14100"/>
          <ac:picMkLst>
            <pc:docMk/>
            <pc:sldMk cId="1215343669" sldId="276"/>
            <ac:picMk id="27" creationId="{E7300981-8A09-B32E-B7C4-EEDAE3614557}"/>
          </ac:picMkLst>
        </pc:picChg>
      </pc:sldChg>
      <pc:sldChg chg="modSp add del mod">
        <pc:chgData name="Francesco Gigli" userId="f89a709f7a6bca5b" providerId="LiveId" clId="{C4A6562D-4991-4ACE-B1F8-42E496B0C622}" dt="2026-06-26T08:27:06.077" v="628" actId="207"/>
        <pc:sldMkLst>
          <pc:docMk/>
          <pc:sldMk cId="2628307212" sldId="279"/>
        </pc:sldMkLst>
        <pc:spChg chg="mod">
          <ac:chgData name="Francesco Gigli" userId="f89a709f7a6bca5b" providerId="LiveId" clId="{C4A6562D-4991-4ACE-B1F8-42E496B0C622}" dt="2026-06-26T08:27:06.077" v="628" actId="207"/>
          <ac:spMkLst>
            <pc:docMk/>
            <pc:sldMk cId="2628307212" sldId="279"/>
            <ac:spMk id="2" creationId="{AF95F253-AD08-B1BC-C8F1-1AFCA8581976}"/>
          </ac:spMkLst>
        </pc:spChg>
      </pc:sldChg>
      <pc:sldChg chg="modSp add del mod">
        <pc:chgData name="Francesco Gigli" userId="f89a709f7a6bca5b" providerId="LiveId" clId="{C4A6562D-4991-4ACE-B1F8-42E496B0C622}" dt="2026-06-26T13:56:53.373" v="1377" actId="14100"/>
        <pc:sldMkLst>
          <pc:docMk/>
          <pc:sldMk cId="1736177399" sldId="280"/>
        </pc:sldMkLst>
        <pc:spChg chg="mod">
          <ac:chgData name="Francesco Gigli" userId="f89a709f7a6bca5b" providerId="LiveId" clId="{C4A6562D-4991-4ACE-B1F8-42E496B0C622}" dt="2026-06-26T08:29:18.582" v="629" actId="207"/>
          <ac:spMkLst>
            <pc:docMk/>
            <pc:sldMk cId="1736177399" sldId="280"/>
            <ac:spMk id="2" creationId="{53C65412-2859-171C-3C20-1D3B89565ABA}"/>
          </ac:spMkLst>
        </pc:spChg>
        <pc:picChg chg="mod">
          <ac:chgData name="Francesco Gigli" userId="f89a709f7a6bca5b" providerId="LiveId" clId="{C4A6562D-4991-4ACE-B1F8-42E496B0C622}" dt="2026-06-26T13:56:53.373" v="1377" actId="14100"/>
          <ac:picMkLst>
            <pc:docMk/>
            <pc:sldMk cId="1736177399" sldId="280"/>
            <ac:picMk id="17" creationId="{00000000-0000-0000-0000-000000000000}"/>
          </ac:picMkLst>
        </pc:picChg>
      </pc:sldChg>
      <pc:sldChg chg="add del">
        <pc:chgData name="Francesco Gigli" userId="f89a709f7a6bca5b" providerId="LiveId" clId="{C4A6562D-4991-4ACE-B1F8-42E496B0C622}" dt="2026-06-26T13:56:59.191" v="1378" actId="47"/>
        <pc:sldMkLst>
          <pc:docMk/>
          <pc:sldMk cId="2066811356" sldId="28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98505060" sldId="28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78838086" sldId="28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294688998" sldId="28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76115099" sldId="28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49060376" sldId="28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85290525" sldId="28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22032366" sldId="28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85006604" sldId="29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706570745" sldId="29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667801620" sldId="29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69542203" sldId="29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4111356" sldId="29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124111434" sldId="29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24057446" sldId="29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85151815" sldId="29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01848557" sldId="30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04186826" sldId="30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63087791" sldId="30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15013059" sldId="30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527793755" sldId="30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712539712" sldId="30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17728501" sldId="30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305740726" sldId="30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433977972" sldId="30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57254047" sldId="31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546467433" sldId="31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92517604" sldId="31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631315825" sldId="313"/>
        </pc:sldMkLst>
      </pc:sldChg>
      <pc:sldChg chg="addSp delSp modSp add mod">
        <pc:chgData name="Francesco Gigli" userId="f89a709f7a6bca5b" providerId="LiveId" clId="{C4A6562D-4991-4ACE-B1F8-42E496B0C622}" dt="2026-06-26T14:08:48.857" v="1379" actId="1076"/>
        <pc:sldMkLst>
          <pc:docMk/>
          <pc:sldMk cId="2854741937" sldId="314"/>
        </pc:sldMkLst>
        <pc:spChg chg="add mod">
          <ac:chgData name="Francesco Gigli" userId="f89a709f7a6bca5b" providerId="LiveId" clId="{C4A6562D-4991-4ACE-B1F8-42E496B0C622}" dt="2026-06-17T10:32:21.059" v="231" actId="20577"/>
          <ac:spMkLst>
            <pc:docMk/>
            <pc:sldMk cId="2854741937" sldId="314"/>
            <ac:spMk id="7" creationId="{F9199AF9-D49A-E7E7-FA39-B58A38AFB16C}"/>
          </ac:spMkLst>
        </pc:spChg>
        <pc:spChg chg="add del">
          <ac:chgData name="Francesco Gigli" userId="f89a709f7a6bca5b" providerId="LiveId" clId="{C4A6562D-4991-4ACE-B1F8-42E496B0C622}" dt="2026-06-26T11:03:41.662" v="1172" actId="22"/>
          <ac:spMkLst>
            <pc:docMk/>
            <pc:sldMk cId="2854741937" sldId="314"/>
            <ac:spMk id="8" creationId="{3C262C11-0705-C5B5-F30F-DC844B01A97B}"/>
          </ac:spMkLst>
        </pc:spChg>
        <pc:spChg chg="mod">
          <ac:chgData name="Francesco Gigli" userId="f89a709f7a6bca5b" providerId="LiveId" clId="{C4A6562D-4991-4ACE-B1F8-42E496B0C622}" dt="2026-06-17T10:32:22.118" v="232" actId="20577"/>
          <ac:spMkLst>
            <pc:docMk/>
            <pc:sldMk cId="2854741937" sldId="314"/>
            <ac:spMk id="15" creationId="{DE0B5638-D561-478B-9939-BBA3CCA8461B}"/>
          </ac:spMkLst>
        </pc:spChg>
        <pc:picChg chg="add del mod">
          <ac:chgData name="Francesco Gigli" userId="f89a709f7a6bca5b" providerId="LiveId" clId="{C4A6562D-4991-4ACE-B1F8-42E496B0C622}" dt="2026-06-26T11:03:40.263" v="1169" actId="478"/>
          <ac:picMkLst>
            <pc:docMk/>
            <pc:sldMk cId="2854741937" sldId="314"/>
            <ac:picMk id="5" creationId="{EB96F87D-D115-EE8A-2B42-BED6376A5EA0}"/>
          </ac:picMkLst>
        </pc:picChg>
        <pc:picChg chg="add mod">
          <ac:chgData name="Francesco Gigli" userId="f89a709f7a6bca5b" providerId="LiveId" clId="{C4A6562D-4991-4ACE-B1F8-42E496B0C622}" dt="2026-06-26T14:08:48.857" v="1379" actId="1076"/>
          <ac:picMkLst>
            <pc:docMk/>
            <pc:sldMk cId="2854741937" sldId="314"/>
            <ac:picMk id="10" creationId="{3670A3B8-3F13-7D62-5BB5-C8046E4A1501}"/>
          </ac:picMkLst>
        </pc:picChg>
        <pc:picChg chg="del">
          <ac:chgData name="Francesco Gigli" userId="f89a709f7a6bca5b" providerId="LiveId" clId="{C4A6562D-4991-4ACE-B1F8-42E496B0C622}" dt="2026-06-26T08:37:46.257" v="630" actId="478"/>
          <ac:picMkLst>
            <pc:docMk/>
            <pc:sldMk cId="2854741937" sldId="314"/>
            <ac:picMk id="20" creationId="{00000000-0000-0000-0000-000000000000}"/>
          </ac:picMkLst>
        </pc:picChg>
      </pc:sldChg>
      <pc:sldChg chg="modSp add mod ord">
        <pc:chgData name="Francesco Gigli" userId="f89a709f7a6bca5b" providerId="LiveId" clId="{C4A6562D-4991-4ACE-B1F8-42E496B0C622}" dt="2026-06-26T13:55:17.447" v="1375"/>
        <pc:sldMkLst>
          <pc:docMk/>
          <pc:sldMk cId="3665472281" sldId="316"/>
        </pc:sldMkLst>
        <pc:spChg chg="mod">
          <ac:chgData name="Francesco Gigli" userId="f89a709f7a6bca5b" providerId="LiveId" clId="{C4A6562D-4991-4ACE-B1F8-42E496B0C622}" dt="2026-06-17T14:04:15.890" v="623" actId="1076"/>
          <ac:spMkLst>
            <pc:docMk/>
            <pc:sldMk cId="3665472281" sldId="316"/>
            <ac:spMk id="16" creationId="{1D313583-3C86-72A3-B32A-91521DA04A70}"/>
          </ac:spMkLst>
        </pc:spChg>
        <pc:spChg chg="mod">
          <ac:chgData name="Francesco Gigli" userId="f89a709f7a6bca5b" providerId="LiveId" clId="{C4A6562D-4991-4ACE-B1F8-42E496B0C622}" dt="2026-06-17T14:04:19.641" v="624" actId="1076"/>
          <ac:spMkLst>
            <pc:docMk/>
            <pc:sldMk cId="3665472281" sldId="316"/>
            <ac:spMk id="20" creationId="{6D733F30-C5DE-19F3-A0FC-65B90959B7E9}"/>
          </ac:spMkLst>
        </pc:spChg>
        <pc:spChg chg="mod">
          <ac:chgData name="Francesco Gigli" userId="f89a709f7a6bca5b" providerId="LiveId" clId="{C4A6562D-4991-4ACE-B1F8-42E496B0C622}" dt="2026-06-17T14:04:29.041" v="625" actId="1076"/>
          <ac:spMkLst>
            <pc:docMk/>
            <pc:sldMk cId="3665472281" sldId="316"/>
            <ac:spMk id="22" creationId="{08C2DFE5-F7D7-D202-D835-CA9EA7B16573}"/>
          </ac:spMkLst>
        </pc:spChg>
        <pc:picChg chg="mod">
          <ac:chgData name="Francesco Gigli" userId="f89a709f7a6bca5b" providerId="LiveId" clId="{C4A6562D-4991-4ACE-B1F8-42E496B0C622}" dt="2026-06-17T14:04:02.703" v="621" actId="1076"/>
          <ac:picMkLst>
            <pc:docMk/>
            <pc:sldMk cId="3665472281" sldId="316"/>
            <ac:picMk id="15" creationId="{00000000-0000-0000-0000-000000000000}"/>
          </ac:picMkLst>
        </pc:picChg>
      </pc:sldChg>
      <pc:sldChg chg="addSp delSp modSp add del mod">
        <pc:chgData name="Francesco Gigli" userId="f89a709f7a6bca5b" providerId="LiveId" clId="{C4A6562D-4991-4ACE-B1F8-42E496B0C622}" dt="2026-06-26T09:29:12.698" v="979"/>
        <pc:sldMkLst>
          <pc:docMk/>
          <pc:sldMk cId="3980380814" sldId="317"/>
        </pc:sldMkLst>
        <pc:spChg chg="mod">
          <ac:chgData name="Francesco Gigli" userId="f89a709f7a6bca5b" providerId="LiveId" clId="{C4A6562D-4991-4ACE-B1F8-42E496B0C622}" dt="2026-06-26T08:54:39.381" v="655" actId="20577"/>
          <ac:spMkLst>
            <pc:docMk/>
            <pc:sldMk cId="3980380814" sldId="317"/>
            <ac:spMk id="4" creationId="{F98BF1B5-4E8C-A834-C284-D8DC4B12823E}"/>
          </ac:spMkLst>
        </pc:spChg>
        <pc:spChg chg="del">
          <ac:chgData name="Francesco Gigli" userId="f89a709f7a6bca5b" providerId="LiveId" clId="{C4A6562D-4991-4ACE-B1F8-42E496B0C622}" dt="2026-06-26T09:07:09.086" v="884" actId="478"/>
          <ac:spMkLst>
            <pc:docMk/>
            <pc:sldMk cId="3980380814" sldId="317"/>
            <ac:spMk id="5" creationId="{71DD6E32-E1AD-DB09-F6BF-60A4BE0E529A}"/>
          </ac:spMkLst>
        </pc:spChg>
        <pc:spChg chg="del">
          <ac:chgData name="Francesco Gigli" userId="f89a709f7a6bca5b" providerId="LiveId" clId="{C4A6562D-4991-4ACE-B1F8-42E496B0C622}" dt="2026-06-26T09:07:10.395" v="885" actId="478"/>
          <ac:spMkLst>
            <pc:docMk/>
            <pc:sldMk cId="3980380814" sldId="317"/>
            <ac:spMk id="6" creationId="{5D72E7A9-F470-F89C-82F5-185BB65B80AF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7" creationId="{6370DD9E-00EC-EAB1-0B00-2E4B457C51D6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8" creationId="{4AD7531A-A1D7-61F0-1827-6DA8E58E32AE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9" creationId="{E8B14C63-7210-4AAE-EA89-7C7FC7A0860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0" creationId="{389382BC-AD71-F08C-9188-259DF3136F1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1" creationId="{4B72C3CB-87C7-25F0-C26A-21008FCB3C51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2" creationId="{CDB23AD9-E35E-3FE8-1323-BCD6AFCCD26B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3" creationId="{08BC238B-7F8B-561F-CEEB-FA5E7DCB4E69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4" creationId="{DDFDF1FB-460F-DD40-B5E1-C814DB8E14FC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5" creationId="{6AC276AC-7F87-1A85-2DE7-4420C4B04109}"/>
          </ac:spMkLst>
        </pc:spChg>
        <pc:spChg chg="del">
          <ac:chgData name="Francesco Gigli" userId="f89a709f7a6bca5b" providerId="LiveId" clId="{C4A6562D-4991-4ACE-B1F8-42E496B0C622}" dt="2026-06-26T09:07:14.214" v="886" actId="478"/>
          <ac:spMkLst>
            <pc:docMk/>
            <pc:sldMk cId="3980380814" sldId="317"/>
            <ac:spMk id="16" creationId="{D9EAA099-4A21-B5BD-8071-FC18A0F73CE3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7" creationId="{375F75CD-4C88-C639-A637-C5CCFC5425E8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8" creationId="{898DD8C9-8749-AB82-3D25-6AC5EF1D4112}"/>
          </ac:spMkLst>
        </pc:spChg>
        <pc:spChg chg="add del">
          <ac:chgData name="Francesco Gigli" userId="f89a709f7a6bca5b" providerId="LiveId" clId="{C4A6562D-4991-4ACE-B1F8-42E496B0C622}" dt="2026-06-26T09:21:50.485" v="891" actId="22"/>
          <ac:spMkLst>
            <pc:docMk/>
            <pc:sldMk cId="3980380814" sldId="317"/>
            <ac:spMk id="19" creationId="{268949C5-6691-3827-5D57-020A36C75321}"/>
          </ac:spMkLst>
        </pc:spChg>
        <pc:spChg chg="mod">
          <ac:chgData name="Francesco Gigli" userId="f89a709f7a6bca5b" providerId="LiveId" clId="{C4A6562D-4991-4ACE-B1F8-42E496B0C622}" dt="2026-06-26T09:28:36.038" v="977"/>
          <ac:spMkLst>
            <pc:docMk/>
            <pc:sldMk cId="3980380814" sldId="317"/>
            <ac:spMk id="21" creationId="{392EBB36-EC5B-2698-F53F-993659BFA814}"/>
          </ac:spMkLst>
        </pc:spChg>
        <pc:spChg chg="mod">
          <ac:chgData name="Francesco Gigli" userId="f89a709f7a6bca5b" providerId="LiveId" clId="{C4A6562D-4991-4ACE-B1F8-42E496B0C622}" dt="2026-06-26T09:07:22.752" v="887" actId="115"/>
          <ac:spMkLst>
            <pc:docMk/>
            <pc:sldMk cId="3980380814" sldId="317"/>
            <ac:spMk id="23" creationId="{8E6A49CE-B647-A0D6-5976-B46E209A795D}"/>
          </ac:spMkLst>
        </pc:spChg>
        <pc:spChg chg="add del">
          <ac:chgData name="Francesco Gigli" userId="f89a709f7a6bca5b" providerId="LiveId" clId="{C4A6562D-4991-4ACE-B1F8-42E496B0C622}" dt="2026-06-26T09:21:55.716" v="894" actId="22"/>
          <ac:spMkLst>
            <pc:docMk/>
            <pc:sldMk cId="3980380814" sldId="317"/>
            <ac:spMk id="25" creationId="{4B7F434D-B152-6F11-1457-D6F42318E3D9}"/>
          </ac:spMkLst>
        </pc:spChg>
        <pc:spChg chg="add del mod">
          <ac:chgData name="Francesco Gigli" userId="f89a709f7a6bca5b" providerId="LiveId" clId="{C4A6562D-4991-4ACE-B1F8-42E496B0C622}" dt="2026-06-26T09:22:02.443" v="898" actId="478"/>
          <ac:spMkLst>
            <pc:docMk/>
            <pc:sldMk cId="3980380814" sldId="317"/>
            <ac:spMk id="27" creationId="{61CC58E2-FF2C-5C41-7C3F-F50454F796A6}"/>
          </ac:spMkLst>
        </pc:spChg>
        <pc:spChg chg="add del">
          <ac:chgData name="Francesco Gigli" userId="f89a709f7a6bca5b" providerId="LiveId" clId="{C4A6562D-4991-4ACE-B1F8-42E496B0C622}" dt="2026-06-26T09:22:11.141" v="901" actId="22"/>
          <ac:spMkLst>
            <pc:docMk/>
            <pc:sldMk cId="3980380814" sldId="317"/>
            <ac:spMk id="29" creationId="{A0523CB5-3736-B273-B650-E65162DD7470}"/>
          </ac:spMkLst>
        </pc:spChg>
        <pc:graphicFrameChg chg="mod modGraphic">
          <ac:chgData name="Francesco Gigli" userId="f89a709f7a6bca5b" providerId="LiveId" clId="{C4A6562D-4991-4ACE-B1F8-42E496B0C622}" dt="2026-06-26T09:28:36.037" v="974"/>
          <ac:graphicFrameMkLst>
            <pc:docMk/>
            <pc:sldMk cId="3980380814" sldId="317"/>
            <ac:graphicFrameMk id="20" creationId="{B9DE6546-5EEE-8EF9-D8A3-7A8BD00CEFA8}"/>
          </ac:graphicFrameMkLst>
        </pc:graphicFrameChg>
        <pc:picChg chg="add mod">
          <ac:chgData name="Francesco Gigli" userId="f89a709f7a6bca5b" providerId="LiveId" clId="{C4A6562D-4991-4ACE-B1F8-42E496B0C622}" dt="2026-06-26T09:28:36.034" v="971"/>
          <ac:picMkLst>
            <pc:docMk/>
            <pc:sldMk cId="3980380814" sldId="317"/>
            <ac:picMk id="31" creationId="{DCF6ED6F-8587-3229-DD18-F4F677BB5A9A}"/>
          </ac:picMkLst>
        </pc:picChg>
      </pc:sldChg>
      <pc:sldChg chg="delSp modSp add del mod">
        <pc:chgData name="Francesco Gigli" userId="f89a709f7a6bca5b" providerId="LiveId" clId="{C4A6562D-4991-4ACE-B1F8-42E496B0C622}" dt="2026-06-26T09:40:38.181" v="994"/>
        <pc:sldMkLst>
          <pc:docMk/>
          <pc:sldMk cId="1608935821" sldId="318"/>
        </pc:sldMkLst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7" creationId="{375F75CD-4C88-C639-A637-C5CCFC5425E8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8" creationId="{898DD8C9-8749-AB82-3D25-6AC5EF1D4112}"/>
          </ac:spMkLst>
        </pc:spChg>
        <pc:spChg chg="del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21" creationId="{392EBB36-EC5B-2698-F53F-993659BFA814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1" creationId="{00000000-0000-0000-0000-000000000000}"/>
          </ac:spMkLst>
        </pc:spChg>
        <pc:graphicFrameChg chg="del">
          <ac:chgData name="Francesco Gigli" userId="f89a709f7a6bca5b" providerId="LiveId" clId="{C4A6562D-4991-4ACE-B1F8-42E496B0C622}" dt="2026-06-26T09:30:02.910" v="987" actId="478"/>
          <ac:graphicFrameMkLst>
            <pc:docMk/>
            <pc:sldMk cId="1608935821" sldId="318"/>
            <ac:graphicFrameMk id="20" creationId="{B9DE6546-5EEE-8EF9-D8A3-7A8BD00CEFA8}"/>
          </ac:graphicFrameMkLst>
        </pc:graphicFrameChg>
      </pc:sldChg>
      <pc:sldChg chg="add del">
        <pc:chgData name="Francesco Gigli" userId="f89a709f7a6bca5b" providerId="LiveId" clId="{C4A6562D-4991-4ACE-B1F8-42E496B0C622}" dt="2026-06-26T09:40:51.349" v="996"/>
        <pc:sldMkLst>
          <pc:docMk/>
          <pc:sldMk cId="65911500" sldId="319"/>
        </pc:sldMkLst>
      </pc:sldChg>
      <pc:sldChg chg="modSp add del mod">
        <pc:chgData name="Francesco Gigli" userId="f89a709f7a6bca5b" providerId="LiveId" clId="{C4A6562D-4991-4ACE-B1F8-42E496B0C622}" dt="2026-06-26T09:37:57.896" v="992"/>
        <pc:sldMkLst>
          <pc:docMk/>
          <pc:sldMk cId="324238075" sldId="319"/>
        </pc:sldMkLst>
        <pc:spChg chg="mod">
          <ac:chgData name="Francesco Gigli" userId="f89a709f7a6bca5b" providerId="LiveId" clId="{C4A6562D-4991-4ACE-B1F8-42E496B0C622}" dt="2026-06-26T09:37:57.602" v="991" actId="1076"/>
          <ac:spMkLst>
            <pc:docMk/>
            <pc:sldMk cId="324238075" sldId="319"/>
            <ac:spMk id="4" creationId="{F98BF1B5-4E8C-A834-C284-D8DC4B12823E}"/>
          </ac:spMkLst>
        </pc:spChg>
      </pc:sldChg>
      <pc:sldChg chg="add del">
        <pc:chgData name="Francesco Gigli" userId="f89a709f7a6bca5b" providerId="LiveId" clId="{C4A6562D-4991-4ACE-B1F8-42E496B0C622}" dt="2026-06-26T09:40:52.632" v="998"/>
        <pc:sldMkLst>
          <pc:docMk/>
          <pc:sldMk cId="1922961856" sldId="320"/>
        </pc:sldMkLst>
      </pc:sldChg>
      <pc:sldChg chg="delSp modSp add mod">
        <pc:chgData name="Francesco Gigli" userId="f89a709f7a6bca5b" providerId="LiveId" clId="{C4A6562D-4991-4ACE-B1F8-42E496B0C622}" dt="2026-06-26T09:52:22.851" v="1168" actId="114"/>
        <pc:sldMkLst>
          <pc:docMk/>
          <pc:sldMk cId="771788994" sldId="321"/>
        </pc:sldMkLst>
        <pc:spChg chg="del mod">
          <ac:chgData name="Francesco Gigli" userId="f89a709f7a6bca5b" providerId="LiveId" clId="{C4A6562D-4991-4ACE-B1F8-42E496B0C622}" dt="2026-06-26T09:45:03.746" v="1002" actId="478"/>
          <ac:spMkLst>
            <pc:docMk/>
            <pc:sldMk cId="771788994" sldId="321"/>
            <ac:spMk id="40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45:30.217" v="1019" actId="478"/>
          <ac:spMkLst>
            <pc:docMk/>
            <pc:sldMk cId="771788994" sldId="321"/>
            <ac:spMk id="401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6.507" v="1151" actId="1035"/>
          <ac:spMkLst>
            <pc:docMk/>
            <pc:sldMk cId="771788994" sldId="321"/>
            <ac:spMk id="4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4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01.374" v="1162" actId="20577"/>
          <ac:spMkLst>
            <pc:docMk/>
            <pc:sldMk cId="771788994" sldId="321"/>
            <ac:spMk id="405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22.851" v="1168" actId="114"/>
          <ac:spMkLst>
            <pc:docMk/>
            <pc:sldMk cId="771788994" sldId="321"/>
            <ac:spMk id="406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8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9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10" creationId="{00000000-0000-0000-0000-000000000000}"/>
          </ac:spMkLst>
        </pc:spChg>
        <pc:graphicFrameChg chg="modGraphic">
          <ac:chgData name="Francesco Gigli" userId="f89a709f7a6bca5b" providerId="LiveId" clId="{C4A6562D-4991-4ACE-B1F8-42E496B0C622}" dt="2026-06-26T09:46:05.456" v="1123" actId="14100"/>
          <ac:graphicFrameMkLst>
            <pc:docMk/>
            <pc:sldMk cId="771788994" sldId="321"/>
            <ac:graphicFrameMk id="407" creationId="{00000000-0000-0000-0000-000000000000}"/>
          </ac:graphicFrameMkLst>
        </pc:graphicFrameChg>
        <pc:picChg chg="mod">
          <ac:chgData name="Francesco Gigli" userId="f89a709f7a6bca5b" providerId="LiveId" clId="{C4A6562D-4991-4ACE-B1F8-42E496B0C622}" dt="2026-06-26T09:45:26.105" v="1018" actId="1076"/>
          <ac:picMkLst>
            <pc:docMk/>
            <pc:sldMk cId="771788994" sldId="321"/>
            <ac:picMk id="31" creationId="{DCF6ED6F-8587-3229-DD18-F4F677BB5A9A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1" creationId="{00000000-0000-0000-0000-000000000000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2" creationId="{00000000-0000-0000-0000-000000000000}"/>
          </ac:picMkLst>
        </pc:picChg>
      </pc:sldChg>
      <pc:sldChg chg="addSp delSp modSp add mod ord">
        <pc:chgData name="Francesco Gigli" userId="f89a709f7a6bca5b" providerId="LiveId" clId="{C4A6562D-4991-4ACE-B1F8-42E496B0C622}" dt="2026-06-26T13:29:14.250" v="1369"/>
        <pc:sldMkLst>
          <pc:docMk/>
          <pc:sldMk cId="1525083133" sldId="322"/>
        </pc:sldMkLst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5" creationId="{67E54837-3AE8-7FD0-275E-B99EC215BC68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6" creationId="{671E686A-987B-7656-3BFC-CC78A2951260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1" creationId="{AE81820B-AED3-FBB8-D30F-99FD41D54F1C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3" creationId="{41789B2F-7CD7-9CC8-4077-413F94790DB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4" creationId="{65BA17C5-903C-3D34-81EA-C25DAAA2124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6" creationId="{FBDDD26A-37C6-6656-FB55-14E970AD17D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7" creationId="{9BEBBC34-021D-8C7C-54EB-839E7CAC7D5F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8" creationId="{784FBDEC-D66B-8904-5383-F6F054DD8794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9" creationId="{A283C60E-A64E-A0A9-1AD3-364B0301B456}"/>
          </ac:spMkLst>
        </pc:spChg>
        <pc:spChg chg="add del">
          <ac:chgData name="Francesco Gigli" userId="f89a709f7a6bca5b" providerId="LiveId" clId="{C4A6562D-4991-4ACE-B1F8-42E496B0C622}" dt="2026-06-26T11:08:34.512" v="1187" actId="22"/>
          <ac:spMkLst>
            <pc:docMk/>
            <pc:sldMk cId="1525083133" sldId="322"/>
            <ac:spMk id="22" creationId="{88A70461-DD35-4447-B3A2-05C7E891D33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26" creationId="{BF9BB10F-64F5-2608-1AC8-254E215C26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2" creationId="{A532F7BD-8D0A-FE82-C488-6E6AE7245AB7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4" creationId="{88CBC763-C437-9FDB-D54E-290D78216946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6" creationId="{79052DBA-C4A4-EA4B-EC7B-1A7A8B30EE0E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8" creationId="{76F05E4D-3971-4121-6266-4A2F134DC1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0" creationId="{946ABF13-AAF1-D795-C12C-2A98A5937151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2" creationId="{F4B21885-99A8-CB43-6AB0-F93141589D62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4" creationId="{B1A40D28-C25A-9955-E811-3EE29FEBA23D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6" creationId="{D042A1FD-8FB8-C48F-B67B-B9F9B5BF7015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8" creationId="{A3F088F5-326B-05BD-08B0-E2E81E2DC941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4" creationId="{30EC1437-6CDE-8C1A-A196-49B43B66ACA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6" creationId="{0DD70F48-4C36-0CFB-0391-E82D5CAF13FB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8" creationId="{CFB004B6-6773-1961-E59F-1569F8C257D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0" creationId="{B7EB06D7-7604-67DF-12B1-A0ACFF6AD24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2" creationId="{0CC7C421-E172-9522-8696-254A5C96EBCC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4" creationId="{B2905C55-F654-837E-4934-D143C971EA6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6" creationId="{79D4B34A-BB13-B250-8FAE-517008CDEF99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8" creationId="{0FDECC71-2436-FE19-1928-1F5ADA15586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0" creationId="{E360B65F-CE18-6EB6-F7B8-334A72A232C8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2" creationId="{A71C4BAB-1D36-D18A-3E35-BDC9256C25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78" creationId="{56D4960A-621D-B99C-AAE3-C08B8562EF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80" creationId="{3204D644-B32B-B51D-E006-FC8277885136}"/>
          </ac:spMkLst>
        </pc:spChg>
        <pc:picChg chg="add del mod">
          <ac:chgData name="Francesco Gigli" userId="f89a709f7a6bca5b" providerId="LiveId" clId="{C4A6562D-4991-4ACE-B1F8-42E496B0C622}" dt="2026-06-26T13:26:40.259" v="1251" actId="478"/>
          <ac:picMkLst>
            <pc:docMk/>
            <pc:sldMk cId="1525083133" sldId="322"/>
            <ac:picMk id="28" creationId="{FE674A98-EC69-D378-E4BB-5B75FC922252}"/>
          </ac:picMkLst>
        </pc:picChg>
        <pc:picChg chg="add del mod">
          <ac:chgData name="Francesco Gigli" userId="f89a709f7a6bca5b" providerId="LiveId" clId="{C4A6562D-4991-4ACE-B1F8-42E496B0C622}" dt="2026-06-26T13:26:39.896" v="1250" actId="478"/>
          <ac:picMkLst>
            <pc:docMk/>
            <pc:sldMk cId="1525083133" sldId="322"/>
            <ac:picMk id="30" creationId="{26492996-3C78-A7AA-2488-0188D5036DBE}"/>
          </ac:picMkLst>
        </pc:picChg>
        <pc:picChg chg="add del mod">
          <ac:chgData name="Francesco Gigli" userId="f89a709f7a6bca5b" providerId="LiveId" clId="{C4A6562D-4991-4ACE-B1F8-42E496B0C622}" dt="2026-06-26T13:26:48.837" v="1296" actId="22"/>
          <ac:picMkLst>
            <pc:docMk/>
            <pc:sldMk cId="1525083133" sldId="322"/>
            <ac:picMk id="52" creationId="{82415AC6-CB80-6008-343F-9229A9C8202F}"/>
          </ac:picMkLst>
        </pc:picChg>
        <pc:picChg chg="add del">
          <ac:chgData name="Francesco Gigli" userId="f89a709f7a6bca5b" providerId="LiveId" clId="{C4A6562D-4991-4ACE-B1F8-42E496B0C622}" dt="2026-06-26T13:27:21.191" v="1340" actId="478"/>
          <ac:picMkLst>
            <pc:docMk/>
            <pc:sldMk cId="1525083133" sldId="322"/>
            <ac:picMk id="82" creationId="{0D2A1A2A-7C09-3F0B-AB55-A09AF7C3FDB3}"/>
          </ac:picMkLst>
        </pc:picChg>
      </pc:sldChg>
      <pc:sldChg chg="new del mod ord setBg">
        <pc:chgData name="Francesco Gigli" userId="f89a709f7a6bca5b" providerId="LiveId" clId="{C4A6562D-4991-4ACE-B1F8-42E496B0C622}" dt="2026-06-26T13:14:22.064" v="1209"/>
        <pc:sldMkLst>
          <pc:docMk/>
          <pc:sldMk cId="2999198495" sldId="323"/>
        </pc:sldMkLst>
      </pc:sldChg>
      <pc:sldChg chg="add del">
        <pc:chgData name="Francesco Gigli" userId="f89a709f7a6bca5b" providerId="LiveId" clId="{C4A6562D-4991-4ACE-B1F8-42E496B0C622}" dt="2026-06-26T13:14:32.445" v="1211"/>
        <pc:sldMkLst>
          <pc:docMk/>
          <pc:sldMk cId="2876242128" sldId="324"/>
        </pc:sldMkLst>
      </pc:sldChg>
      <pc:sldChg chg="add del">
        <pc:chgData name="Francesco Gigli" userId="f89a709f7a6bca5b" providerId="LiveId" clId="{C4A6562D-4991-4ACE-B1F8-42E496B0C622}" dt="2026-06-26T13:14:34.103" v="1213"/>
        <pc:sldMkLst>
          <pc:docMk/>
          <pc:sldMk cId="3304696998" sldId="325"/>
        </pc:sldMkLst>
      </pc:sldChg>
      <pc:sldChg chg="addSp delSp modSp add del mod">
        <pc:chgData name="Francesco Gigli" userId="f89a709f7a6bca5b" providerId="LiveId" clId="{C4A6562D-4991-4ACE-B1F8-42E496B0C622}" dt="2026-06-26T13:27:41.785" v="1366" actId="47"/>
        <pc:sldMkLst>
          <pc:docMk/>
          <pc:sldMk cId="3165843663" sldId="326"/>
        </pc:sldMkLst>
        <pc:spChg chg="del">
          <ac:chgData name="Francesco Gigli" userId="f89a709f7a6bca5b" providerId="LiveId" clId="{C4A6562D-4991-4ACE-B1F8-42E496B0C622}" dt="2026-06-26T13:17:09.728" v="1216" actId="478"/>
          <ac:spMkLst>
            <pc:docMk/>
            <pc:sldMk cId="3165843663" sldId="326"/>
            <ac:spMk id="201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07.671" v="1215" actId="478"/>
          <ac:spMkLst>
            <pc:docMk/>
            <pc:sldMk cId="3165843663" sldId="326"/>
            <ac:spMk id="2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0.514" v="1248" actId="1076"/>
          <ac:spMkLst>
            <pc:docMk/>
            <pc:sldMk cId="3165843663" sldId="326"/>
            <ac:spMk id="2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3.964" v="1249" actId="1076"/>
          <ac:spMkLst>
            <pc:docMk/>
            <pc:sldMk cId="3165843663" sldId="326"/>
            <ac:spMk id="204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9.764" v="1228" actId="478"/>
          <ac:spMkLst>
            <pc:docMk/>
            <pc:sldMk cId="3165843663" sldId="326"/>
            <ac:spMk id="20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8.485" v="1227" actId="478"/>
          <ac:spMkLst>
            <pc:docMk/>
            <pc:sldMk cId="3165843663" sldId="326"/>
            <ac:spMk id="20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076" v="1229" actId="478"/>
          <ac:spMkLst>
            <pc:docMk/>
            <pc:sldMk cId="3165843663" sldId="326"/>
            <ac:spMk id="20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780" v="1230" actId="478"/>
          <ac:spMkLst>
            <pc:docMk/>
            <pc:sldMk cId="3165843663" sldId="326"/>
            <ac:spMk id="20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1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2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4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6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0.919" v="1218" actId="478"/>
          <ac:spMkLst>
            <pc:docMk/>
            <pc:sldMk cId="3165843663" sldId="326"/>
            <ac:spMk id="274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22.884" v="1221" actId="478"/>
          <ac:spMkLst>
            <pc:docMk/>
            <pc:sldMk cId="3165843663" sldId="326"/>
            <ac:spMk id="27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2.357" v="1220" actId="478"/>
          <ac:spMkLst>
            <pc:docMk/>
            <pc:sldMk cId="3165843663" sldId="326"/>
            <ac:spMk id="27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0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2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4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0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27:12.205" v="1338" actId="478"/>
          <ac:spMkLst>
            <pc:docMk/>
            <pc:sldMk cId="3165843663" sldId="326"/>
            <ac:spMk id="387" creationId="{00000000-0000-0000-0000-000000000000}"/>
          </ac:spMkLst>
        </pc:spChg>
        <pc:picChg chg="add mod">
          <ac:chgData name="Francesco Gigli" userId="f89a709f7a6bca5b" providerId="LiveId" clId="{C4A6562D-4991-4ACE-B1F8-42E496B0C622}" dt="2026-06-26T13:18:53.758" v="1247" actId="14100"/>
          <ac:picMkLst>
            <pc:docMk/>
            <pc:sldMk cId="3165843663" sldId="326"/>
            <ac:picMk id="3" creationId="{7B019C94-FB38-A032-AB60-77F2EF153A8E}"/>
          </ac:picMkLst>
        </pc:picChg>
        <pc:picChg chg="add mod">
          <ac:chgData name="Francesco Gigli" userId="f89a709f7a6bca5b" providerId="LiveId" clId="{C4A6562D-4991-4ACE-B1F8-42E496B0C622}" dt="2026-06-26T13:18:48.524" v="1246" actId="1076"/>
          <ac:picMkLst>
            <pc:docMk/>
            <pc:sldMk cId="3165843663" sldId="326"/>
            <ac:picMk id="5" creationId="{21D4E8B5-0FDC-580D-D1A9-45773396BCAB}"/>
          </ac:picMkLst>
        </pc:picChg>
      </pc:sldChg>
      <pc:sldMasterChg chg="delSldLayout">
        <pc:chgData name="Francesco Gigli" userId="f89a709f7a6bca5b" providerId="LiveId" clId="{C4A6562D-4991-4ACE-B1F8-42E496B0C622}" dt="2026-06-26T08:26:52.437" v="626" actId="47"/>
        <pc:sldMasterMkLst>
          <pc:docMk/>
          <pc:sldMasterMk cId="534383360" sldId="2147483648"/>
        </pc:sldMasterMkLst>
        <pc:sldLayoutChg chg="del">
          <pc:chgData name="Francesco Gigli" userId="f89a709f7a6bca5b" providerId="LiveId" clId="{C4A6562D-4991-4ACE-B1F8-42E496B0C622}" dt="2026-06-26T08:26:52.437" v="626" actId="47"/>
          <pc:sldLayoutMkLst>
            <pc:docMk/>
            <pc:sldMasterMk cId="534383360" sldId="2147483648"/>
            <pc:sldLayoutMk cId="2629593913" sldId="2147483662"/>
          </pc:sldLayoutMkLst>
        </pc:sldLayoutChg>
      </pc:sldMasterChg>
    </pc:docChg>
  </pc:docChgLst>
</pc:chgInfo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configuration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1-F2C5-4761-AB16-2F17FDFB64A6}"/>
              </c:ext>
            </c:extLst>
          </c:dPt>
          <c:dPt>
            <c:idx val="1"/>
            <c:invertIfNegative val="0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F2C5-4761-AB16-2F17FDFB64A6}"/>
              </c:ext>
            </c:extLst>
          </c:dPt>
          <c:dPt>
            <c:idx val="2"/>
            <c:invertIfNegative val="0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5-F2C5-4761-AB16-2F17FDFB64A6}"/>
              </c:ext>
            </c:extLst>
          </c:dPt>
          <c:dPt>
            <c:idx val="3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7-F2C5-4761-AB16-2F17FDFB64A6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69.69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2C5-4761-AB16-2F17FDFB64A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2C5-4761-AB16-2F17FDFB64A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77.60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2C5-4761-AB16-2F17FDFB64A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1"/>
                      <a:t>73.85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2C5-4761-AB16-2F17FDFB64A6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Baseline</c:v>
              </c:pt>
              <c:pt idx="1">
                <c:v>Fourier perm</c:v>
              </c:pt>
              <c:pt idx="2">
                <c:v>Learned perm</c:v>
              </c:pt>
              <c:pt idx="3">
                <c:v>No WS</c:v>
              </c:pt>
            </c:strLit>
          </c:cat>
          <c:val>
            <c:numLit>
              <c:formatCode>General</c:formatCode>
              <c:ptCount val="4"/>
              <c:pt idx="0">
                <c:v>69.69</c:v>
              </c:pt>
              <c:pt idx="1">
                <c:v>78.12</c:v>
              </c:pt>
              <c:pt idx="2">
                <c:v>77.599999999999994</c:v>
              </c:pt>
              <c:pt idx="3">
                <c:v>73.849999999999994</c:v>
              </c:pt>
            </c:numLit>
          </c:val>
          <c:extLst>
            <c:ext xmlns:c16="http://schemas.microsoft.com/office/drawing/2014/chart" uri="{C3380CC4-5D6E-409C-BE32-E72D297353CC}">
              <c16:uniqueId val="{00000008-F2C5-4761-AB16-2F17FDFB64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80"/>
          <c:min val="6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augmentation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826-45E1-990A-6A130EE3FBD2}"/>
              </c:ext>
            </c:extLst>
          </c:dPt>
          <c:dPt>
            <c:idx val="1"/>
            <c:invertIfNegative val="1"/>
            <c:bubble3D val="0"/>
            <c:spPr>
              <a:solidFill>
                <a:srgbClr val="0F9ED5"/>
              </a:solidFill>
            </c:spPr>
            <c:extLst>
              <c:ext xmlns:c16="http://schemas.microsoft.com/office/drawing/2014/chart" uri="{C3380CC4-5D6E-409C-BE32-E72D297353CC}">
                <c16:uniqueId val="{00000003-9826-45E1-990A-6A130EE3FBD2}"/>
              </c:ext>
            </c:extLst>
          </c:dPt>
          <c:dPt>
            <c:idx val="2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5-9826-45E1-990A-6A130EE3FBD2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84.24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826-45E1-990A-6A130EE3FBD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83.67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826-45E1-990A-6A130EE3FBD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83.14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826-45E1-990A-6A130EE3FBD2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Scale</c:v>
              </c:pt>
              <c:pt idx="1">
                <c:v>+ Translation</c:v>
              </c:pt>
              <c:pt idx="2">
                <c:v>+ Rotation</c:v>
              </c:pt>
            </c:strLit>
          </c:cat>
          <c:val>
            <c:numLit>
              <c:formatCode>General</c:formatCode>
              <c:ptCount val="3"/>
              <c:pt idx="0">
                <c:v>84.24</c:v>
              </c:pt>
              <c:pt idx="1">
                <c:v>83.67</c:v>
              </c:pt>
              <c:pt idx="2">
                <c:v>83.14</c:v>
              </c:pt>
            </c:numLit>
          </c:val>
          <c:extLst>
            <c:ext xmlns:c16="http://schemas.microsoft.com/office/drawing/2014/chart" uri="{C3380CC4-5D6E-409C-BE32-E72D297353CC}">
              <c16:uniqueId val="{00000006-9826-45E1-990A-6A130EE3FB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86"/>
          <c:min val="8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CIFAR-10 accuracy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21E-4B39-9B6A-5CC4383FD930}"/>
              </c:ext>
            </c:extLst>
          </c:dPt>
          <c:dPt>
            <c:idx val="1"/>
            <c:invertIfNegative val="1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921E-4B39-9B6A-5CC4383FD93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21E-4B39-9B6A-5CC4383FD93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78.20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21E-4B39-9B6A-5CC4383FD930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Best Perceiver</c:v>
              </c:pt>
              <c:pt idx="1">
                <c:v>Perceiver IO</c:v>
              </c:pt>
            </c:strLit>
          </c:cat>
          <c:val>
            <c:numLit>
              <c:formatCode>General</c:formatCode>
              <c:ptCount val="2"/>
              <c:pt idx="0">
                <c:v>78.12</c:v>
              </c:pt>
              <c:pt idx="1">
                <c:v>78.2</c:v>
              </c:pt>
            </c:numLit>
          </c:val>
          <c:extLst>
            <c:ext xmlns:c16="http://schemas.microsoft.com/office/drawing/2014/chart" uri="{C3380CC4-5D6E-409C-BE32-E72D297353CC}">
              <c16:uniqueId val="{00000004-921E-4B39-9B6A-5CC4383FD9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79"/>
          <c:min val="77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  <c:majorUnit val="1"/>
      </c:valAx>
    </c:plotArea>
    <c:plotVisOnly val="1"/>
    <c:dispBlanksAs val="zero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81425F-F4CF-4288-A706-0B2217E5AD63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03DA05-E672-4CEF-B475-4A5D6C27BF3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5645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latinLnBrk="0"/>
            <a:endParaRPr lang="it-IT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3110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66201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C781C4-B577-A127-8A3D-16E1CE3779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D3DA16C-22B6-1D03-F512-379958E08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FAE8F10-64F1-6384-0F18-296CA2BCA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30C313-F1F4-98CA-82BC-845513040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F92A44-6B0E-71EA-CB3A-B5E359AA1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7174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95519D-5BC0-9ABF-DB6A-26E9B0FE2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200BA4-C6F8-5729-92DD-7A0968DBF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16A5C7E-6F76-8980-2CBC-18E422D1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88F5A6-ED23-BBC4-617D-0DFD1B3B3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516E22-1E6E-517E-E7B5-DB8A9CB5E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4968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4DAA80-2284-9B75-846B-1346331F5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7B3CF5B-D866-5D3A-011B-D485BF836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5F11FF-5B0A-48BB-060F-4B9867DE7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926F39-CF9F-6342-3F26-9484E492A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BB825C-F44F-775E-ADC6-3EB02926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168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E4F4EB-0D3F-D504-C61E-7C8E17A0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C4D7DD-0260-3BD2-A298-0CDBCED6B0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49253D8-E0F8-D579-432D-A96691ACD9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859DC75-765B-E7EA-146D-42319DC99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715416A-0AF9-D0F4-6679-AE7C2DC76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5ADB72-008B-0ADE-436E-6955C5C17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272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AE8958-2A6C-ECB7-C43F-9054311B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8ADE126-BCE2-71A1-28C8-EA0C49EC5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70061AB-4022-1209-3C39-AD95BC8057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4921737-8045-F2E3-974E-C25CECABA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61C50C8-1944-836C-5527-26F074CC2B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D520CF4-2292-4671-2CF9-9788349EE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6573B1B2-FAB1-4C38-91D4-9147DED48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2B77629-0E7E-8F2E-F8D9-380B1B597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9502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76EC7-C343-E7BF-DBDC-2FD025067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C579CA5-1A46-BDDE-EE4B-7454063E4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F02A437-4EB3-97E9-45E5-4ED4AD667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388D24E-F1B2-8948-9866-A0D8C4985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8395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2E3E440-BD9D-6A66-7879-7C395BFAC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BB3621C-0226-62D0-0E1A-1F37C7BB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EBB9B97-640B-3F18-0BDD-66113E712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4207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BAEA89-A143-5D22-9DE9-76DCC0C7F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56D109-ABC7-7181-A2B9-F7B57E134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77317CB-43E1-8462-CE71-0FAC2A0CF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D35213-79DC-39CE-01C3-EF4F9A7E2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5715372-C64C-0A2B-8F0F-A573FFAAA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46A8D8-1875-E6A9-08F0-36D5CBD72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600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2C5FB2-2884-2CF9-E8C9-441396474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2DA297E7-3523-1B19-8068-60D3DE9E7C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847F6A8-D70F-1067-9E63-CD306909A6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A4F0A40-6FAA-8FA0-AFA0-9F8CA007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3D3D02D-7A78-4C69-F688-086FE0AA5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B1FBC6-7BD6-6AFE-F958-89D6CEC34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56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2F9B13-56E8-ED69-3D4C-5D9C5724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AC65D95-E899-D2B5-01FB-73F941C28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295C9A5-B075-ADCC-176C-941544CB8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D4656A-091E-E50E-5D91-9A9FA5EBF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2E11B30-5016-1525-A53D-13537A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8330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9B89BEA-CBEE-B976-2750-F572405DF7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B3ECB6F-F6AF-320D-20AA-975008D60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A28B9B1-8211-F958-AB67-36E86D024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104F41-B033-72B9-73B9-64BD5ECAF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BF746E-0DED-BBB4-9AC3-5B159528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733200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F200A84E-7986-C941-8FF7-A4CA8D08C6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itolo relazione">
            <a:extLst>
              <a:ext uri="{FF2B5EF4-FFF2-40B4-BE49-F238E27FC236}">
                <a16:creationId xmlns:a16="http://schemas.microsoft.com/office/drawing/2014/main" id="{05BBF5B6-31C4-4BDC-A474-09BF69D00B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89068" y="2330164"/>
            <a:ext cx="10515600" cy="795080"/>
          </a:xfrm>
          <a:prstGeom prst="rect">
            <a:avLst/>
          </a:prstGeom>
        </p:spPr>
        <p:txBody>
          <a:bodyPr/>
          <a:lstStyle>
            <a:lvl1pPr>
              <a:defRPr sz="50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Titolo_Verdana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Bold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50pt</a:t>
            </a:r>
          </a:p>
        </p:txBody>
      </p:sp>
      <p:sp>
        <p:nvSpPr>
          <p:cNvPr id="9" name="Sottotitolo relazione">
            <a:extLst>
              <a:ext uri="{FF2B5EF4-FFF2-40B4-BE49-F238E27FC236}">
                <a16:creationId xmlns:a16="http://schemas.microsoft.com/office/drawing/2014/main" id="{475FD1B4-BD36-4041-A9C9-DAF49CEB83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89068" y="3247578"/>
            <a:ext cx="10515600" cy="79507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4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40pt</a:t>
            </a:r>
          </a:p>
        </p:txBody>
      </p:sp>
      <p:sp>
        <p:nvSpPr>
          <p:cNvPr id="11" name="Nome e cognome relatore">
            <a:extLst>
              <a:ext uri="{FF2B5EF4-FFF2-40B4-BE49-F238E27FC236}">
                <a16:creationId xmlns:a16="http://schemas.microsoft.com/office/drawing/2014/main" id="{FDB9FF1D-DAE9-4957-B599-C6B8B209B8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89619" y="4433563"/>
            <a:ext cx="6994887" cy="376437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Relatore_Verdana</a:t>
            </a:r>
            <a:r>
              <a:rPr lang="it-IT" dirty="0"/>
              <a:t> 25pt</a:t>
            </a:r>
          </a:p>
        </p:txBody>
      </p:sp>
      <p:sp>
        <p:nvSpPr>
          <p:cNvPr id="13" name="Ruolo relatore">
            <a:extLst>
              <a:ext uri="{FF2B5EF4-FFF2-40B4-BE49-F238E27FC236}">
                <a16:creationId xmlns:a16="http://schemas.microsoft.com/office/drawing/2014/main" id="{1BDCF4A3-46D7-4603-8D04-616F017FC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89617" y="4915518"/>
            <a:ext cx="7295512" cy="304988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 u="none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relatore_Verdana</a:t>
            </a:r>
            <a:r>
              <a:rPr lang="it-IT" dirty="0"/>
              <a:t> 18pt</a:t>
            </a:r>
          </a:p>
        </p:txBody>
      </p:sp>
    </p:spTree>
    <p:extLst>
      <p:ext uri="{BB962C8B-B14F-4D97-AF65-F5344CB8AC3E}">
        <p14:creationId xmlns:p14="http://schemas.microsoft.com/office/powerpoint/2010/main" val="3276876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erna_solo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Sfondo bianco con logo dell'Università degli Studi di Firenze e Salomone.">
            <a:extLst>
              <a:ext uri="{FF2B5EF4-FFF2-40B4-BE49-F238E27FC236}">
                <a16:creationId xmlns:a16="http://schemas.microsoft.com/office/drawing/2014/main" id="{AAF2BE35-58D0-BA41-B3DA-597B679ADF8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Dati generali relazione">
            <a:extLst>
              <a:ext uri="{FF2B5EF4-FFF2-40B4-BE49-F238E27FC236}">
                <a16:creationId xmlns:a16="http://schemas.microsoft.com/office/drawing/2014/main" id="{37D8B424-C818-4FA2-9F43-383AC97ADC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8777" y="6607580"/>
            <a:ext cx="10120335" cy="250425"/>
          </a:xfrm>
          <a:prstGeom prst="rect">
            <a:avLst/>
          </a:prstGeom>
        </p:spPr>
        <p:txBody>
          <a:bodyPr/>
          <a:lstStyle>
            <a:lvl1pPr>
              <a:buNone/>
              <a:defRPr sz="1100" b="0" i="0">
                <a:solidFill>
                  <a:schemeClr val="bg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11pt)</a:t>
            </a:r>
          </a:p>
        </p:txBody>
      </p:sp>
      <p:sp>
        <p:nvSpPr>
          <p:cNvPr id="7" name="Numero slide">
            <a:extLst>
              <a:ext uri="{FF2B5EF4-FFF2-40B4-BE49-F238E27FC236}">
                <a16:creationId xmlns:a16="http://schemas.microsoft.com/office/drawing/2014/main" id="{FA9D60FB-E0F4-46D2-B15D-4CAD34B259A1}"/>
              </a:ext>
            </a:extLst>
          </p:cNvPr>
          <p:cNvSpPr txBox="1"/>
          <p:nvPr userDrawn="1"/>
        </p:nvSpPr>
        <p:spPr>
          <a:xfrm>
            <a:off x="10399004" y="6598099"/>
            <a:ext cx="1358760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fld id="{5ED436A0-D5FC-479D-9D1C-A714A6CDB9F8}" type="slidenum">
              <a:rPr lang="it-IT" sz="11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r"/>
              <a:t>‹N›</a:t>
            </a:fld>
            <a:endParaRPr lang="it-IT" sz="1100" b="1" dirty="0" err="1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Testo diapositiva">
            <a:extLst>
              <a:ext uri="{FF2B5EF4-FFF2-40B4-BE49-F238E27FC236}">
                <a16:creationId xmlns:a16="http://schemas.microsoft.com/office/drawing/2014/main" id="{344E0AE5-EDEF-46FF-879E-9278F8E8B0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5868" y="1822125"/>
            <a:ext cx="10981895" cy="4470050"/>
          </a:xfrm>
          <a:prstGeom prst="rect">
            <a:avLst/>
          </a:prstGeom>
        </p:spPr>
        <p:txBody>
          <a:bodyPr/>
          <a:lstStyle>
            <a:lvl1pPr marL="7938" indent="0">
              <a:lnSpc>
                <a:spcPct val="150000"/>
              </a:lnSpc>
              <a:buFont typeface="Courier New" panose="02070309020205020404" pitchFamily="49" charset="0"/>
              <a:buNone/>
              <a:tabLst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Titolo diapositiva">
            <a:extLst>
              <a:ext uri="{FF2B5EF4-FFF2-40B4-BE49-F238E27FC236}">
                <a16:creationId xmlns:a16="http://schemas.microsoft.com/office/drawing/2014/main" id="{B1A728D7-4BF7-BE41-A0AF-2F9CA93A2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/>
          <a:lstStyle>
            <a:lvl1pPr>
              <a:defRPr sz="22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35246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o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C21DE938-9907-D441-A2A2-6628A3D98A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Titolo conclusione">
            <a:extLst>
              <a:ext uri="{FF2B5EF4-FFF2-40B4-BE49-F238E27FC236}">
                <a16:creationId xmlns:a16="http://schemas.microsoft.com/office/drawing/2014/main" id="{C061A7DF-BBC8-4D30-A08B-77CC494834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1464" y="3155637"/>
            <a:ext cx="11015133" cy="477707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3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Titolo_Verdana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30pt</a:t>
            </a:r>
          </a:p>
        </p:txBody>
      </p:sp>
      <p:sp>
        <p:nvSpPr>
          <p:cNvPr id="19" name="Sottotitolo conclusione">
            <a:extLst>
              <a:ext uri="{FF2B5EF4-FFF2-40B4-BE49-F238E27FC236}">
                <a16:creationId xmlns:a16="http://schemas.microsoft.com/office/drawing/2014/main" id="{4F0ABCB7-31A6-496B-AD17-F77B84CB91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521" y="3734081"/>
            <a:ext cx="11015075" cy="48634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25pt</a:t>
            </a:r>
          </a:p>
        </p:txBody>
      </p:sp>
      <p:sp>
        <p:nvSpPr>
          <p:cNvPr id="22" name="Nome e cognome relatore">
            <a:extLst>
              <a:ext uri="{FF2B5EF4-FFF2-40B4-BE49-F238E27FC236}">
                <a16:creationId xmlns:a16="http://schemas.microsoft.com/office/drawing/2014/main" id="{044A7CD4-EF29-4642-ACF5-AC1EB31784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1464" y="4624373"/>
            <a:ext cx="8333317" cy="318653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Relatore_Arial</a:t>
            </a:r>
            <a:r>
              <a:rPr lang="it-IT" dirty="0"/>
              <a:t> 20pt</a:t>
            </a:r>
          </a:p>
        </p:txBody>
      </p:sp>
      <p:sp>
        <p:nvSpPr>
          <p:cNvPr id="24" name="Ruolo relatore">
            <a:extLst>
              <a:ext uri="{FF2B5EF4-FFF2-40B4-BE49-F238E27FC236}">
                <a16:creationId xmlns:a16="http://schemas.microsoft.com/office/drawing/2014/main" id="{D07DE807-7EFE-48B4-81E7-589431F10E1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524" y="5026153"/>
            <a:ext cx="8333317" cy="280089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relatore_Arial</a:t>
            </a:r>
            <a:r>
              <a:rPr lang="it-IT" dirty="0"/>
              <a:t> 18pt</a:t>
            </a:r>
          </a:p>
        </p:txBody>
      </p:sp>
      <p:sp>
        <p:nvSpPr>
          <p:cNvPr id="26" name="Contatto relatore">
            <a:extLst>
              <a:ext uri="{FF2B5EF4-FFF2-40B4-BE49-F238E27FC236}">
                <a16:creationId xmlns:a16="http://schemas.microsoft.com/office/drawing/2014/main" id="{9517D058-2E7E-44D5-A849-24ED5F4E9D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1524" y="5389365"/>
            <a:ext cx="8333317" cy="323164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email_Arial</a:t>
            </a:r>
            <a:r>
              <a:rPr lang="it-IT" dirty="0"/>
              <a:t> 18pt</a:t>
            </a:r>
          </a:p>
        </p:txBody>
      </p:sp>
      <p:sp>
        <p:nvSpPr>
          <p:cNvPr id="28" name="Dati generali intervento">
            <a:extLst>
              <a:ext uri="{FF2B5EF4-FFF2-40B4-BE49-F238E27FC236}">
                <a16:creationId xmlns:a16="http://schemas.microsoft.com/office/drawing/2014/main" id="{B65FE21C-997A-4B8A-9D0E-D086916D475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1200" y="6609232"/>
            <a:ext cx="10098805" cy="248773"/>
          </a:xfrm>
          <a:prstGeom prst="rect">
            <a:avLst/>
          </a:prstGeom>
        </p:spPr>
        <p:txBody>
          <a:bodyPr/>
          <a:lstStyle>
            <a:lvl1pPr>
              <a:buNone/>
              <a:defRPr sz="1000">
                <a:solidFill>
                  <a:srgbClr val="004C7E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10pt)</a:t>
            </a:r>
          </a:p>
        </p:txBody>
      </p:sp>
      <p:sp>
        <p:nvSpPr>
          <p:cNvPr id="5" name="Titolo 4">
            <a:extLst>
              <a:ext uri="{FF2B5EF4-FFF2-40B4-BE49-F238E27FC236}">
                <a16:creationId xmlns:a16="http://schemas.microsoft.com/office/drawing/2014/main" id="{D0964DA0-8367-4940-9492-6502D51FD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1464" y="1609248"/>
            <a:ext cx="11015075" cy="94122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45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Conclusione_Verana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45pt</a:t>
            </a:r>
          </a:p>
        </p:txBody>
      </p:sp>
    </p:spTree>
    <p:extLst>
      <p:ext uri="{BB962C8B-B14F-4D97-AF65-F5344CB8AC3E}">
        <p14:creationId xmlns:p14="http://schemas.microsoft.com/office/powerpoint/2010/main" val="27991715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C76F4F37-254C-17AC-A001-7374C63E3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1CC9495-044A-C2EF-520B-5A3901F8D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D5E7E3A-C40F-A88C-A060-CE74A18BE6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309D3A2-56AC-3B1D-DFD3-C7F5B96768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2279AF-3BE2-E513-6B7B-F9A9469B5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4383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8.svg"/><Relationship Id="rId6" Type="http://schemas.openxmlformats.org/officeDocument/2006/relationships/image" Target="../media/image9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80.png"/><Relationship Id="rId4" Type="http://schemas.openxmlformats.org/officeDocument/2006/relationships/image" Target="../media/image90.png"/><Relationship Id="rId5" Type="http://schemas.openxmlformats.org/officeDocument/2006/relationships/image" Target="../media/image10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0.png"/><Relationship Id="rId4" Type="http://schemas.openxmlformats.org/officeDocument/2006/relationships/image" Target="../media/image6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55688C8B-20B5-944F-B9EB-AAB0D3AE4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068" y="2330164"/>
            <a:ext cx="9794549" cy="795080"/>
          </a:xfrm>
        </p:spPr>
        <p:txBody>
          <a:bodyPr>
            <a:normAutofit fontScale="90000"/>
          </a:bodyPr>
          <a:lstStyle/>
          <a:p>
            <a:r>
              <a:rPr lang="it-IT" dirty="0" err="1"/>
              <a:t>Perceiver</a:t>
            </a:r>
            <a:r>
              <a:rPr lang="it-IT" dirty="0"/>
              <a:t> &amp; </a:t>
            </a:r>
            <a:r>
              <a:rPr lang="it-IT" dirty="0" err="1"/>
              <a:t>Perceiver</a:t>
            </a:r>
            <a:r>
              <a:rPr lang="it-IT" dirty="0"/>
              <a:t> IO</a:t>
            </a:r>
            <a:br>
              <a:rPr lang="it-IT" dirty="0"/>
            </a:br>
            <a:r>
              <a:rPr lang="it-IT" sz="3100" dirty="0" err="1"/>
              <a:t>Implementation</a:t>
            </a:r>
            <a:r>
              <a:rPr lang="it-IT" sz="3100" dirty="0"/>
              <a:t> and </a:t>
            </a:r>
            <a:r>
              <a:rPr lang="it-IT" sz="3100" dirty="0" err="1"/>
              <a:t>Experimental</a:t>
            </a:r>
            <a:r>
              <a:rPr lang="it-IT" sz="3100" dirty="0"/>
              <a:t> Analysis</a:t>
            </a:r>
            <a:endParaRPr lang="it-IT" sz="31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454B2FB-8D54-4B76-BCB2-40DE45A935FC}"/>
              </a:ext>
            </a:extLst>
          </p:cNvPr>
          <p:cNvSpPr txBox="1"/>
          <p:nvPr/>
        </p:nvSpPr>
        <p:spPr>
          <a:xfrm>
            <a:off x="1587500" y="4572000"/>
            <a:ext cx="97917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2000" b="1">
                <a:solidFill>
                  <a:srgbClr val="FFFFFF"/>
                </a:solidFill>
              </a:rPr>
              <a:t>Francesco Gigli  ·  Corso Vignoli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CD2ACF5-C66C-49DE-8F75-36CA84C3AB17}"/>
              </a:ext>
            </a:extLst>
          </p:cNvPr>
          <p:cNvSpPr txBox="1"/>
          <p:nvPr/>
        </p:nvSpPr>
        <p:spPr>
          <a:xfrm>
            <a:off x="1587500" y="5003800"/>
            <a:ext cx="9791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500">
                <a:solidFill>
                  <a:srgbClr val="FFFFFF"/>
                </a:solidFill>
              </a:rPr>
              <a:t>Università degli Studi di Firenze    |    Course B031278 — Deep Learning</a:t>
            </a:r>
          </a:p>
        </p:txBody>
      </p:sp>
    </p:spTree>
    <p:extLst>
      <p:ext uri="{BB962C8B-B14F-4D97-AF65-F5344CB8AC3E}">
        <p14:creationId xmlns:p14="http://schemas.microsoft.com/office/powerpoint/2010/main" val="3256717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9DC4E6E-79B6-8C5D-AEB5-E5F6BF79FA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11556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11556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Introduction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048256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48256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980944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Experiments: Perceiver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13632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 IO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846320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846320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>
                <a:solidFill>
                  <a:srgbClr val="005293"/>
                </a:solidFill>
              </a:rPr>
              <a:t>Experiments: Perceiver IO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77900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77900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221413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335824F-9075-AE29-3CF6-10A4C6C91F4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9B9830-61D5-1253-FF73-4F280D46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The Problem: Modality-Specific Architectures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9989DC-1BCA-404D-8A2C-A424F24F9AC8}"/>
              </a:ext>
            </a:extLst>
          </p:cNvPr>
          <p:cNvSpPr txBox="1"/>
          <p:nvPr/>
        </p:nvSpPr>
        <p:spPr>
          <a:xfrm>
            <a:off x="7589958" y="1905000"/>
            <a:ext cx="4125234" cy="33855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One </a:t>
            </a:r>
            <a:r>
              <a:rPr lang="it-IT" sz="1600" b="1" dirty="0" err="1">
                <a:solidFill>
                  <a:srgbClr val="156082"/>
                </a:solidFill>
              </a:rPr>
              <a:t>modality</a:t>
            </a:r>
            <a:r>
              <a:rPr lang="it-IT" sz="1600" b="1" dirty="0">
                <a:solidFill>
                  <a:srgbClr val="156082"/>
                </a:solidFill>
              </a:rPr>
              <a:t>, one </a:t>
            </a:r>
            <a:r>
              <a:rPr lang="it-IT" sz="1600" b="1" dirty="0" err="1">
                <a:solidFill>
                  <a:srgbClr val="156082"/>
                </a:solidFill>
              </a:rPr>
              <a:t>architecture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3496C9D-A997-440D-A477-CCD3631D2FFE}"/>
              </a:ext>
            </a:extLst>
          </p:cNvPr>
          <p:cNvSpPr/>
          <p:nvPr/>
        </p:nvSpPr>
        <p:spPr>
          <a:xfrm>
            <a:off x="7589958" y="2286000"/>
            <a:ext cx="4125234" cy="20066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47BE781-BDE9-4F6D-BF99-15505C0BAC56}"/>
              </a:ext>
            </a:extLst>
          </p:cNvPr>
          <p:cNvSpPr/>
          <p:nvPr/>
        </p:nvSpPr>
        <p:spPr>
          <a:xfrm>
            <a:off x="7618867" y="2286000"/>
            <a:ext cx="76200" cy="20066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77B1E6E-9151-41C9-8860-C0222476830B}"/>
              </a:ext>
            </a:extLst>
          </p:cNvPr>
          <p:cNvSpPr txBox="1"/>
          <p:nvPr/>
        </p:nvSpPr>
        <p:spPr>
          <a:xfrm>
            <a:off x="8044892" y="2463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Images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1429FB-981B-4CCE-9EBA-712549F3A7C5}"/>
              </a:ext>
            </a:extLst>
          </p:cNvPr>
          <p:cNvSpPr txBox="1"/>
          <p:nvPr/>
        </p:nvSpPr>
        <p:spPr>
          <a:xfrm>
            <a:off x="9282543" y="2480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CNNs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D0C3AD1-30A3-46A4-9ABC-317BD81D00EC}"/>
              </a:ext>
            </a:extLst>
          </p:cNvPr>
          <p:cNvSpPr txBox="1"/>
          <p:nvPr/>
        </p:nvSpPr>
        <p:spPr>
          <a:xfrm>
            <a:off x="8044892" y="2908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Text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80C3E53-A290-4590-AB07-B9A6F66C1468}"/>
              </a:ext>
            </a:extLst>
          </p:cNvPr>
          <p:cNvSpPr txBox="1"/>
          <p:nvPr/>
        </p:nvSpPr>
        <p:spPr>
          <a:xfrm>
            <a:off x="9282543" y="29245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Transformers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D7263DC-37ED-4B49-950F-0306756FC5EC}"/>
              </a:ext>
            </a:extLst>
          </p:cNvPr>
          <p:cNvSpPr txBox="1"/>
          <p:nvPr/>
        </p:nvSpPr>
        <p:spPr>
          <a:xfrm>
            <a:off x="8044892" y="3352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Audio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09A5295-4DC2-481B-AEA7-BCA8CD30DFB4}"/>
              </a:ext>
            </a:extLst>
          </p:cNvPr>
          <p:cNvSpPr txBox="1"/>
          <p:nvPr/>
        </p:nvSpPr>
        <p:spPr>
          <a:xfrm>
            <a:off x="9282544" y="3369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RNNs</a:t>
            </a:r>
            <a:r>
              <a:rPr lang="it-IT" sz="1500" dirty="0">
                <a:solidFill>
                  <a:srgbClr val="1A1A1A"/>
                </a:solidFill>
              </a:rPr>
              <a:t> / </a:t>
            </a:r>
            <a:r>
              <a:rPr lang="it-IT" sz="1500" dirty="0" err="1">
                <a:solidFill>
                  <a:srgbClr val="1A1A1A"/>
                </a:solidFill>
              </a:rPr>
              <a:t>1D</a:t>
            </a:r>
            <a:r>
              <a:rPr lang="it-IT" sz="1500" dirty="0">
                <a:solidFill>
                  <a:srgbClr val="1A1A1A"/>
                </a:solidFill>
              </a:rPr>
              <a:t>-CNN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79DC7B8-B681-47AE-BD4D-4374C6D1E3B3}"/>
              </a:ext>
            </a:extLst>
          </p:cNvPr>
          <p:cNvSpPr txBox="1"/>
          <p:nvPr/>
        </p:nvSpPr>
        <p:spPr>
          <a:xfrm>
            <a:off x="8044892" y="3797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Point Clouds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48B9E9E-C403-49DE-956D-21C670CB8EE5}"/>
              </a:ext>
            </a:extLst>
          </p:cNvPr>
          <p:cNvSpPr txBox="1"/>
          <p:nvPr/>
        </p:nvSpPr>
        <p:spPr>
          <a:xfrm>
            <a:off x="9282544" y="3813517"/>
            <a:ext cx="2292947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PointNet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C175B906-1279-4504-8FFF-FB4757B2C068}"/>
              </a:ext>
            </a:extLst>
          </p:cNvPr>
          <p:cNvSpPr txBox="1"/>
          <p:nvPr/>
        </p:nvSpPr>
        <p:spPr>
          <a:xfrm>
            <a:off x="7695066" y="4394200"/>
            <a:ext cx="4020125" cy="69249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i="1" dirty="0">
                <a:solidFill>
                  <a:srgbClr val="555555"/>
                </a:solidFill>
              </a:rPr>
              <a:t>Each data type is usually paired with a dedicated model and domain-specific assumptions about structure.</a:t>
            </a:r>
            <a:endParaRPr lang="it-IT" sz="1300" i="1" dirty="0">
              <a:solidFill>
                <a:srgbClr val="555555"/>
              </a:solidFill>
            </a:endParaRP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FCA2D08E-6F3F-42A3-AB02-F36328E00D27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00477AF-EB6F-4E8B-9A72-0CCBCB474D0C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C1E313AC-613D-8635-BE29-C1A0626E1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943161"/>
            <a:ext cx="3293917" cy="1415217"/>
          </a:xfrm>
          <a:prstGeom prst="rect">
            <a:avLst/>
          </a:prstGeom>
        </p:spPr>
      </p:pic>
      <p:pic>
        <p:nvPicPr>
          <p:cNvPr id="26" name="Immagine 25" descr="A Hybrid CNN and RNN Variant Model for Music Classification">
            <a:extLst>
              <a:ext uri="{FF2B5EF4-FFF2-40B4-BE49-F238E27FC236}">
                <a16:creationId xmlns:a16="http://schemas.microsoft.com/office/drawing/2014/main" id="{CEE7E67F-5AC5-6905-6829-BC989AA43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3745353"/>
            <a:ext cx="3192317" cy="1270175"/>
          </a:xfrm>
          <a:prstGeom prst="rect">
            <a:avLst/>
          </a:prstGeom>
        </p:spPr>
      </p:pic>
      <p:pic>
        <p:nvPicPr>
          <p:cNvPr id="27" name="Immagine 26" descr="PointNet">
            <a:extLst>
              <a:ext uri="{FF2B5EF4-FFF2-40B4-BE49-F238E27FC236}">
                <a16:creationId xmlns:a16="http://schemas.microsoft.com/office/drawing/2014/main" id="{E7300981-8A09-B32E-B7C4-EEDAE3614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9510" y="2665429"/>
            <a:ext cx="2933399" cy="130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343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E60B6-8A61-0ACC-3893-C04F8E3F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6AEDE14-FBF6-6923-21CC-534542AD87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98BF1B5-4E8C-A834-C284-D8DC4B128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Problem</a:t>
            </a:r>
            <a:r>
              <a:rPr lang="it-IT" dirty="0"/>
              <a:t>: Scaling </a:t>
            </a:r>
            <a:r>
              <a:rPr lang="it-IT" dirty="0" err="1"/>
              <a:t>bottleneck</a:t>
            </a:r>
            <a:endParaRPr lang="it-IT" dirty="0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B0093F10-81EB-AA6C-D247-65CE4E69C5CB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E6A49CE-B647-A0D6-5976-B46E209A795D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 </a:t>
            </a:r>
            <a:r>
              <a:rPr lang="en-US" sz="1500" b="1" u="sng" dirty="0">
                <a:solidFill>
                  <a:srgbClr val="FFFFFF"/>
                </a:solidFill>
              </a:rPr>
              <a:t>without quadratic cost</a:t>
            </a:r>
            <a:r>
              <a:rPr lang="en-US" sz="1500" b="1" dirty="0">
                <a:solidFill>
                  <a:srgbClr val="FFFFFF"/>
                </a:solidFill>
              </a:rPr>
              <a:t>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DCF6ED6F-8587-3229-DD18-F4F677BB5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1913717"/>
            <a:ext cx="2273300" cy="2851958"/>
          </a:xfrm>
          <a:prstGeom prst="rect">
            <a:avLst/>
          </a:prstGeom>
        </p:spPr>
      </p:pic>
      <p:sp>
        <p:nvSpPr>
          <p:cNvPr id="402" name="tx"/>
          <p:cNvSpPr/>
          <p:nvPr/>
        </p:nvSpPr>
        <p:spPr>
          <a:xfrm>
            <a:off x="3892550" y="1908175"/>
            <a:ext cx="7870825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A Transformer layer contains self-attention and a pointwise MLP.</a:t>
            </a:r>
          </a:p>
        </p:txBody>
      </p:sp>
      <p:sp>
        <p:nvSpPr>
          <p:cNvPr id="403" name="ic"/>
          <p:cNvSpPr/>
          <p:nvPr/>
        </p:nvSpPr>
        <p:spPr>
          <a:xfrm>
            <a:off x="3892550" y="22923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404" name="ic"/>
          <p:cNvSpPr/>
          <p:nvPr/>
        </p:nvSpPr>
        <p:spPr>
          <a:xfrm>
            <a:off x="3892550" y="26987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x"/>
              <p:cNvSpPr/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:r>
                  <a:rPr lang="en-US" sz="1500" b="1" dirty="0">
                    <a:solidFill>
                      <a:srgbClr val="0E2841"/>
                    </a:solidFill>
                  </a:rPr>
                  <a:t>Self-attention: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compares all token pairs → cost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500" i="1" dirty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05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blipFill>
                <a:blip r:embed="rId3"/>
                <a:stretch>
                  <a:fillRect l="-1564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6" name="tx"/>
              <p:cNvSpPr/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r>
                  <a:rPr lang="en-US" sz="1500" b="1" dirty="0">
                    <a:solidFill>
                      <a:srgbClr val="0E2841"/>
                    </a:solidFill>
                  </a:rPr>
                  <a:t>Pointwise MLP: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processes each token independently → scales linearly with </a:t>
                </a:r>
                <a14:m>
                  <m:oMath xmlns:m="http://schemas.openxmlformats.org/officeDocument/2006/math"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it-IT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endParaRPr lang="en-US" sz="1500" i="1" dirty="0">
                  <a:solidFill>
                    <a:srgbClr val="1F1F1F"/>
                  </a:solidFill>
                </a:endParaRPr>
              </a:p>
            </p:txBody>
          </p:sp>
        </mc:Choice>
        <mc:Fallback xmlns="">
          <p:sp>
            <p:nvSpPr>
              <p:cNvPr id="406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blipFill>
                <a:blip r:embed="rId4"/>
                <a:stretch>
                  <a:fillRect l="-1564" t="-1852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7" name="tbl"/>
          <p:cNvGraphicFramePr/>
          <p:nvPr>
            <p:extLst>
              <p:ext uri="{D42A27DB-BD31-4B8C-83A1-F6EECF244321}">
                <p14:modId xmlns:p14="http://schemas.microsoft.com/office/powerpoint/2010/main" val="663547484"/>
              </p:ext>
            </p:extLst>
          </p:nvPr>
        </p:nvGraphicFramePr>
        <p:xfrm>
          <a:off x="3892550" y="3181350"/>
          <a:ext cx="7867650" cy="1092200"/>
        </p:xfrm>
        <a:graphic>
          <a:graphicData uri="http://schemas.openxmlformats.org/drawingml/2006/table">
            <a:tbl>
              <a:tblPr firstRow="1"/>
              <a:tblGrid>
                <a:gridCol w="55834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4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Input representation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16×16 image patches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256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Raw 224×224 pixels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50,176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8" name="ic"/>
          <p:cNvSpPr/>
          <p:nvPr/>
        </p:nvSpPr>
        <p:spPr>
          <a:xfrm>
            <a:off x="3892550" y="4486275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409" name="tx"/>
          <p:cNvSpPr/>
          <p:nvPr/>
        </p:nvSpPr>
        <p:spPr>
          <a:xfrm>
            <a:off x="4349750" y="44735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0E2841"/>
                </a:solidFill>
              </a:rPr>
              <a:t>The MLP scales linearly, but self-attention is the true bottleneck.</a:t>
            </a:r>
          </a:p>
        </p:txBody>
      </p:sp>
      <p:sp>
        <p:nvSpPr>
          <p:cNvPr id="410" name="tx"/>
          <p:cNvSpPr/>
          <p:nvPr/>
        </p:nvSpPr>
        <p:spPr>
          <a:xfrm>
            <a:off x="4349750" y="47021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Raw pixels make standard attention </a:t>
            </a:r>
            <a:r>
              <a:rPr lang="en-US" sz="1400" b="1" dirty="0">
                <a:solidFill>
                  <a:srgbClr val="E97132"/>
                </a:solidFill>
              </a:rPr>
              <a:t>impractical</a:t>
            </a:r>
            <a:r>
              <a:rPr lang="en-US" sz="1400" dirty="0">
                <a:solidFill>
                  <a:srgbClr val="1F1F1F"/>
                </a:solidFill>
              </a:rPr>
              <a:t>.</a:t>
            </a:r>
          </a:p>
        </p:txBody>
      </p:sp>
      <p:pic>
        <p:nvPicPr>
          <p:cNvPr id="411" name="Graphic 411" descr="network icon for self-atten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6050" y="2355850"/>
            <a:ext cx="203200" cy="203200"/>
          </a:xfrm>
          <a:prstGeom prst="rect">
            <a:avLst/>
          </a:prstGeom>
        </p:spPr>
      </p:pic>
      <p:pic>
        <p:nvPicPr>
          <p:cNvPr id="412" name="Graphic 412" descr="grid icon for pointwise ML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6050" y="2762250"/>
            <a:ext cx="203200" cy="2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88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2AD2-29FB-07D9-3C17-999BF89AB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E76E75-F0FB-8373-B615-DD9F3F17E3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5AE0D3EC-072E-D11A-A354-65B10A8B4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Perceiver</a:t>
            </a:r>
            <a:r>
              <a:rPr lang="it-IT" dirty="0"/>
              <a:t> Solution</a:t>
            </a:r>
          </a:p>
        </p:txBody>
      </p:sp>
      <p:sp>
        <p:nvSpPr>
          <p:cNvPr id="54" name="Ltitle">
            <a:extLst>
              <a:ext uri="{FF2B5EF4-FFF2-40B4-BE49-F238E27FC236}">
                <a16:creationId xmlns:a16="http://schemas.microsoft.com/office/drawing/2014/main" id="{30EC1437-6CDE-8C1A-A196-49B43B66ACA6}"/>
              </a:ext>
            </a:extLst>
          </p:cNvPr>
          <p:cNvSpPr/>
          <p:nvPr/>
        </p:nvSpPr>
        <p:spPr>
          <a:xfrm>
            <a:off x="1270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Standard self-attention</a:t>
            </a:r>
          </a:p>
        </p:txBody>
      </p:sp>
      <p:sp>
        <p:nvSpPr>
          <p:cNvPr id="56" name="Rtitle">
            <a:extLst>
              <a:ext uri="{FF2B5EF4-FFF2-40B4-BE49-F238E27FC236}">
                <a16:creationId xmlns:a16="http://schemas.microsoft.com/office/drawing/2014/main" id="{0DD70F48-4C36-0CFB-0391-E82D5CAF13FB}"/>
              </a:ext>
            </a:extLst>
          </p:cNvPr>
          <p:cNvSpPr/>
          <p:nvPr/>
        </p:nvSpPr>
        <p:spPr>
          <a:xfrm>
            <a:off x="61722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Perceiver cross-attention</a:t>
            </a:r>
          </a:p>
        </p:txBody>
      </p:sp>
      <p:sp>
        <p:nvSpPr>
          <p:cNvPr id="58" name="hl">
            <a:extLst>
              <a:ext uri="{FF2B5EF4-FFF2-40B4-BE49-F238E27FC236}">
                <a16:creationId xmlns:a16="http://schemas.microsoft.com/office/drawing/2014/main" id="{CFB004B6-6773-1961-E59F-1569F8C257D6}"/>
              </a:ext>
            </a:extLst>
          </p:cNvPr>
          <p:cNvSpPr/>
          <p:nvPr/>
        </p:nvSpPr>
        <p:spPr>
          <a:xfrm>
            <a:off x="3048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hl">
            <a:extLst>
              <a:ext uri="{FF2B5EF4-FFF2-40B4-BE49-F238E27FC236}">
                <a16:creationId xmlns:a16="http://schemas.microsoft.com/office/drawing/2014/main" id="{B7EB06D7-7604-67DF-12B1-A0ACFF6AD24A}"/>
              </a:ext>
            </a:extLst>
          </p:cNvPr>
          <p:cNvSpPr/>
          <p:nvPr/>
        </p:nvSpPr>
        <p:spPr>
          <a:xfrm>
            <a:off x="62992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l">
            <a:extLst>
              <a:ext uri="{FF2B5EF4-FFF2-40B4-BE49-F238E27FC236}">
                <a16:creationId xmlns:a16="http://schemas.microsoft.com/office/drawing/2014/main" id="{0CC7C421-E172-9522-8696-254A5C96EBCC}"/>
              </a:ext>
            </a:extLst>
          </p:cNvPr>
          <p:cNvSpPr/>
          <p:nvPr/>
        </p:nvSpPr>
        <p:spPr>
          <a:xfrm>
            <a:off x="2794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O(M)</a:t>
            </a:r>
          </a:p>
        </p:txBody>
      </p:sp>
      <p:sp>
        <p:nvSpPr>
          <p:cNvPr id="64" name="l">
            <a:extLst>
              <a:ext uri="{FF2B5EF4-FFF2-40B4-BE49-F238E27FC236}">
                <a16:creationId xmlns:a16="http://schemas.microsoft.com/office/drawing/2014/main" id="{B2905C55-F654-837E-4934-D143C971EA6A}"/>
              </a:ext>
            </a:extLst>
          </p:cNvPr>
          <p:cNvSpPr/>
          <p:nvPr/>
        </p:nvSpPr>
        <p:spPr>
          <a:xfrm>
            <a:off x="2209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6" name="l">
            <a:extLst>
              <a:ext uri="{FF2B5EF4-FFF2-40B4-BE49-F238E27FC236}">
                <a16:creationId xmlns:a16="http://schemas.microsoft.com/office/drawing/2014/main" id="{79D4B34A-BB13-B250-8FAE-517008CDEF99}"/>
              </a:ext>
            </a:extLst>
          </p:cNvPr>
          <p:cNvSpPr/>
          <p:nvPr/>
        </p:nvSpPr>
        <p:spPr>
          <a:xfrm>
            <a:off x="4140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8" name="l">
            <a:extLst>
              <a:ext uri="{FF2B5EF4-FFF2-40B4-BE49-F238E27FC236}">
                <a16:creationId xmlns:a16="http://schemas.microsoft.com/office/drawing/2014/main" id="{0FDECC71-2436-FE19-1928-1F5ADA155866}"/>
              </a:ext>
            </a:extLst>
          </p:cNvPr>
          <p:cNvSpPr/>
          <p:nvPr/>
        </p:nvSpPr>
        <p:spPr>
          <a:xfrm>
            <a:off x="6273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N(N) + O(M)</a:t>
            </a:r>
          </a:p>
        </p:txBody>
      </p:sp>
      <p:sp>
        <p:nvSpPr>
          <p:cNvPr id="70" name="l">
            <a:extLst>
              <a:ext uri="{FF2B5EF4-FFF2-40B4-BE49-F238E27FC236}">
                <a16:creationId xmlns:a16="http://schemas.microsoft.com/office/drawing/2014/main" id="{E360B65F-CE18-6EB6-F7B8-334A72A232C8}"/>
              </a:ext>
            </a:extLst>
          </p:cNvPr>
          <p:cNvSpPr/>
          <p:nvPr/>
        </p:nvSpPr>
        <p:spPr>
          <a:xfrm>
            <a:off x="8204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sp>
        <p:nvSpPr>
          <p:cNvPr id="72" name="l">
            <a:extLst>
              <a:ext uri="{FF2B5EF4-FFF2-40B4-BE49-F238E27FC236}">
                <a16:creationId xmlns:a16="http://schemas.microsoft.com/office/drawing/2014/main" id="{A71C4BAB-1D36-D18A-3E35-BDC9256C256F}"/>
              </a:ext>
            </a:extLst>
          </p:cNvPr>
          <p:cNvSpPr/>
          <p:nvPr/>
        </p:nvSpPr>
        <p:spPr>
          <a:xfrm>
            <a:off x="101346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377F4FB1-C6C3-70B1-6492-5CA0783A18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883" y="2114064"/>
            <a:ext cx="5495517" cy="2582531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0A2A3C75-E3D3-9BA9-A471-B8FBB02AD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2114064"/>
            <a:ext cx="5435600" cy="2568728"/>
          </a:xfrm>
          <a:prstGeom prst="rect">
            <a:avLst/>
          </a:prstGeom>
        </p:spPr>
      </p:pic>
      <p:sp>
        <p:nvSpPr>
          <p:cNvPr id="78" name="cmp">
            <a:extLst>
              <a:ext uri="{FF2B5EF4-FFF2-40B4-BE49-F238E27FC236}">
                <a16:creationId xmlns:a16="http://schemas.microsoft.com/office/drawing/2014/main" id="{56D4960A-621D-B99C-AAE3-C08B8562EF6F}"/>
              </a:ext>
            </a:extLst>
          </p:cNvPr>
          <p:cNvSpPr/>
          <p:nvPr/>
        </p:nvSpPr>
        <p:spPr>
          <a:xfrm>
            <a:off x="4064000" y="5468148"/>
            <a:ext cx="4064000" cy="431800"/>
          </a:xfrm>
          <a:prstGeom prst="roundRect">
            <a:avLst>
              <a:gd name="adj" fmla="val 20000"/>
            </a:avLst>
          </a:prstGeom>
          <a:solidFill>
            <a:srgbClr val="F4F6FB"/>
          </a:solidFill>
          <a:ln w="12700">
            <a:solidFill>
              <a:srgbClr val="0E284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0" name="cmpt">
            <a:extLst>
              <a:ext uri="{FF2B5EF4-FFF2-40B4-BE49-F238E27FC236}">
                <a16:creationId xmlns:a16="http://schemas.microsoft.com/office/drawing/2014/main" id="{3204D644-B32B-B51D-E006-FC8277885136}"/>
              </a:ext>
            </a:extLst>
          </p:cNvPr>
          <p:cNvSpPr/>
          <p:nvPr/>
        </p:nvSpPr>
        <p:spPr>
          <a:xfrm>
            <a:off x="4064000" y="5468148"/>
            <a:ext cx="4013200" cy="431800"/>
          </a:xfrm>
          <a:prstGeom prst="rect">
            <a:avLst/>
          </a:prstGeom>
          <a:noFill/>
          <a:ln>
            <a:noFill/>
          </a:ln>
        </p:spPr>
        <p:txBody>
          <a:bodyPr wrap="square" lIns="38100" tIns="12700" rIns="38100" bIns="1270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0E2841"/>
                </a:solidFill>
              </a:rPr>
              <a:t>Self-attention: </a:t>
            </a:r>
            <a:r>
              <a:rPr lang="en-US" sz="1300" b="1" dirty="0">
                <a:solidFill>
                  <a:srgbClr val="E97132"/>
                </a:solidFill>
              </a:rPr>
              <a:t>O(M²)</a:t>
            </a:r>
            <a:r>
              <a:rPr lang="en-US" sz="1300" b="1" dirty="0">
                <a:solidFill>
                  <a:srgbClr val="0E2841"/>
                </a:solidFill>
              </a:rPr>
              <a:t>   →   Cross-attention: </a:t>
            </a:r>
            <a:r>
              <a:rPr lang="en-US" sz="1300" b="1" dirty="0">
                <a:solidFill>
                  <a:srgbClr val="196B24"/>
                </a:solidFill>
              </a:rPr>
              <a:t>O(MN)</a:t>
            </a:r>
          </a:p>
        </p:txBody>
      </p:sp>
    </p:spTree>
    <p:extLst>
      <p:ext uri="{BB962C8B-B14F-4D97-AF65-F5344CB8AC3E}">
        <p14:creationId xmlns:p14="http://schemas.microsoft.com/office/powerpoint/2010/main" val="152508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aptionCard">
            <a:extLst>
              <a:ext uri="{FF2B5EF4-FFF2-40B4-BE49-F238E27FC236}">
                <a16:creationId xmlns:a16="http://schemas.microsoft.com/office/drawing/2014/main" id="{CCE8295F-1E76-475F-9230-E9CC78B47DE9}"/>
              </a:ext>
            </a:extLst>
          </p:cNvPr>
          <p:cNvSpPr/>
          <p:nvPr/>
        </p:nvSpPr>
        <p:spPr>
          <a:xfrm>
            <a:off x="1905000" y="5054600"/>
            <a:ext cx="9334500" cy="1092200"/>
          </a:xfrm>
          <a:prstGeom prst="roundRect">
            <a:avLst/>
          </a:prstGeom>
          <a:solidFill>
            <a:srgbClr val="EAF1F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AB284C9-D2F6-BF74-1BA3-B7ADAF521F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pic>
        <p:nvPicPr>
          <p:cNvPr id="15" name="Picture 14" descr="cross_attention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464" y="2129996"/>
            <a:ext cx="5536983" cy="2084748"/>
          </a:xfrm>
          <a:prstGeom prst="rect">
            <a:avLst/>
          </a:prstGeom>
        </p:spPr>
      </p:pic>
      <p:sp>
        <p:nvSpPr>
          <p:cNvPr id="3" name="Titolo 3">
            <a:extLst>
              <a:ext uri="{FF2B5EF4-FFF2-40B4-BE49-F238E27FC236}">
                <a16:creationId xmlns:a16="http://schemas.microsoft.com/office/drawing/2014/main" id="{3E071C53-2FBE-5A23-CBB3-1F827BAB03E3}"/>
              </a:ext>
            </a:extLst>
          </p:cNvPr>
          <p:cNvSpPr txBox="1">
            <a:spLocks/>
          </p:cNvSpPr>
          <p:nvPr/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200" b="1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>
                <a:solidFill/>
              </a:rPr>
              <a:t>Cross-Attention</a:t>
            </a:r>
            <a:endParaRPr lang="it-IT" dirty="0">
              <a:solidFill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/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i="1" baseline="-2500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𝑙𝑎𝑡𝑒𝑛𝑡</m:t>
                    </m:r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𝑄𝐾𝑉</m:t>
                            </m:r>
                          </m:sub>
                        </m:sSub>
                      </m:sup>
                    </m:sSup>
                  </m:oMath>
                </a14:m>
                <a:endParaRPr lang="it-IT" sz="2400" b="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it-IT" sz="2400" b="0" i="1" baseline="-25000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𝑄𝐾𝑉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it-IT" sz="2400" i="1" baseline="-2500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𝑄𝐾𝑉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blipFill>
                <a:blip r:embed="rId3"/>
                <a:stretch>
                  <a:fillRect b="-53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/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it-IT" sz="2000" b="0" i="1" u="none" strike="noStrike" baseline="0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it-IT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𝑄𝐾𝑉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it-IT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</m:oMath>
                  </m:oMathPara>
                </a14:m>
                <a:endParaRPr lang="it-IT" sz="2000" dirty="0"/>
              </a:p>
            </p:txBody>
          </p:sp>
        </mc:Choice>
        <mc:Fallback xmlns="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/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𝐶𝑟𝑜𝑠𝑠𝐴𝑡𝑡𝑛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it-IT" sz="2000" b="0" i="0" u="none" strike="noStrike" baseline="0" dirty="0">
                    <a:latin typeface="CMSS10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000" b="0" i="0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it-IT" sz="20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r>
                      <a:rPr lang="it-IT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0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𝑄𝐾𝑉</m:t>
                            </m:r>
                          </m:sub>
                        </m:sSub>
                      </m:sup>
                    </m:sSup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blipFill>
                <a:blip r:embed="rId5"/>
                <a:stretch>
                  <a:fillRect t="-5970" b="-253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AE93169-2342-4DC7-AB1B-E9F3E9590B12}"/>
              </a:ext>
            </a:extLst>
          </p:cNvPr>
          <p:cNvSpPr txBox="1"/>
          <p:nvPr/>
        </p:nvSpPr>
        <p:spPr>
          <a:xfrm>
            <a:off x="2184400" y="5143500"/>
            <a:ext cx="8890000" cy="95058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it-IT" sz="1600" b="1" dirty="0">
                <a:solidFill>
                  <a:srgbClr val="156082"/>
                </a:solidFill>
              </a:rPr>
              <a:t>Cross-attention</a:t>
            </a:r>
            <a:r>
              <a:rPr lang="it-IT" sz="1600" dirty="0">
                <a:solidFill>
                  <a:srgbClr val="0E2841"/>
                </a:solidFill>
              </a:rPr>
              <a:t> uses the </a:t>
            </a:r>
            <a:r>
              <a:rPr lang="it-IT" sz="1600" b="1" dirty="0">
                <a:solidFill>
                  <a:srgbClr val="156082"/>
                </a:solidFill>
              </a:rPr>
              <a:t>latent array</a:t>
            </a:r>
            <a:r>
              <a:rPr lang="it-IT" sz="1600" dirty="0">
                <a:solidFill>
                  <a:srgbClr val="0E2841"/>
                </a:solidFill>
              </a:rPr>
              <a:t> to read information from the </a:t>
            </a:r>
            <a:r>
              <a:rPr lang="it-IT" sz="1600" b="1" dirty="0">
                <a:solidFill>
                  <a:srgbClr val="156082"/>
                </a:solidFill>
              </a:rPr>
              <a:t>input sequence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  <a:br>
              <a:rPr lang="it-IT" sz="1600" dirty="0"/>
            </a:br>
            <a:r>
              <a:rPr lang="it-IT" sz="1600" dirty="0">
                <a:solidFill>
                  <a:srgbClr val="0E2841"/>
                </a:solidFill>
              </a:rPr>
              <a:t>The output (</a:t>
            </a:r>
            <a:r>
              <a:rPr lang="it-IT" sz="1600" b="1" i="1" dirty="0">
                <a:solidFill>
                  <a:srgbClr val="156082"/>
                </a:solidFill>
              </a:rPr>
              <a:t>F</a:t>
            </a:r>
            <a:r>
              <a:rPr lang="it-IT" sz="1600" dirty="0">
                <a:solidFill>
                  <a:srgbClr val="0E2841"/>
                </a:solidFill>
              </a:rPr>
              <a:t>) is a </a:t>
            </a:r>
            <a:r>
              <a:rPr lang="it-IT" sz="1600" b="1" dirty="0">
                <a:solidFill>
                  <a:srgbClr val="156082"/>
                </a:solidFill>
              </a:rPr>
              <a:t>compact latent representation</a:t>
            </a:r>
            <a:r>
              <a:rPr lang="it-IT" sz="1600" dirty="0">
                <a:solidFill>
                  <a:srgbClr val="0E2841"/>
                </a:solidFill>
              </a:rPr>
              <a:t> that will be refined by the </a:t>
            </a:r>
            <a:r>
              <a:rPr lang="it-IT" sz="1600" b="1" dirty="0">
                <a:solidFill>
                  <a:srgbClr val="156082"/>
                </a:solidFill>
              </a:rPr>
              <a:t>latent transformer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472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3DA5397-8707-D090-59E1-D885CD02B2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BDF8BA1-B324-5499-4714-66E9DBC15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solidFill/>
              </a:rPr>
              <a:t>Perceiver</a:t>
            </a:r>
            <a:r>
              <a:rPr lang="it-IT" dirty="0">
                <a:solidFill/>
              </a:rPr>
              <a:t> Architecture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62A95C9-1734-4270-AA51-724D13E24622}"/>
              </a:ext>
            </a:extLst>
          </p:cNvPr>
          <p:cNvSpPr txBox="1"/>
          <p:nvPr/>
        </p:nvSpPr>
        <p:spPr>
          <a:xfrm>
            <a:off x="86868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Encode and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/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the M input tokens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Keys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 &amp;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Values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it-IT" sz="1400" b="0" i="0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N learned latents, N ≪ M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Queries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</a:t>
                </a: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  </a:t>
                </a:r>
              </a:p>
              <a:p>
                <a:pPr algn="l"/>
                <a:endParaRPr lang="en-US" sz="1400" dirty="0">
                  <a:solidFill>
                    <a:srgbClr val="1A1A1A"/>
                  </a:solidFill>
                </a:endParaRP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Cost O(M²) → O(MN): ≈100× less  (N=512, M=50,176)</a:t>
                </a: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blipFill>
                <a:blip r:embed="rId2"/>
                <a:stretch>
                  <a:fillRect l="-406" t="-2094" b="-471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32D197A-3222-45FA-B18E-AD60C02D2C4F}"/>
              </a:ext>
            </a:extLst>
          </p:cNvPr>
          <p:cNvSpPr txBox="1"/>
          <p:nvPr/>
        </p:nvSpPr>
        <p:spPr>
          <a:xfrm>
            <a:off x="640080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Latent core and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/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refined latent representations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average of N latent vectors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output logits for K classes</a:t>
                </a:r>
              </a:p>
              <a:p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it-IT" sz="1400" dirty="0"/>
                  <a:t>Cost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1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sz="1400" dirty="0"/>
                  <a:t> with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sz="1400">
                        <a:latin typeface="Cambria Math" panose="02040503050406030204" pitchFamily="18" charset="0"/>
                      </a:rPr>
                      <m:t>≪</m:t>
                    </m:r>
                    <m:r>
                      <a:rPr lang="it-IT" sz="14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blipFill>
                <a:blip r:embed="rId4"/>
                <a:stretch>
                  <a:fillRect l="-406" t="-1010" b="-40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3670A3B8-3F13-7D62-5BB5-C8046E4A1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584" y="1683981"/>
            <a:ext cx="8757472" cy="29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41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3C65412-2859-171C-3C20-1D3B89565A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7A38048-B695-18C9-6A44-449215211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solidFill/>
              </a:rPr>
              <a:t>Fourier Positional </a:t>
            </a:r>
            <a:r>
              <a:rPr lang="it-IT" dirty="0" err="1">
                <a:solidFill/>
              </a:rPr>
              <a:t>Encoding</a:t>
            </a:r>
            <a:endParaRPr lang="it-IT" dirty="0">
              <a:solidFill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1994A3-D852-474E-B8D4-BC04596D1B57}"/>
              </a:ext>
            </a:extLst>
          </p:cNvPr>
          <p:cNvSpPr txBox="1"/>
          <p:nvPr/>
        </p:nvSpPr>
        <p:spPr>
          <a:xfrm>
            <a:off x="914400" y="1828800"/>
            <a:ext cx="105156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The Perceiver sees a flat array and attention is permutation-invariant, so position must be encoded into each input token.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54E4EB7-0E37-4100-955B-765CEF8F660B}"/>
              </a:ext>
            </a:extLst>
          </p:cNvPr>
          <p:cNvSpPr txBox="1"/>
          <p:nvPr/>
        </p:nvSpPr>
        <p:spPr>
          <a:xfrm>
            <a:off x="863600" y="4775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General recipe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9D2B990-4501-46EF-930C-DD470FE6DE42}"/>
              </a:ext>
            </a:extLst>
          </p:cNvPr>
          <p:cNvSpPr txBox="1"/>
          <p:nvPr/>
        </p:nvSpPr>
        <p:spPr>
          <a:xfrm>
            <a:off x="863600" y="5080000"/>
            <a:ext cx="5334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Domain coordinates: images (u, v), point clouds (x, y, z), text index t</a:t>
            </a:r>
            <a:endParaRPr lang="it-IT" sz="1400" dirty="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Sin/cos bands up to the Nyquist frequency — above it points alias and blur</a:t>
            </a:r>
          </a:p>
          <a:p>
            <a:r>
              <a:rPr sz="1400" b="0">
                <a:solidFill>
                  <a:srgbClr val="1A1A1A"/>
                </a:solidFill>
              </a:rPr>
              <a:t>•  Sample the spectrum densely: more bands help (vs NeRF’s few)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5E1D2E-BBA7-411C-8019-254D25AD3CB8}"/>
              </a:ext>
            </a:extLst>
          </p:cNvPr>
          <p:cNvSpPr txBox="1"/>
          <p:nvPr/>
        </p:nvSpPr>
        <p:spPr>
          <a:xfrm>
            <a:off x="6451600" y="4775200"/>
            <a:ext cx="4978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Input </a:t>
            </a:r>
            <a:r>
              <a:rPr lang="it-IT" sz="1600" b="1" dirty="0" err="1">
                <a:solidFill>
                  <a:srgbClr val="156082"/>
                </a:solidFill>
              </a:rPr>
              <a:t>seen</a:t>
            </a:r>
            <a:r>
              <a:rPr lang="it-IT" sz="1600" b="1" dirty="0">
                <a:solidFill>
                  <a:srgbClr val="156082"/>
                </a:solidFill>
              </a:rPr>
              <a:t> by </a:t>
            </a:r>
            <a:r>
              <a:rPr lang="it-IT" sz="1600" b="1" dirty="0" err="1">
                <a:solidFill>
                  <a:srgbClr val="156082"/>
                </a:solidFill>
              </a:rPr>
              <a:t>attention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803066-301F-43CB-A0FB-EC1E79F80B97}"/>
              </a:ext>
            </a:extLst>
          </p:cNvPr>
          <p:cNvSpPr txBox="1"/>
          <p:nvPr/>
        </p:nvSpPr>
        <p:spPr>
          <a:xfrm>
            <a:off x="6451600" y="5080000"/>
            <a:ext cx="49784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array stays flat; each token is enriched before projection</a:t>
            </a:r>
            <a:endParaRPr lang="it-IT" sz="140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Position is concatenated to content, not added as in language</a:t>
            </a:r>
          </a:p>
          <a:p>
            <a:r>
              <a:rPr sz="1400" b="0">
                <a:solidFill>
                  <a:srgbClr val="1A1A1A"/>
                </a:solidFill>
              </a:rPr>
              <a:t>•  Concatenation works better when content is dense (vision)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/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∥ </m:t>
                        </m:r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500" dirty="0">
                    <a:solidFill>
                      <a:srgbClr val="555555"/>
                    </a:solidFill>
                    <a:latin typeface="Aptos"/>
                  </a:rPr>
                  <a:t>   —  content ∥ Fourier position code</a:t>
                </a:r>
              </a:p>
            </p:txBody>
          </p:sp>
        </mc:Choice>
        <mc:Fallback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blipFill>
                <a:blip r:embed="rId2"/>
                <a:stretch>
                  <a:fillRect b="-563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 descr="fourier_band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2340864"/>
            <a:ext cx="4937760" cy="19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177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F95F253-AD08-B1BC-C8F1-1AFCA85819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B432D1C-3C63-9873-57EA-E7E0BC4BD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Latent Transformer &amp; Weight Sharing</a:t>
            </a:r>
          </a:p>
        </p:txBody>
      </p:sp>
      <p:sp>
        <p:nvSpPr>
          <p:cNvPr id="16" name="KeyBanner 7"/>
          <p:cNvSpPr/>
          <p:nvPr/>
        </p:nvSpPr>
        <p:spPr>
          <a:xfrm>
            <a:off x="774700" y="1854200"/>
            <a:ext cx="10985500" cy="533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C21634F-694A-41EF-959E-F1B29382EAFA}"/>
              </a:ext>
            </a:extLst>
          </p:cNvPr>
          <p:cNvSpPr txBox="1"/>
          <p:nvPr/>
        </p:nvSpPr>
        <p:spPr>
          <a:xfrm>
            <a:off x="924560" y="1924050"/>
            <a:ext cx="10684000" cy="38404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</a:rPr>
              <a:t>Once information is in the latent array, depth is spent by reusing the same processor on a compact state.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371123A-266C-4E35-A59A-B09A1106E346}"/>
              </a:ext>
            </a:extLst>
          </p:cNvPr>
          <p:cNvSpPr txBox="1"/>
          <p:nvPr/>
        </p:nvSpPr>
        <p:spPr>
          <a:xfrm>
            <a:off x="86868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Weight sharing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F5A7DAE-5256-42D6-A4C4-8D8978F43A9F}"/>
              </a:ext>
            </a:extLst>
          </p:cNvPr>
          <p:cNvSpPr txBox="1"/>
          <p:nvPr/>
        </p:nvSpPr>
        <p:spPr>
          <a:xfrm>
            <a:off x="86868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0" dirty="0">
                <a:solidFill>
                  <a:srgbClr val="1A1A1A"/>
                </a:solidFill>
              </a:rPr>
              <a:t xml:space="preserve">•  The same Latent Transformer block </a:t>
            </a:r>
            <a14:m>
              <m:oMath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</m:oMath>
            </a14:m>
            <a:r>
              <a:rPr lang="en-US" sz="1500" b="0" dirty="0">
                <a:solidFill>
                  <a:srgbClr val="1A1A1A"/>
                </a:solidFill>
              </a:rPr>
              <a:t xml:space="preserve"> is reused at every repeat, sharing parameters </a:t>
            </a:r>
            <a14:m>
              <m:oMath>
                <m:r>
                  <a:rPr lang="en-US" sz="1500" b="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𝜃</m:t>
                </m:r>
              </m:oMath>
            </a14:m>
          </a:p>
          <a:p xmlns:a14="http://schemas.microsoft.com/office/drawing/2010/main" xmlns:m="http://schemas.openxmlformats.org/officeDocument/2006/math">
            <a:r>
              <a:rPr lang="en-US" sz="1500" b="0" dirty="0">
                <a:solidFill>
                  <a:srgbClr val="1A1A1A"/>
                </a:solidFill>
              </a:rPr>
              <a:t xml:space="preserve">•  Unrolling depth behaves like an RNN over the latent state:  </a:t>
            </a:r>
            <a14:m>
              <m:oMath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+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1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(</m:t>
                </m:r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)</m:t>
                </m:r>
              </m:oMath>
            </a14:m>
          </a:p>
          <a:p>
            <a:r>
              <a:rPr sz="1500" b="0">
                <a:solidFill>
                  <a:srgbClr val="1A1A1A"/>
                </a:solidFill>
              </a:rPr>
              <a:t>•  Most useful in low-data regimes (e.g. ImageNet), where it curbs overfitting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78338DD-FC96-4B3F-AF9E-6DFE9A00BFA6}"/>
              </a:ext>
            </a:extLst>
          </p:cNvPr>
          <p:cNvSpPr txBox="1"/>
          <p:nvPr/>
        </p:nvSpPr>
        <p:spPr>
          <a:xfrm>
            <a:off x="640080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Why it matters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A5C1AD0-BE07-44BF-97E2-8F55DE020722}"/>
              </a:ext>
            </a:extLst>
          </p:cNvPr>
          <p:cNvSpPr txBox="1"/>
          <p:nvPr/>
        </p:nvSpPr>
        <p:spPr>
          <a:xfrm>
            <a:off x="640080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Iterative refinement without a new processor at each step</a:t>
            </a:r>
            <a:endParaRPr lang="it-IT" sz="1500">
              <a:solidFill>
                <a:srgbClr val="1A1A1A"/>
              </a:solidFill>
            </a:endParaRPr>
          </a:p>
          <a:p>
            <a:r>
              <a:rPr sz="1500" b="0">
                <a:solidFill>
                  <a:srgbClr val="1A1A1A"/>
                </a:solidFill>
              </a:rPr>
              <a:t>•  Parameter count stays fixed as depth grows</a:t>
            </a:r>
          </a:p>
          <a:p>
            <a:r>
              <a:rPr sz="1500" b="0">
                <a:solidFill>
                  <a:srgbClr val="1A1A1A"/>
                </a:solidFill>
              </a:rPr>
              <a:t>•  Computation stays in the compact N-slot latent space</a:t>
            </a:r>
          </a:p>
          <a:p>
            <a:r>
              <a:rPr sz="1500" b="0">
                <a:solidFill>
                  <a:srgbClr val="1A1A1A"/>
                </a:solidFill>
              </a:rPr>
              <a:t>•  Optional repeated cross-attends re-read the input — powerful but heavy, no longer the default</a:t>
            </a:r>
          </a:p>
        </p:txBody>
      </p:sp>
      <p:pic>
        <p:nvPicPr>
          <p:cNvPr id="15" name="Picture 14" descr="perceiver_architectur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14600"/>
            <a:ext cx="10607040" cy="165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307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37563DE8-9242-7939-9436-10C840B558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3FE1A6BA-1900-F573-4A43-044EEB96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Original Perceiver Output: Pooling Classifier</a:t>
            </a:r>
            <a:endParaRPr lang="it-IT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22414F99-3231-4685-A434-4DE235D907B5}"/>
              </a:ext>
            </a:extLst>
          </p:cNvPr>
          <p:cNvSpPr/>
          <p:nvPr/>
        </p:nvSpPr>
        <p:spPr>
          <a:xfrm>
            <a:off x="774700" y="1905000"/>
            <a:ext cx="5461000" cy="3810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56712CE0-9472-458E-8D6A-AE0B1843018E}"/>
              </a:ext>
            </a:extLst>
          </p:cNvPr>
          <p:cNvSpPr/>
          <p:nvPr/>
        </p:nvSpPr>
        <p:spPr>
          <a:xfrm>
            <a:off x="774700" y="1905000"/>
            <a:ext cx="5461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4CA9B9C-968F-4F91-808C-247B24E2202B}"/>
              </a:ext>
            </a:extLst>
          </p:cNvPr>
          <p:cNvSpPr txBox="1"/>
          <p:nvPr/>
        </p:nvSpPr>
        <p:spPr>
          <a:xfrm>
            <a:off x="977900" y="2082800"/>
            <a:ext cx="5054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Fixed-shape output head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B93CE7A8-32FA-4A0F-9B7A-76C61A68B30F}"/>
              </a:ext>
            </a:extLst>
          </p:cNvPr>
          <p:cNvSpPr/>
          <p:nvPr/>
        </p:nvSpPr>
        <p:spPr>
          <a:xfrm>
            <a:off x="977900" y="2463800"/>
            <a:ext cx="5054600" cy="990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0D8C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87841B81-67E7-49B1-A6B0-3D613CABC973}"/>
                  </a:ext>
                </a:extLst>
              </p:cNvPr>
              <p:cNvSpPr txBox="1"/>
              <p:nvPr/>
            </p:nvSpPr>
            <p:spPr>
              <a:xfrm>
                <a:off x="1079500" y="2514600"/>
                <a:ext cx="4851400" cy="88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Encoder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logits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87841B81-67E7-49B1-A6B0-3D613CABC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500" y="2514600"/>
                <a:ext cx="4851400" cy="889000"/>
              </a:xfrm>
              <a:prstGeom prst="rect">
                <a:avLst/>
              </a:prstGeom>
              <a:blipFill>
                <a:blip r:embed="rId2"/>
                <a:stretch>
                  <a:fillRect t="-52414" b="-937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043084C-03C4-4725-B9A3-E9B9B80D3DC2}"/>
              </a:ext>
            </a:extLst>
          </p:cNvPr>
          <p:cNvSpPr txBox="1"/>
          <p:nvPr/>
        </p:nvSpPr>
        <p:spPr>
          <a:xfrm>
            <a:off x="977900" y="3581400"/>
            <a:ext cx="5054600" cy="203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•  Mean pooling collapses all latents to one vector
•  Predicts one global label per input
•  Ideal for classification, not dense structured outputs</a:t>
            </a:r>
            <a:endParaRPr lang="it-IT" sz="1350">
              <a:solidFill>
                <a:srgbClr val="1A1A1A"/>
              </a:solidFill>
            </a:endParaRP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93C4B490-8B9C-4719-AF09-6560461D4415}"/>
              </a:ext>
            </a:extLst>
          </p:cNvPr>
          <p:cNvSpPr/>
          <p:nvPr/>
        </p:nvSpPr>
        <p:spPr>
          <a:xfrm>
            <a:off x="6426200" y="1905000"/>
            <a:ext cx="5334000" cy="2159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F43977CC-D994-4902-A111-4F490D8839CE}"/>
              </a:ext>
            </a:extLst>
          </p:cNvPr>
          <p:cNvSpPr/>
          <p:nvPr/>
        </p:nvSpPr>
        <p:spPr>
          <a:xfrm>
            <a:off x="6426200" y="19050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E133D08-88AB-4374-8314-FEEB8B2DB605}"/>
              </a:ext>
            </a:extLst>
          </p:cNvPr>
          <p:cNvSpPr txBox="1"/>
          <p:nvPr/>
        </p:nvSpPr>
        <p:spPr>
          <a:xfrm>
            <a:off x="6629400" y="2082800"/>
            <a:ext cx="4927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Where FFN &amp; sharing fit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D56B556-56E8-4CD9-9889-CDA17E2EF349}"/>
              </a:ext>
            </a:extLst>
          </p:cNvPr>
          <p:cNvSpPr txBox="1"/>
          <p:nvPr/>
        </p:nvSpPr>
        <p:spPr>
          <a:xfrm>
            <a:off x="6629400" y="2489200"/>
            <a:ext cx="49276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50">
                <a:solidFill>
                  <a:srgbClr val="1A1A1A"/>
                </a:solidFill>
              </a:rPr>
              <a:t>•  Each latent block: pre-norm attention → residual → FFN → residual
•  FFN adds non-linearity after attention mixing
•  Weight sharing reuses the processor across iterations (first block has its own weights)</a:t>
            </a:r>
          </a:p>
        </p:txBody>
      </p:sp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A5B4F03A-F6AB-4482-8B05-9574D7BA4A55}"/>
              </a:ext>
            </a:extLst>
          </p:cNvPr>
          <p:cNvSpPr/>
          <p:nvPr/>
        </p:nvSpPr>
        <p:spPr>
          <a:xfrm>
            <a:off x="6426200" y="4267200"/>
            <a:ext cx="5334000" cy="1447800"/>
          </a:xfrm>
          <a:prstGeom prst="roundRect">
            <a:avLst/>
          </a:prstGeom>
          <a:solidFill>
            <a:srgbClr val="F7F4EE"/>
          </a:solidFill>
          <a:ln w="12700" cap="flat" cmpd="sng" algn="ctr">
            <a:solidFill>
              <a:srgbClr val="E0D8C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2D1260B-13AF-4877-BE10-9AFE8816EE50}"/>
              </a:ext>
            </a:extLst>
          </p:cNvPr>
          <p:cNvSpPr txBox="1"/>
          <p:nvPr/>
        </p:nvSpPr>
        <p:spPr>
          <a:xfrm>
            <a:off x="6629400" y="4419600"/>
            <a:ext cx="4927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8A5A00"/>
                </a:solidFill>
              </a:rPr>
              <a:t>Fixed-shape output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40B9E68-ECAE-48EF-9490-EA13FA2C6E55}"/>
              </a:ext>
            </a:extLst>
          </p:cNvPr>
          <p:cNvSpPr txBox="1"/>
          <p:nvPr/>
        </p:nvSpPr>
        <p:spPr>
          <a:xfrm>
            <a:off x="6629400" y="4800600"/>
            <a:ext cx="4927600" cy="838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Pooling reduces the N latents to a single vector, so this head emits one global prediction per input.</a:t>
            </a:r>
            <a:endParaRPr lang="it-IT" sz="1400">
              <a:solidFill>
                <a:srgbClr val="1A1A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8505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D5EE0EF-8FA8-A1E0-CE72-A5D0FAB7E6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5E95E30-C2CB-3F1B-3C59-D53D36B4B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Computational Complexity Analysis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CEC940F0-86E4-42C7-9E81-31A1C6D41D45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1930400"/>
          <a:ext cx="109855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4500">
                  <a:extLst>
                    <a:ext uri="{9D8B030D-6E8A-4147-A177-3AD203B41FA5}">
                      <a16:colId xmlns:a16="http://schemas.microsoft.com/office/drawing/2014/main" val="253319118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757985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91593092"/>
                    </a:ext>
                  </a:extLst>
                </a:gridCol>
                <a:gridCol w="3937000">
                  <a:extLst>
                    <a:ext uri="{9D8B030D-6E8A-4147-A177-3AD203B41FA5}">
                      <a16:colId xmlns:a16="http://schemas.microsoft.com/office/drawing/2014/main" val="356737140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Self-Attn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Cross-Attn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76412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Standard 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·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3475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+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57149"/>
                  </a:ext>
                </a:extLst>
              </a:tr>
            </a:tbl>
          </a:graphicData>
        </a:graphic>
      </p:graphicFrame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E54E3A45-8DAB-4109-952F-35CC79493C54}"/>
              </a:ext>
            </a:extLst>
          </p:cNvPr>
          <p:cNvSpPr/>
          <p:nvPr/>
        </p:nvSpPr>
        <p:spPr>
          <a:xfrm>
            <a:off x="774700" y="3810000"/>
            <a:ext cx="5334000" cy="20955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44C8E3A9-46DE-4522-BDFD-34D092EADC58}"/>
              </a:ext>
            </a:extLst>
          </p:cNvPr>
          <p:cNvSpPr/>
          <p:nvPr/>
        </p:nvSpPr>
        <p:spPr>
          <a:xfrm>
            <a:off x="774700" y="38100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4E19FBF-3014-43F3-8441-91B611E9FC1B}"/>
              </a:ext>
            </a:extLst>
          </p:cNvPr>
          <p:cNvSpPr txBox="1"/>
          <p:nvPr/>
        </p:nvSpPr>
        <p:spPr>
          <a:xfrm>
            <a:off x="977900" y="3987800"/>
            <a:ext cx="4927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Symbols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488377A-5869-45CA-82A5-D9D2D862DB21}"/>
              </a:ext>
            </a:extLst>
          </p:cNvPr>
          <p:cNvSpPr txBox="1"/>
          <p:nvPr/>
        </p:nvSpPr>
        <p:spPr>
          <a:xfrm>
            <a:off x="977900" y="4368800"/>
            <a:ext cx="4927600" cy="140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input elements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slots  (</a:t>
            </a:r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  <m:r>
                  <a:rPr lang="en-US" sz="135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≪</m:t>
                </m:r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)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𝐿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processing layers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𝑑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hidden channel dimension</a:t>
            </a: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8270A12C-D13E-4689-8AA0-CD5D7A42DD7F}"/>
              </a:ext>
            </a:extLst>
          </p:cNvPr>
          <p:cNvSpPr/>
          <p:nvPr/>
        </p:nvSpPr>
        <p:spPr>
          <a:xfrm>
            <a:off x="6426200" y="3810000"/>
            <a:ext cx="5334000" cy="20955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2572FB9B-93B3-4507-98C4-C5B5229B5125}"/>
              </a:ext>
            </a:extLst>
          </p:cNvPr>
          <p:cNvSpPr/>
          <p:nvPr/>
        </p:nvSpPr>
        <p:spPr>
          <a:xfrm>
            <a:off x="6426200" y="38100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97C2C71-B623-4C88-BEA0-9E080137A087}"/>
              </a:ext>
            </a:extLst>
          </p:cNvPr>
          <p:cNvSpPr txBox="1"/>
          <p:nvPr/>
        </p:nvSpPr>
        <p:spPr>
          <a:xfrm>
            <a:off x="6629400" y="3987800"/>
            <a:ext cx="4927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Interpretation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1E53021-3FCF-4C02-BBB2-01C0B4570F45}"/>
              </a:ext>
            </a:extLst>
          </p:cNvPr>
          <p:cNvSpPr txBox="1"/>
          <p:nvPr/>
        </p:nvSpPr>
        <p:spPr>
          <a:xfrm>
            <a:off x="6629400" y="4368800"/>
            <a:ext cx="4927600" cy="140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•  Full input is read once via cross-attention
•  Repeated self-attention stays in latent space
•  If N is fixed, depth is independent of input length
•  Concrete sizes are evaluated in the experiments</a:t>
            </a:r>
            <a:endParaRPr lang="it-IT" sz="1350">
              <a:solidFill>
                <a:srgbClr val="1A1A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8838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1222AE-D4F1-6542-3C59-876E7FE08D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2108832-038B-CA39-F643-56BEBACDB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GELU Activation &amp; LAMB Optimizer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E7910CF3-CE45-441C-923E-E8E3BD99803D}"/>
              </a:ext>
            </a:extLst>
          </p:cNvPr>
          <p:cNvSpPr/>
          <p:nvPr/>
        </p:nvSpPr>
        <p:spPr>
          <a:xfrm>
            <a:off x="774700" y="1905000"/>
            <a:ext cx="5334000" cy="23114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818E281-8DC5-4A85-A38C-CF55FE06BC09}"/>
              </a:ext>
            </a:extLst>
          </p:cNvPr>
          <p:cNvSpPr/>
          <p:nvPr/>
        </p:nvSpPr>
        <p:spPr>
          <a:xfrm>
            <a:off x="774700" y="19050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F899E33-1706-453F-91BC-40B524404CFC}"/>
              </a:ext>
            </a:extLst>
          </p:cNvPr>
          <p:cNvSpPr txBox="1"/>
          <p:nvPr/>
        </p:nvSpPr>
        <p:spPr>
          <a:xfrm>
            <a:off x="977900" y="2082800"/>
            <a:ext cx="4927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156082"/>
                </a:solidFill>
              </a:rPr>
              <a:t>GELU  (Gaussian Error Linear Unit)</a:t>
            </a:r>
            <a:endParaRPr lang="it-IT" sz="1600" b="1">
              <a:solidFill>
                <a:srgbClr val="156082"/>
              </a:solidFill>
            </a:endParaRP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833473E9-2D36-42F8-9D26-7C717432E3A2}"/>
              </a:ext>
            </a:extLst>
          </p:cNvPr>
          <p:cNvSpPr/>
          <p:nvPr/>
        </p:nvSpPr>
        <p:spPr>
          <a:xfrm>
            <a:off x="977900" y="2463800"/>
            <a:ext cx="4927600" cy="431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0D8C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D06411D3-C684-47A4-90CD-C1174A4BCCD5}"/>
                  </a:ext>
                </a:extLst>
              </p:cNvPr>
              <p:cNvSpPr txBox="1"/>
              <p:nvPr/>
            </p:nvSpPr>
            <p:spPr>
              <a:xfrm>
                <a:off x="1054100" y="2489200"/>
                <a:ext cx="47752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GELU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𝛷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1.702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D06411D3-C684-47A4-90CD-C1174A4BC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489200"/>
                <a:ext cx="4775200" cy="381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AEBF929-275D-4892-8382-8329585FD30F}"/>
              </a:ext>
            </a:extLst>
          </p:cNvPr>
          <p:cNvSpPr txBox="1"/>
          <p:nvPr/>
        </p:nvSpPr>
        <p:spPr>
          <a:xfrm>
            <a:off x="977900" y="2971800"/>
            <a:ext cx="4927600" cy="1117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•  Smooth activation used in Transformer architectures
•  Allows a small negative gradient to flow</a:t>
            </a:r>
            <a:endParaRPr lang="it-IT" sz="1300">
              <a:solidFill>
                <a:srgbClr val="1A1A1A"/>
              </a:solidFill>
            </a:endParaRP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6102B7A4-9CF0-4A06-9C3C-3A2CF3EA3D9F}"/>
              </a:ext>
            </a:extLst>
          </p:cNvPr>
          <p:cNvSpPr/>
          <p:nvPr/>
        </p:nvSpPr>
        <p:spPr>
          <a:xfrm>
            <a:off x="6426200" y="1905000"/>
            <a:ext cx="5334000" cy="23114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30DAD526-5FE2-4C0E-AE7A-A1C132524D56}"/>
              </a:ext>
            </a:extLst>
          </p:cNvPr>
          <p:cNvSpPr/>
          <p:nvPr/>
        </p:nvSpPr>
        <p:spPr>
          <a:xfrm>
            <a:off x="6426200" y="19050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F60918-6403-4433-B22D-FE629503FF84}"/>
              </a:ext>
            </a:extLst>
          </p:cNvPr>
          <p:cNvSpPr txBox="1"/>
          <p:nvPr/>
        </p:nvSpPr>
        <p:spPr>
          <a:xfrm>
            <a:off x="6629400" y="2082800"/>
            <a:ext cx="4927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LAMB  (Layer-wise Adaptive Moments)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7471E09F-F8C1-41F2-BB86-943909A9DC85}"/>
              </a:ext>
            </a:extLst>
          </p:cNvPr>
          <p:cNvSpPr/>
          <p:nvPr/>
        </p:nvSpPr>
        <p:spPr>
          <a:xfrm>
            <a:off x="6629400" y="2463800"/>
            <a:ext cx="4927600" cy="431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0D8C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4097E138-F3BD-4C4A-913F-CF9D2F9BD17D}"/>
                  </a:ext>
                </a:extLst>
              </p:cNvPr>
              <p:cNvSpPr txBox="1"/>
              <p:nvPr/>
            </p:nvSpPr>
            <p:spPr>
              <a:xfrm>
                <a:off x="6705600" y="2489200"/>
                <a:ext cx="47752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·û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4097E138-F3BD-4C4A-913F-CF9D2F9BD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489200"/>
                <a:ext cx="4775200" cy="381000"/>
              </a:xfrm>
              <a:prstGeom prst="rect">
                <a:avLst/>
              </a:prstGeom>
              <a:blipFill>
                <a:blip r:embed="rId3"/>
                <a:stretch>
                  <a:fillRect t="-190476" b="-27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376DC4A-3CE9-4E98-B037-D46478C56C23}"/>
              </a:ext>
            </a:extLst>
          </p:cNvPr>
          <p:cNvSpPr txBox="1"/>
          <p:nvPr/>
        </p:nvSpPr>
        <p:spPr>
          <a:xfrm>
            <a:off x="6629400" y="2971800"/>
            <a:ext cx="4927600" cy="1117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•  Per-layer trust ratio rescales updates
•  Stabilizes large-batch training</a:t>
            </a:r>
            <a:endParaRPr lang="it-IT" sz="1300">
              <a:solidFill>
                <a:srgbClr val="1A1A1A"/>
              </a:solidFill>
            </a:endParaRPr>
          </a:p>
        </p:txBody>
      </p: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33F2752E-4B78-4AA6-8BE6-2C1F716B6625}"/>
              </a:ext>
            </a:extLst>
          </p:cNvPr>
          <p:cNvSpPr/>
          <p:nvPr/>
        </p:nvSpPr>
        <p:spPr>
          <a:xfrm>
            <a:off x="774700" y="4419600"/>
            <a:ext cx="5461000" cy="1905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0C190373-C302-41D1-9940-E1B880411D34}"/>
              </a:ext>
            </a:extLst>
          </p:cNvPr>
          <p:cNvSpPr/>
          <p:nvPr/>
        </p:nvSpPr>
        <p:spPr>
          <a:xfrm>
            <a:off x="774700" y="4419600"/>
            <a:ext cx="5461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0FA4289E-0D89-44BA-8875-3C65E66B821F}"/>
              </a:ext>
            </a:extLst>
          </p:cNvPr>
          <p:cNvSpPr txBox="1"/>
          <p:nvPr/>
        </p:nvSpPr>
        <p:spPr>
          <a:xfrm>
            <a:off x="977900" y="4597400"/>
            <a:ext cx="5054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Why LAMB for Perceiver?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30CEB059-A97C-466F-AB29-FFA750A435FB}"/>
              </a:ext>
            </a:extLst>
          </p:cNvPr>
          <p:cNvSpPr txBox="1"/>
          <p:nvPr/>
        </p:nvSpPr>
        <p:spPr>
          <a:xfrm>
            <a:off x="977900" y="4978400"/>
            <a:ext cx="5054600" cy="127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350">
                <a:solidFill>
                  <a:srgbClr val="1A1A1A"/>
                </a:solidFill>
              </a:rPr>
              <a:t>•  Cross-attention bottleneck creates high-variance gradients
•  Standard Adam can </a:t>
            </a:r>
            <a:r>
              <a:rPr sz="1350">
                <a:solidFill>
                  <a:srgbClr val="E67E22"/>
                </a:solidFill>
              </a:rPr>
              <a:t>destabilize</a:t>
            </a:r>
            <a:r>
              <a:rPr sz="1350">
                <a:solidFill>
                  <a:srgbClr val="1A1A1A"/>
                </a:solidFill>
              </a:rPr>
              <a:t> with large batches
•  LAMB safely scales batch sizes up to 1024</a:t>
            </a:r>
            <a:endParaRPr lang="it-IT" sz="1350">
              <a:solidFill>
                <a:srgbClr val="1A1A1A"/>
              </a:solidFill>
            </a:endParaRPr>
          </a:p>
        </p:txBody>
      </p:sp>
      <p:graphicFrame>
        <p:nvGraphicFramePr>
          <p:cNvPr id="22" name="Tabella 21">
            <a:extLst>
              <a:ext uri="{FF2B5EF4-FFF2-40B4-BE49-F238E27FC236}">
                <a16:creationId xmlns:a16="http://schemas.microsoft.com/office/drawing/2014/main" id="{BA0FA8DC-A44D-4264-AF36-3B349A00891D}"/>
              </a:ext>
            </a:extLst>
          </p:cNvPr>
          <p:cNvGraphicFramePr>
            <a:graphicFrameLocks noGrp="1"/>
          </p:cNvGraphicFramePr>
          <p:nvPr/>
        </p:nvGraphicFramePr>
        <p:xfrm>
          <a:off x="6604000" y="4572000"/>
          <a:ext cx="51562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29276445"/>
                    </a:ext>
                  </a:extLst>
                </a:gridCol>
                <a:gridCol w="1816100">
                  <a:extLst>
                    <a:ext uri="{9D8B030D-6E8A-4147-A177-3AD203B41FA5}">
                      <a16:colId xmlns:a16="http://schemas.microsoft.com/office/drawing/2014/main" val="1395645051"/>
                    </a:ext>
                  </a:extLst>
                </a:gridCol>
                <a:gridCol w="1816100">
                  <a:extLst>
                    <a:ext uri="{9D8B030D-6E8A-4147-A177-3AD203B41FA5}">
                      <a16:colId xmlns:a16="http://schemas.microsoft.com/office/drawing/2014/main" val="178631137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Optimizer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Large Batches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Layer-wise LR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71059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Adam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/>
                        <a:t>Diverges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/>
                        <a:t>Global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49307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LAMB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/>
                        <a:t>Stable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/>
                        <a:t>Per-layer trust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607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4688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6C5130-7381-342E-5503-746FBC4C35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40C3C92-4410-B488-BCA8-DBAA8B65C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Implementation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DDF49AA-D4E1-4D81-9101-C962353B5CF3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1905000"/>
          <a:ext cx="109855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877833826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3694912139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332688575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Paper implementation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Project code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404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Core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Cross-attention into learned latents, latent self-attention, FFN, 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Same modules; weight sharing exposed as an ablation switch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93154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Model scale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Large vision/language: up to 512×1024 latents, 201M-param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 96×384; ModelNet40 / text 128×512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44288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Data setting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ImageNet, ModelNet40, large language pretraining corpora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CIFAR-10, ModelNet40, WikiText-103 byte-MLM, GLUE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75938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Training budget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Distributed accelerators, batches up to 512–1024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Single-GPU, batches 32–128, LAMB retained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51709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Practical additions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Minimal regularization in the reference setup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Dropout, logging, attention-map extraction, reproducible ablations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190109"/>
                  </a:ext>
                </a:extLst>
              </a:tr>
            </a:tbl>
          </a:graphicData>
        </a:graphic>
      </p:graphicFrame>
      <p:sp>
        <p:nvSpPr>
          <p:cNvPr id="7" name="Rettangolo 6">
            <a:extLst>
              <a:ext uri="{FF2B5EF4-FFF2-40B4-BE49-F238E27FC236}">
                <a16:creationId xmlns:a16="http://schemas.microsoft.com/office/drawing/2014/main" id="{7E379178-AF53-436F-9FD2-74FCEF7288EA}"/>
              </a:ext>
            </a:extLst>
          </p:cNvPr>
          <p:cNvSpPr/>
          <p:nvPr/>
        </p:nvSpPr>
        <p:spPr>
          <a:xfrm>
            <a:off x="774700" y="5918200"/>
            <a:ext cx="10985500" cy="508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38AA553-9171-4B72-87BF-080DB79195D3}"/>
              </a:ext>
            </a:extLst>
          </p:cNvPr>
          <p:cNvSpPr txBox="1"/>
          <p:nvPr/>
        </p:nvSpPr>
        <p:spPr>
          <a:xfrm>
            <a:off x="927100" y="5918200"/>
            <a:ext cx="106807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Architectural mechanism kept intact — the main differences are scale, data budget, and training resources.</a:t>
            </a:r>
            <a:endParaRPr lang="it-IT" sz="14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6115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7814846D-3C69-FBAE-BA41-62863F0FEAD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322A58C-833F-AE54-1F85-A46BA5C94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Differences from the Paper</a:t>
            </a:r>
            <a:endParaRPr lang="it-IT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AB861FC7-FE95-4252-846D-39EA7375CAF0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1905000"/>
          <a:ext cx="10985500" cy="3174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99680194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3852848313"/>
                    </a:ext>
                  </a:extLst>
                </a:gridCol>
                <a:gridCol w="4508500">
                  <a:extLst>
                    <a:ext uri="{9D8B030D-6E8A-4147-A177-3AD203B41FA5}">
                      <a16:colId xmlns:a16="http://schemas.microsoft.com/office/drawing/2014/main" val="386895830"/>
                    </a:ext>
                  </a:extLst>
                </a:gridCol>
              </a:tblGrid>
              <a:tr h="453571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 (ImageNet)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7611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Input tokenization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Raw pixels, no patching (M = 50,176)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2×2 patch embedding (CIFAR-10, M = 256)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189923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Latent array N × 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512 ×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 × 384 (CIFAR-10); 128 × 512 (ModelNet40)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46297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Cross-attend iterations 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4 (CIFAR-10); 2 (ModelNet40)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344139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Positional encoding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2D Fourier, K = 64 bands/axis (258 dims)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2D Fourier, 64 dims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1198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On by default (shared across 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Exposed as an ablation switch (on/off)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907815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Parameters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30–200M+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3.35M (CIFAR-10) – 10M (IO)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950605"/>
                  </a:ext>
                </a:extLst>
              </a:tr>
            </a:tbl>
          </a:graphicData>
        </a:graphic>
      </p:graphicFrame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03326576-8380-4413-BF42-6FA9EA4EDFC3}"/>
              </a:ext>
            </a:extLst>
          </p:cNvPr>
          <p:cNvSpPr/>
          <p:nvPr/>
        </p:nvSpPr>
        <p:spPr>
          <a:xfrm>
            <a:off x="774700" y="5308600"/>
            <a:ext cx="10985500" cy="1016000"/>
          </a:xfrm>
          <a:prstGeom prst="roundRect">
            <a:avLst/>
          </a:prstGeom>
          <a:solidFill>
            <a:srgbClr val="F7F4EE"/>
          </a:solidFill>
          <a:ln w="12700" cap="flat" cmpd="sng" algn="ctr">
            <a:solidFill>
              <a:srgbClr val="E0D8C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AD89183-3781-4278-BD9B-8613BFC5E930}"/>
              </a:ext>
            </a:extLst>
          </p:cNvPr>
          <p:cNvSpPr txBox="1"/>
          <p:nvPr/>
        </p:nvSpPr>
        <p:spPr>
          <a:xfrm>
            <a:off x="977900" y="5410200"/>
            <a:ext cx="105791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400" b="1">
                <a:solidFill>
                  <a:srgbClr val="8A5A00"/>
                </a:solidFill>
              </a:rPr>
              <a:t>Core mechanism preserved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B9B4F7A-1904-4BA7-B3F1-467572A4A1E3}"/>
              </a:ext>
            </a:extLst>
          </p:cNvPr>
          <p:cNvSpPr txBox="1"/>
          <p:nvPr/>
        </p:nvSpPr>
        <p:spPr>
          <a:xfrm>
            <a:off x="977900" y="5715000"/>
            <a:ext cx="105791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00">
                <a:solidFill>
                  <a:srgbClr val="1A1A1A"/>
                </a:solidFill>
              </a:rPr>
              <a:t>Cross-attention bottleneck → weight-shared latent transformer → mean-pooling (Perceiver) / output-query decoder (IO); GELU MLP, pre-norm LayerNorm, Fourier frequencies linearly spaced to Nyquist.</a:t>
            </a:r>
          </a:p>
        </p:txBody>
      </p:sp>
    </p:spTree>
    <p:extLst>
      <p:ext uri="{BB962C8B-B14F-4D97-AF65-F5344CB8AC3E}">
        <p14:creationId xmlns:p14="http://schemas.microsoft.com/office/powerpoint/2010/main" val="3049060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994183F1-C67E-EF95-2B94-D1E940AC46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B49388-9D86-F260-6908-789925E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Experimental Setup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BD168738-69FF-438E-914F-ECB88228A086}"/>
              </a:ext>
            </a:extLst>
          </p:cNvPr>
          <p:cNvSpPr/>
          <p:nvPr/>
        </p:nvSpPr>
        <p:spPr>
          <a:xfrm>
            <a:off x="774700" y="1905000"/>
            <a:ext cx="10985500" cy="508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48A741F-31C9-41C0-832A-E88DEF0D2A32}"/>
              </a:ext>
            </a:extLst>
          </p:cNvPr>
          <p:cNvSpPr txBox="1"/>
          <p:nvPr/>
        </p:nvSpPr>
        <p:spPr>
          <a:xfrm>
            <a:off x="927100" y="1905000"/>
            <a:ext cx="106807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Goal — validate the Perceiver on flattened pixel patches, with no convolutional assumptions.</a:t>
            </a:r>
            <a:endParaRPr lang="it-IT" sz="1400" b="1">
              <a:solidFill>
                <a:srgbClr val="FFFFFF"/>
              </a:solidFill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840AAA2-A9A3-4E7A-B931-3AA7BD0A11F2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2540000"/>
          <a:ext cx="4572000" cy="3352800"/>
        </p:xfrm>
        <a:graphic>
          <a:graphicData uri="http://schemas.openxmlformats.org/drawingml/2006/table">
            <a:tbl>
              <a:tblPr/>
              <a:tblGrid>
                <a:gridCol w="2921000">
                  <a:extLst>
                    <a:ext uri="{9D8B030D-6E8A-4147-A177-3AD203B41FA5}">
                      <a16:colId xmlns:a16="http://schemas.microsoft.com/office/drawing/2014/main" val="3699287271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653341468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101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Latent dim (N × 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96 × 384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9471659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Cross-attn stages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933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Transformer blocks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 (shared)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793235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Attention heads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3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29667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Patch size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2 × 2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0466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Dropout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0.2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9172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Optimizer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LAMB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74783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Learning rate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0.004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01466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Batch size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64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0264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Epochs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120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31844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Total parameters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∼3.35M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8089898"/>
                  </a:ext>
                </a:extLst>
              </a:tr>
            </a:tbl>
          </a:graphicData>
        </a:graphic>
      </p:graphicFrame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0A0CA77B-0CDB-4EF5-A6C0-CE77B12FB594}"/>
              </a:ext>
            </a:extLst>
          </p:cNvPr>
          <p:cNvSpPr/>
          <p:nvPr/>
        </p:nvSpPr>
        <p:spPr>
          <a:xfrm>
            <a:off x="5588000" y="2540000"/>
            <a:ext cx="6172200" cy="1778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2AE2F171-232B-42E8-95AC-65E3D039EBCC}"/>
              </a:ext>
            </a:extLst>
          </p:cNvPr>
          <p:cNvSpPr/>
          <p:nvPr/>
        </p:nvSpPr>
        <p:spPr>
          <a:xfrm>
            <a:off x="5588000" y="2540000"/>
            <a:ext cx="61722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2E721C8-B015-4786-8064-0F428C94A8FB}"/>
              </a:ext>
            </a:extLst>
          </p:cNvPr>
          <p:cNvSpPr txBox="1"/>
          <p:nvPr/>
        </p:nvSpPr>
        <p:spPr>
          <a:xfrm>
            <a:off x="5791200" y="2692400"/>
            <a:ext cx="5765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Ablation study plan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EC49465-5ECD-43C5-A193-5DEEE1465CBC}"/>
              </a:ext>
            </a:extLst>
          </p:cNvPr>
          <p:cNvSpPr txBox="1"/>
          <p:nvPr/>
        </p:nvSpPr>
        <p:spPr>
          <a:xfrm>
            <a:off x="5791200" y="3073400"/>
            <a:ext cx="5765800" cy="1117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1.  Impact of positional encoding
2.  Weight sharing vs no sharing
3.  Robustness to pixel permutation
4.  Best classifier-head configuration</a:t>
            </a:r>
            <a:endParaRPr lang="it-IT" sz="1350">
              <a:solidFill>
                <a:srgbClr val="1A1A1A"/>
              </a:solidFill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E5068167-75D2-44F5-8EAC-C4E1447149AA}"/>
              </a:ext>
            </a:extLst>
          </p:cNvPr>
          <p:cNvSpPr/>
          <p:nvPr/>
        </p:nvSpPr>
        <p:spPr>
          <a:xfrm>
            <a:off x="5588000" y="4470400"/>
            <a:ext cx="6172200" cy="1778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B4BB4720-49C3-485A-B667-C5A87AD79507}"/>
              </a:ext>
            </a:extLst>
          </p:cNvPr>
          <p:cNvSpPr/>
          <p:nvPr/>
        </p:nvSpPr>
        <p:spPr>
          <a:xfrm>
            <a:off x="5588000" y="4470400"/>
            <a:ext cx="61722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1858717-60EE-4245-8A3B-89A4C317DB75}"/>
              </a:ext>
            </a:extLst>
          </p:cNvPr>
          <p:cNvSpPr txBox="1"/>
          <p:nvPr/>
        </p:nvSpPr>
        <p:spPr>
          <a:xfrm>
            <a:off x="5791200" y="4622800"/>
            <a:ext cx="5765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Data pipeline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2460AF1-EB2F-4060-A890-CAFAD2337FE1}"/>
              </a:ext>
            </a:extLst>
          </p:cNvPr>
          <p:cNvSpPr txBox="1"/>
          <p:nvPr/>
        </p:nvSpPr>
        <p:spPr>
          <a:xfrm>
            <a:off x="5791200" y="5003800"/>
            <a:ext cx="5765800" cy="1117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50">
                <a:solidFill>
                  <a:srgbClr val="1A1A1A"/>
                </a:solidFill>
              </a:rPr>
              <a:t>•  32×32 RGB → 2×2 patches  (M = 256 tokens, 12 channels)
•  2D Fourier PE  (64 features → input dim 76)
•  Augmentation: RandAugment (2 ops, magnitude 9)</a:t>
            </a:r>
          </a:p>
        </p:txBody>
      </p:sp>
    </p:spTree>
    <p:extLst>
      <p:ext uri="{BB962C8B-B14F-4D97-AF65-F5344CB8AC3E}">
        <p14:creationId xmlns:p14="http://schemas.microsoft.com/office/powerpoint/2010/main" val="1985290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253DDD4-E22F-6313-24C2-759FA11596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73B59942-C31B-8534-735E-31EC29FED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CIFAR-10: Ablation Accuracy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AE5621C-7E5B-439B-B3FD-94A61BCBB34F}"/>
              </a:ext>
            </a:extLst>
          </p:cNvPr>
          <p:cNvSpPr txBox="1"/>
          <p:nvPr/>
        </p:nvSpPr>
        <p:spPr>
          <a:xfrm>
            <a:off x="7360920" y="2286000"/>
            <a:ext cx="42062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Best Perceiver run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BF8DA89-8C63-49A8-9C0A-1EEA81016B7A}"/>
              </a:ext>
            </a:extLst>
          </p:cNvPr>
          <p:cNvSpPr txBox="1"/>
          <p:nvPr/>
        </p:nvSpPr>
        <p:spPr>
          <a:xfrm>
            <a:off x="7360920" y="2651760"/>
            <a:ext cx="420624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4400" b="1">
                <a:solidFill>
                  <a:srgbClr val="005293"/>
                </a:solidFill>
              </a:rPr>
              <a:t>78.12%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38FA9E9A-13A6-42CF-9A79-02C5E8BB1834}"/>
              </a:ext>
            </a:extLst>
          </p:cNvPr>
          <p:cNvSpPr txBox="1"/>
          <p:nvPr/>
        </p:nvSpPr>
        <p:spPr>
          <a:xfrm>
            <a:off x="7360920" y="4069080"/>
            <a:ext cx="420624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Measured comparisons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28B8A59-A68E-4617-A63E-C7DF73410842}"/>
              </a:ext>
            </a:extLst>
          </p:cNvPr>
          <p:cNvSpPr txBox="1"/>
          <p:nvPr/>
        </p:nvSpPr>
        <p:spPr>
          <a:xfrm>
            <a:off x="7360920" y="4480560"/>
            <a:ext cx="420624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</a:rPr>
              <a:t>•  No PE vs Fourier control:   −10.68 pp
•  No sharing vs WS control:   </a:t>
            </a:r>
            <a:r>
              <a:rPr sz="1400">
                <a:solidFill>
                  <a:srgbClr val="27AE60"/>
                </a:solidFill>
              </a:rPr>
              <a:t>+5.36 pp</a:t>
            </a:r>
            <a:r>
              <a:rPr sz="1400">
                <a:solidFill>
                  <a:srgbClr val="1A1A1A"/>
                </a:solidFill>
              </a:rPr>
              <a:t>
•  Fourier vs learned PE (fixed perm):   +0.52 pp</a:t>
            </a:r>
            <a:endParaRPr lang="it-IT" sz="1400">
              <a:solidFill>
                <a:srgbClr val="1A1A1A"/>
              </a:solidFill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EA988A2-EDF9-48EE-9189-A86FCCD6456F}"/>
              </a:ext>
            </a:extLst>
          </p:cNvPr>
          <p:cNvSpPr txBox="1"/>
          <p:nvPr/>
        </p:nvSpPr>
        <p:spPr>
          <a:xfrm>
            <a:off x="7360920" y="5943600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100" i="1">
                <a:solidFill>
                  <a:srgbClr val="666666"/>
                </a:solidFill>
              </a:rPr>
              <a:t>Source: local experiment report — experiment_summary.csv</a:t>
            </a:r>
          </a:p>
        </p:txBody>
      </p:sp>
      <p:pic>
        <p:nvPicPr>
          <p:cNvPr id="13" name="Picture 12" descr="cifar10_ablation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6400800" cy="3497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032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8E301CB-0925-2767-2648-640E05CF1D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8285F9B-6F24-6E49-3B72-A687E0E4F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Ablation Matrix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29255FBF-0035-4772-9F65-5F22DE67CA57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2057400"/>
          <a:ext cx="6731000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>
                  <a:extLst>
                    <a:ext uri="{9D8B030D-6E8A-4147-A177-3AD203B41FA5}">
                      <a16:colId xmlns:a16="http://schemas.microsoft.com/office/drawing/2014/main" val="55784313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16893633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0698134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178657087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519073461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2087376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Run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PE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Perm.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Sharing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78499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Fourier permuted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Fourier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yes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yes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3.35M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78.12%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61334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Learned PE permuted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learned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3.35M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77.60%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9817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No 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Fourier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8.67M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73.85%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1327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Fourier control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Fourier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3.35M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72.02%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27622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Baseline Fourier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Fourier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3.35M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69.69%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85224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WS control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Fourier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3.35M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68.49%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344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rgbClr val="E74C3C"/>
                          </a:solidFill>
                        </a:rPr>
                        <a:t>RGB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3.30M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>
                          <a:solidFill>
                            <a:srgbClr val="E74C3C"/>
                          </a:solidFill>
                        </a:rPr>
                        <a:t>61.34%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064072"/>
                  </a:ext>
                </a:extLst>
              </a:tr>
            </a:tbl>
          </a:graphicData>
        </a:graphic>
      </p:graphicFrame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A7B8A576-339E-4566-B0B9-04AD122731C3}"/>
              </a:ext>
            </a:extLst>
          </p:cNvPr>
          <p:cNvSpPr/>
          <p:nvPr/>
        </p:nvSpPr>
        <p:spPr>
          <a:xfrm>
            <a:off x="7950200" y="2057400"/>
            <a:ext cx="3810000" cy="12192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C7A323B8-CCB5-401D-9BD1-9745FBF7692A}"/>
              </a:ext>
            </a:extLst>
          </p:cNvPr>
          <p:cNvSpPr/>
          <p:nvPr/>
        </p:nvSpPr>
        <p:spPr>
          <a:xfrm>
            <a:off x="7950200" y="2057400"/>
            <a:ext cx="3810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B1DC153-4734-4ADA-BB0C-9B60A6451782}"/>
              </a:ext>
            </a:extLst>
          </p:cNvPr>
          <p:cNvSpPr txBox="1"/>
          <p:nvPr/>
        </p:nvSpPr>
        <p:spPr>
          <a:xfrm>
            <a:off x="8128000" y="2184400"/>
            <a:ext cx="34544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400" b="1">
                <a:solidFill>
                  <a:srgbClr val="156082"/>
                </a:solidFill>
              </a:rPr>
              <a:t>Position signal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6306FAB-ED57-42DD-BECE-E98B31176494}"/>
              </a:ext>
            </a:extLst>
          </p:cNvPr>
          <p:cNvSpPr txBox="1"/>
          <p:nvPr/>
        </p:nvSpPr>
        <p:spPr>
          <a:xfrm>
            <a:off x="8128000" y="2489200"/>
            <a:ext cx="34544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Removing positional features costs 10.68 pp vs the Fourier control.</a:t>
            </a:r>
            <a:endParaRPr lang="it-IT" sz="1300">
              <a:solidFill>
                <a:srgbClr val="1A1A1A"/>
              </a:solidFill>
            </a:endParaRP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7D9B5702-9973-481F-AC34-F1EE1623B27C}"/>
              </a:ext>
            </a:extLst>
          </p:cNvPr>
          <p:cNvSpPr/>
          <p:nvPr/>
        </p:nvSpPr>
        <p:spPr>
          <a:xfrm>
            <a:off x="7950200" y="3378200"/>
            <a:ext cx="3810000" cy="12192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4A5EE92F-3F0C-452B-BCCD-5E4F222AB076}"/>
              </a:ext>
            </a:extLst>
          </p:cNvPr>
          <p:cNvSpPr/>
          <p:nvPr/>
        </p:nvSpPr>
        <p:spPr>
          <a:xfrm>
            <a:off x="7950200" y="3378200"/>
            <a:ext cx="3810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EFA3D6D-3338-4358-8053-07073E9AF2E5}"/>
              </a:ext>
            </a:extLst>
          </p:cNvPr>
          <p:cNvSpPr txBox="1"/>
          <p:nvPr/>
        </p:nvSpPr>
        <p:spPr>
          <a:xfrm>
            <a:off x="8128000" y="3505200"/>
            <a:ext cx="34544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400" b="1">
                <a:solidFill>
                  <a:srgbClr val="156082"/>
                </a:solidFill>
              </a:rPr>
              <a:t>Capacity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0111935-9BEA-4749-9062-9AF0218BE455}"/>
              </a:ext>
            </a:extLst>
          </p:cNvPr>
          <p:cNvSpPr txBox="1"/>
          <p:nvPr/>
        </p:nvSpPr>
        <p:spPr>
          <a:xfrm>
            <a:off x="8128000" y="3810000"/>
            <a:ext cx="34544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Removing weight sharing adds 5.32M parameters for +5.36 pp.</a:t>
            </a:r>
            <a:endParaRPr lang="it-IT" sz="1300">
              <a:solidFill>
                <a:srgbClr val="1A1A1A"/>
              </a:solidFill>
            </a:endParaRPr>
          </a:p>
        </p:txBody>
      </p:sp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B4BF66F1-8FC3-4AB2-B01E-72B1616DF2C8}"/>
              </a:ext>
            </a:extLst>
          </p:cNvPr>
          <p:cNvSpPr/>
          <p:nvPr/>
        </p:nvSpPr>
        <p:spPr>
          <a:xfrm>
            <a:off x="7950200" y="4699000"/>
            <a:ext cx="3810000" cy="12192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E796F87-B59E-43EF-A864-7782DAB2674F}"/>
              </a:ext>
            </a:extLst>
          </p:cNvPr>
          <p:cNvSpPr/>
          <p:nvPr/>
        </p:nvSpPr>
        <p:spPr>
          <a:xfrm>
            <a:off x="7950200" y="4699000"/>
            <a:ext cx="3810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4C6792ED-CE65-430E-85C0-F7C213D5E7AA}"/>
              </a:ext>
            </a:extLst>
          </p:cNvPr>
          <p:cNvSpPr txBox="1"/>
          <p:nvPr/>
        </p:nvSpPr>
        <p:spPr>
          <a:xfrm>
            <a:off x="8128000" y="4826000"/>
            <a:ext cx="34544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400" b="1">
                <a:solidFill>
                  <a:srgbClr val="156082"/>
                </a:solidFill>
              </a:rPr>
              <a:t>Permutation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476D6F5-7B52-4A29-B283-479B1E50326A}"/>
              </a:ext>
            </a:extLst>
          </p:cNvPr>
          <p:cNvSpPr txBox="1"/>
          <p:nvPr/>
        </p:nvSpPr>
        <p:spPr>
          <a:xfrm>
            <a:off x="8128000" y="5130800"/>
            <a:ext cx="34544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>
                <a:solidFill>
                  <a:srgbClr val="1A1A1A"/>
                </a:solidFill>
              </a:rPr>
              <a:t>A fixed permutation keeps the task learnable when coordinates are provided.</a:t>
            </a:r>
            <a:endParaRPr lang="it-IT" sz="1300">
              <a:solidFill>
                <a:srgbClr val="1A1A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50066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89D7EB2-83FC-5494-B9B8-93DDF98272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9D65309-BC08-ADBE-CFAA-76F91D59C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960120"/>
            <a:ext cx="8796528" cy="850392"/>
          </a:xfrm>
        </p:spPr>
        <p:txBody>
          <a:bodyPr/>
          <a:lstStyle/>
          <a:p>
            <a:r>
              <a:rPr lang="it-IT">
                <a:solidFill/>
              </a:rPr>
              <a:t>CIFAR-10: Weight Sharing Trade-off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751AADC6-F0A2-4496-B928-516C470C8168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2286000"/>
          <a:ext cx="5080000" cy="142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370752824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337431668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3951384198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99306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Shared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/>
                        <a:t>3.35M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69.69%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73458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WS control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/>
                        <a:t>3.35M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68.49%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21332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No sharing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/>
                        <a:t>8.67M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73.85%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2702868"/>
                  </a:ext>
                </a:extLst>
              </a:tr>
            </a:tbl>
          </a:graphicData>
        </a:graphic>
      </p:graphicFrame>
      <p:sp>
        <p:nvSpPr>
          <p:cNvPr id="11" name="CreamCallout 18"/>
          <p:cNvSpPr/>
          <p:nvPr/>
        </p:nvSpPr>
        <p:spPr>
          <a:xfrm>
            <a:off x="6400800" y="3794760"/>
            <a:ext cx="5029200" cy="1600200"/>
          </a:xfrm>
          <a:prstGeom prst="roundRect">
            <a:avLst/>
          </a:prstGeom>
          <a:solidFill>
            <a:srgbClr val="F7F4EE"/>
          </a:solidFill>
          <a:ln w="12700" cap="flat" cmpd="sng" algn="ctr">
            <a:solidFill>
              <a:srgbClr val="E0D8C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364CA1-1600-4B0B-943F-EBDF10B31780}"/>
              </a:ext>
            </a:extLst>
          </p:cNvPr>
          <p:cNvSpPr txBox="1"/>
          <p:nvPr/>
        </p:nvSpPr>
        <p:spPr>
          <a:xfrm>
            <a:off x="6583680" y="3886200"/>
            <a:ext cx="484632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8A5A00"/>
                </a:solidFill>
              </a:rPr>
              <a:t>Trade-off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C9D5924A-C1B4-4B9E-A489-7D413CD3C4E5}"/>
              </a:ext>
            </a:extLst>
          </p:cNvPr>
          <p:cNvSpPr txBox="1"/>
          <p:nvPr/>
        </p:nvSpPr>
        <p:spPr>
          <a:xfrm>
            <a:off x="6583680" y="4251960"/>
            <a:ext cx="466344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</a:rPr>
              <a:t>Dropping weight sharing trades parameters for accuracy: +5.36 pp at 2.59× the parameter count.</a:t>
            </a:r>
            <a:endParaRPr lang="it-IT" sz="1500">
              <a:solidFill>
                <a:srgbClr val="1A1A1A"/>
              </a:solidFill>
            </a:endParaRPr>
          </a:p>
        </p:txBody>
      </p:sp>
      <p:pic>
        <p:nvPicPr>
          <p:cNvPr id="10" name="Picture 9" descr="weight_sharing_tradeoff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5486400" cy="3169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707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7D1EDE7-C2E0-5FFF-7E86-35DCAE53D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040F292-891D-635F-FB5D-B76AF9E7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Fixed-Permutation Test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0F43874-30B5-4058-8E79-DEFC47EDACC1}"/>
              </a:ext>
            </a:extLst>
          </p:cNvPr>
          <p:cNvSpPr/>
          <p:nvPr/>
        </p:nvSpPr>
        <p:spPr>
          <a:xfrm>
            <a:off x="774700" y="1905000"/>
            <a:ext cx="10985500" cy="508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4436386-1340-4945-BFA6-CDDB0172DB2E}"/>
              </a:ext>
            </a:extLst>
          </p:cNvPr>
          <p:cNvSpPr txBox="1"/>
          <p:nvPr/>
        </p:nvSpPr>
        <p:spPr>
          <a:xfrm>
            <a:off x="927100" y="1905000"/>
            <a:ext cx="106807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Experiment — train &amp; evaluate on pixels shuffled by a single fixed permutation σ (same σ throughout).</a:t>
            </a:r>
            <a:endParaRPr lang="it-IT" sz="1400" b="1">
              <a:solidFill>
                <a:srgbClr val="FFFFFF"/>
              </a:solidFill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94BEE631-BBA4-40CB-ADA7-DB7E0B29CEE3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2616200"/>
          <a:ext cx="4826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128925959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534243044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89894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 (natural order)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69.69%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80501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 (permuted)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78.12%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99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 (permuted)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77.60%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34745"/>
                  </a:ext>
                </a:extLst>
              </a:tr>
            </a:tbl>
          </a:graphicData>
        </a:graphic>
      </p:graphicFrame>
      <p:sp>
        <p:nvSpPr>
          <p:cNvPr id="9" name="CasellaDiTesto 8">
            <a:extLst>
              <a:ext uri="{FF2B5EF4-FFF2-40B4-BE49-F238E27FC236}">
                <a16:creationId xmlns:a16="http://schemas.microsoft.com/office/drawing/2014/main" id="{85B27B01-CD59-477E-BE9F-B7169073B585}"/>
              </a:ext>
            </a:extLst>
          </p:cNvPr>
          <p:cNvSpPr txBox="1"/>
          <p:nvPr/>
        </p:nvSpPr>
        <p:spPr>
          <a:xfrm>
            <a:off x="774700" y="4267200"/>
            <a:ext cx="482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b="1">
                <a:solidFill>
                  <a:srgbClr val="0E2841"/>
                </a:solidFill>
              </a:rPr>
              <a:t>Permuted vs natural order:  +8.43 pp     •     Fourier vs learned (permuted):  +0.52 pp</a:t>
            </a:r>
            <a:endParaRPr lang="it-IT" sz="1300" b="1">
              <a:solidFill>
                <a:srgbClr val="0E2841"/>
              </a:solidFill>
            </a:endParaRPr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16BB1E49-696B-471F-8D67-A66D54CE0842}"/>
              </a:ext>
            </a:extLst>
          </p:cNvPr>
          <p:cNvSpPr/>
          <p:nvPr/>
        </p:nvSpPr>
        <p:spPr>
          <a:xfrm>
            <a:off x="5969000" y="2616200"/>
            <a:ext cx="5791200" cy="2667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32BC58DB-1226-4CC5-BAED-16A2A5AD5315}"/>
              </a:ext>
            </a:extLst>
          </p:cNvPr>
          <p:cNvSpPr/>
          <p:nvPr/>
        </p:nvSpPr>
        <p:spPr>
          <a:xfrm>
            <a:off x="5969000" y="2616200"/>
            <a:ext cx="57912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565A9A9-5730-4620-B18F-490316F8D17D}"/>
              </a:ext>
            </a:extLst>
          </p:cNvPr>
          <p:cNvSpPr txBox="1"/>
          <p:nvPr/>
        </p:nvSpPr>
        <p:spPr>
          <a:xfrm>
            <a:off x="6172200" y="2768600"/>
            <a:ext cx="538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Interpretation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0AC8F2F-3008-4355-8BAF-8630D08B693A}"/>
              </a:ext>
            </a:extLst>
          </p:cNvPr>
          <p:cNvSpPr txBox="1"/>
          <p:nvPr/>
        </p:nvSpPr>
        <p:spPr>
          <a:xfrm>
            <a:off x="6172200" y="3149600"/>
            <a:ext cx="5384800" cy="2006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•  No built-in 2D bias — position is read only from the PE
•  With a fixed σ in train &amp; test, it learns the layout from the Fourier features alone
•  Fourier PE stays slightly ahead of learned PE here
•  Read it as invariance, not a gain from shuffling — order carries no information, only the PE does</a:t>
            </a:r>
            <a:endParaRPr lang="it-IT" sz="1400">
              <a:solidFill>
                <a:srgbClr val="1A1A1A"/>
              </a:solidFill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A7B5B05E-6402-4C52-A2D4-0227CC0699B9}"/>
              </a:ext>
            </a:extLst>
          </p:cNvPr>
          <p:cNvSpPr/>
          <p:nvPr/>
        </p:nvSpPr>
        <p:spPr>
          <a:xfrm>
            <a:off x="774700" y="5384800"/>
            <a:ext cx="4826000" cy="7874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0334215-5D82-4914-8DB5-D8523D156A77}"/>
              </a:ext>
            </a:extLst>
          </p:cNvPr>
          <p:cNvSpPr txBox="1"/>
          <p:nvPr/>
        </p:nvSpPr>
        <p:spPr>
          <a:xfrm>
            <a:off x="952500" y="5384800"/>
            <a:ext cx="4470400" cy="787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Input order is not hard-coded — ordering information enters through positional features.</a:t>
            </a:r>
            <a:endParaRPr lang="it-IT" sz="1350" b="1">
              <a:solidFill>
                <a:srgbClr val="FFFFFF"/>
              </a:solidFill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C8F99A8-989F-4AB7-BC4C-331CE4D5E101}"/>
              </a:ext>
            </a:extLst>
          </p:cNvPr>
          <p:cNvSpPr txBox="1"/>
          <p:nvPr/>
        </p:nvSpPr>
        <p:spPr>
          <a:xfrm>
            <a:off x="5969000" y="5461000"/>
            <a:ext cx="57912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200" i="1">
                <a:solidFill>
                  <a:srgbClr val="666666"/>
                </a:solidFill>
              </a:rPr>
              <a:t>Note: the learned-PE run used a single cross-attention stage (vs 4); same parameter count.</a:t>
            </a:r>
            <a:endParaRPr lang="it-IT" sz="1200" i="1">
              <a:solidFill>
                <a:srgbClr val="66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801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0615590-F725-8171-1A5D-4E0B5F2994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92D76022-1439-FF6E-EF50-BB885A2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Best Perceiver Configuration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9AA50EDA-ECDA-4183-A521-438C151A97F3}"/>
              </a:ext>
            </a:extLst>
          </p:cNvPr>
          <p:cNvGraphicFramePr>
            <a:graphicFrameLocks noGrp="1"/>
          </p:cNvGraphicFramePr>
          <p:nvPr/>
        </p:nvGraphicFramePr>
        <p:xfrm>
          <a:off x="6604000" y="2133600"/>
          <a:ext cx="5156200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2200">
                  <a:extLst>
                    <a:ext uri="{9D8B030D-6E8A-4147-A177-3AD203B41FA5}">
                      <a16:colId xmlns:a16="http://schemas.microsoft.com/office/drawing/2014/main" val="297490098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1512726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529768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PE, permuted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78.12%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2918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PE, permuted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77.60%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121520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No 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73.85%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2300434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Baseline Fourier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69.69%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118708"/>
                  </a:ext>
                </a:extLst>
              </a:tr>
            </a:tbl>
          </a:graphicData>
        </a:graphic>
      </p:graphicFrame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F16F15CB-FD7B-4915-B2AC-29FF6E79BC76}"/>
              </a:ext>
            </a:extLst>
          </p:cNvPr>
          <p:cNvSpPr/>
          <p:nvPr/>
        </p:nvSpPr>
        <p:spPr>
          <a:xfrm>
            <a:off x="6604000" y="4521200"/>
            <a:ext cx="5156200" cy="1651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09928F0-5296-414B-9F42-015526175369}"/>
              </a:ext>
            </a:extLst>
          </p:cNvPr>
          <p:cNvSpPr/>
          <p:nvPr/>
        </p:nvSpPr>
        <p:spPr>
          <a:xfrm>
            <a:off x="6604000" y="4521200"/>
            <a:ext cx="51562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9E4F1F2-2356-46E0-B37C-41CFE8752EF0}"/>
              </a:ext>
            </a:extLst>
          </p:cNvPr>
          <p:cNvSpPr txBox="1"/>
          <p:nvPr/>
        </p:nvSpPr>
        <p:spPr>
          <a:xfrm>
            <a:off x="6807200" y="4673600"/>
            <a:ext cx="4749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Result pattern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CF4E53F-BDF2-4D47-9651-B8E2A8FBE15E}"/>
              </a:ext>
            </a:extLst>
          </p:cNvPr>
          <p:cNvSpPr txBox="1"/>
          <p:nvPr/>
        </p:nvSpPr>
        <p:spPr>
          <a:xfrm>
            <a:off x="6807200" y="5054600"/>
            <a:ext cx="47498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•  Fourier PE carries the spatial signal explicitly
•  Weight sharing is an efficiency–accuracy trade-off</a:t>
            </a:r>
            <a:endParaRPr lang="it-IT" sz="1400">
              <a:solidFill>
                <a:srgbClr val="1A1A1A"/>
              </a:solidFill>
            </a:endParaRPr>
          </a:p>
        </p:txBody>
      </p:sp>
      <p:graphicFrame>
        <p:nvGraphicFramePr>
          <p:cNvPr id="201" name="Chart 1"/>
          <p:cNvGraphicFramePr/>
          <p:nvPr/>
        </p:nvGraphicFramePr>
        <p:xfrm>
          <a:off x="508000" y="2006600"/>
          <a:ext cx="5969000" cy="421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69542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71E17C0-FA5B-19E3-B812-3F078F539A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370F5EA-2F90-AB60-78D2-BEC8EB83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ModelNet40: Setup &amp; Results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074D5D02-1A74-4EFD-8FCF-AA4EB7105F48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2222500"/>
          <a:ext cx="5080000" cy="284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8500">
                  <a:extLst>
                    <a:ext uri="{9D8B030D-6E8A-4147-A177-3AD203B41FA5}">
                      <a16:colId xmlns:a16="http://schemas.microsoft.com/office/drawing/2014/main" val="1737125068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649559492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3029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Latent dim (N × 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128 × 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381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Cross-attn stages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8340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Transformer blocks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 (shared)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75048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Points per object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2048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08935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Optimizer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LAMB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71928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Epochs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80362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Batch size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71076"/>
                  </a:ext>
                </a:extLst>
              </a:tr>
            </a:tbl>
          </a:graphicData>
        </a:graphic>
      </p:graphicFrame>
      <p:sp>
        <p:nvSpPr>
          <p:cNvPr id="16" name="CreamCallout 21"/>
          <p:cNvSpPr/>
          <p:nvPr/>
        </p:nvSpPr>
        <p:spPr>
          <a:xfrm>
            <a:off x="6309360" y="5410200"/>
            <a:ext cx="5394960" cy="567000"/>
          </a:xfrm>
          <a:prstGeom prst="roundRect">
            <a:avLst/>
          </a:prstGeom>
          <a:solidFill>
            <a:srgbClr val="F7F4EE"/>
          </a:solidFill>
          <a:ln w="12700" cap="flat" cmpd="sng" algn="ctr">
            <a:solidFill>
              <a:srgbClr val="E0D8C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FDBF4F93-1843-4452-8E53-5DF1944ECFA0}"/>
              </a:ext>
            </a:extLst>
          </p:cNvPr>
          <p:cNvSpPr txBox="1"/>
          <p:nvPr/>
        </p:nvSpPr>
        <p:spPr>
          <a:xfrm>
            <a:off x="6492240" y="5410200"/>
            <a:ext cx="5120640" cy="56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b="1">
                <a:solidFill>
                  <a:srgbClr val="8A5A00"/>
                </a:solidFill>
              </a:rPr>
              <a:t>Reproduction gap:  1.46 pp</a:t>
            </a:r>
          </a:p>
        </p:txBody>
      </p:sp>
      <p:pic>
        <p:nvPicPr>
          <p:cNvPr id="15" name="Picture 14" descr="modelnet40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21992"/>
            <a:ext cx="5394960" cy="3112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5917EC8-564E-215C-942F-AF895CB711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BE50393-C91B-40C7-E512-7247374C7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ModelNet40: Augmentation Effects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7FC430A1-1D2A-4B16-912C-87E78CEBE21B}"/>
              </a:ext>
            </a:extLst>
          </p:cNvPr>
          <p:cNvSpPr/>
          <p:nvPr/>
        </p:nvSpPr>
        <p:spPr>
          <a:xfrm>
            <a:off x="6604000" y="2095500"/>
            <a:ext cx="5156200" cy="14605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9DDBEA0-4B5E-4D13-9373-1073B56AD27F}"/>
              </a:ext>
            </a:extLst>
          </p:cNvPr>
          <p:cNvSpPr/>
          <p:nvPr/>
        </p:nvSpPr>
        <p:spPr>
          <a:xfrm>
            <a:off x="6604000" y="2095500"/>
            <a:ext cx="51562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6A56D3C-3FB8-4292-A5DA-EA5BFE7E3457}"/>
              </a:ext>
            </a:extLst>
          </p:cNvPr>
          <p:cNvSpPr txBox="1"/>
          <p:nvPr/>
        </p:nvSpPr>
        <p:spPr>
          <a:xfrm>
            <a:off x="6807200" y="2247900"/>
            <a:ext cx="4749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Measured deltas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05E15B-0AE7-4858-994F-895CDF0D7300}"/>
              </a:ext>
            </a:extLst>
          </p:cNvPr>
          <p:cNvSpPr txBox="1"/>
          <p:nvPr/>
        </p:nvSpPr>
        <p:spPr>
          <a:xfrm>
            <a:off x="6807200" y="2628900"/>
            <a:ext cx="4749800" cy="80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50">
                <a:solidFill>
                  <a:srgbClr val="1A1A1A"/>
                </a:solidFill>
              </a:rPr>
              <a:t>Scale baseline:  84.24%
+ translation:  −0.57 pp
+ rotation:  −1.10 pp</a:t>
            </a: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A1BFAB51-40C4-4E7D-A7F4-48C44F1C3B50}"/>
              </a:ext>
            </a:extLst>
          </p:cNvPr>
          <p:cNvSpPr/>
          <p:nvPr/>
        </p:nvSpPr>
        <p:spPr>
          <a:xfrm>
            <a:off x="6604000" y="3683000"/>
            <a:ext cx="5156200" cy="1651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676817AE-5F17-4D2C-8917-E549D1632D2F}"/>
              </a:ext>
            </a:extLst>
          </p:cNvPr>
          <p:cNvSpPr/>
          <p:nvPr/>
        </p:nvSpPr>
        <p:spPr>
          <a:xfrm>
            <a:off x="6604000" y="3683000"/>
            <a:ext cx="51562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3286A74-16EB-4B37-86DA-B2103565C273}"/>
              </a:ext>
            </a:extLst>
          </p:cNvPr>
          <p:cNvSpPr txBox="1"/>
          <p:nvPr/>
        </p:nvSpPr>
        <p:spPr>
          <a:xfrm>
            <a:off x="6807200" y="3835400"/>
            <a:ext cx="4749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Likely factors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ED663FB-A454-4899-AACF-70E91E917F98}"/>
              </a:ext>
            </a:extLst>
          </p:cNvPr>
          <p:cNvSpPr txBox="1"/>
          <p:nvPr/>
        </p:nvSpPr>
        <p:spPr>
          <a:xfrm>
            <a:off x="6807200" y="4216400"/>
            <a:ext cx="47498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•  3D Fourier PE already exposes coordinates
•  ModelNet40 objects are already centred
•  Extra variation did not help this run</a:t>
            </a:r>
            <a:endParaRPr lang="it-IT" sz="1350">
              <a:solidFill>
                <a:srgbClr val="1A1A1A"/>
              </a:solidFill>
            </a:endParaRP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9029DC25-C723-42EE-95E9-2ADFFD2C9CA7}"/>
              </a:ext>
            </a:extLst>
          </p:cNvPr>
          <p:cNvSpPr/>
          <p:nvPr/>
        </p:nvSpPr>
        <p:spPr>
          <a:xfrm>
            <a:off x="6604000" y="5461000"/>
            <a:ext cx="51562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5A7F119-4D58-4B56-8434-6F4C8624380C}"/>
              </a:ext>
            </a:extLst>
          </p:cNvPr>
          <p:cNvSpPr txBox="1"/>
          <p:nvPr/>
        </p:nvSpPr>
        <p:spPr>
          <a:xfrm>
            <a:off x="6756400" y="5461000"/>
            <a:ext cx="48514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Paper 85.70%   ·   gap 1.46 pp from the scale baseline</a:t>
            </a:r>
            <a:endParaRPr lang="it-IT" sz="1350" b="1">
              <a:solidFill>
                <a:srgbClr val="FFFFFF"/>
              </a:solidFill>
            </a:endParaRPr>
          </a:p>
        </p:txBody>
      </p:sp>
      <p:graphicFrame>
        <p:nvGraphicFramePr>
          <p:cNvPr id="201" name="Chart 1"/>
          <p:cNvGraphicFramePr/>
          <p:nvPr/>
        </p:nvGraphicFramePr>
        <p:xfrm>
          <a:off x="508000" y="2006600"/>
          <a:ext cx="5969000" cy="421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241114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E644E18-CCB2-C2AD-9746-E8A288A002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B75DF537-2678-9BAD-F039-41828B77E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Perceiver IO: Structured Outputs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E0FCF3E-1DE1-4C16-8F8A-DB73AD12C871}"/>
              </a:ext>
            </a:extLst>
          </p:cNvPr>
          <p:cNvSpPr txBox="1"/>
          <p:nvPr/>
        </p:nvSpPr>
        <p:spPr>
          <a:xfrm>
            <a:off x="914400" y="1874519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500" b="1">
                <a:solidFill>
                  <a:srgbClr val="1A1A1A"/>
                </a:solidFill>
              </a:rPr>
              <a:t>Perceiver IO — an extension of Perceiver  (Jaegle et al., ICLR 2022)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76D30B72-4276-45DE-BA49-980518D24C5A}"/>
              </a:ext>
            </a:extLst>
          </p:cNvPr>
          <p:cNvSpPr txBox="1"/>
          <p:nvPr/>
        </p:nvSpPr>
        <p:spPr>
          <a:xfrm>
            <a:off x="914400" y="521208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Why it matters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0F7FC960-9F35-4887-A86A-9EBB8FCE6F6D}"/>
              </a:ext>
            </a:extLst>
          </p:cNvPr>
          <p:cNvSpPr txBox="1"/>
          <p:nvPr/>
        </p:nvSpPr>
        <p:spPr>
          <a:xfrm>
            <a:off x="914400" y="5532120"/>
            <a:ext cx="10515600" cy="787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•  Original Perceiver emits one pooled global output      •  Perceiver IO produces a task-specific output shape
•  Same latent bottleneck, but a more general decoder</a:t>
            </a:r>
            <a:endParaRPr lang="it-IT" sz="1400">
              <a:solidFill>
                <a:srgbClr val="1A1A1A"/>
              </a:solidFill>
            </a:endParaRPr>
          </a:p>
        </p:txBody>
      </p:sp>
      <p:pic>
        <p:nvPicPr>
          <p:cNvPr id="24" name="Picture 23" descr="perceiverio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2377440"/>
            <a:ext cx="9144000" cy="2680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0574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FF886F-7887-8610-A768-E96DB178E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D4D849B-68AD-F0B0-0D9C-CBDAA9914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Perceiver IO Decoder with Output Queries</a:t>
            </a:r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DA88F5F-7767-4976-9730-BC757B61ED42}"/>
              </a:ext>
            </a:extLst>
          </p:cNvPr>
          <p:cNvSpPr txBox="1"/>
          <p:nvPr/>
        </p:nvSpPr>
        <p:spPr>
          <a:xfrm>
            <a:off x="868680" y="4480560"/>
            <a:ext cx="5943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Decoder cross-attention  (single layer)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0372291-78A1-45AC-8C5F-BF0F391F5BFA}"/>
                  </a:ext>
                </a:extLst>
              </p:cNvPr>
              <p:cNvSpPr txBox="1"/>
              <p:nvPr/>
            </p:nvSpPr>
            <p:spPr>
              <a:xfrm>
                <a:off x="868680" y="4846320"/>
                <a:ext cx="5943600" cy="248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OutputQuery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5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  <m:sup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marL="457200" indent="0"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/>
              </a:p>
              <a:p xmlns:m="http://schemas.openxmlformats.org/officeDocument/2006/math">
                <a:pPr algn="l"/>
                <a:r>
                  <a:rPr lang="en-US" sz="1100" dirty="0">
                    <a:solidFill>
                      <a:srgbClr val="555555"/>
                    </a:solidFill>
                  </a:rPr>
                  <a:t xml:space="preserve">(a task head then maps </a:t>
                </a:r>
                <a14:m>
                  <m:oMath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100" i="0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100" dirty="0">
                    <a:solidFill>
                      <a:srgbClr val="555555"/>
                    </a:solidFill>
                  </a:rPr>
                  <a:t xml:space="preserve"> → output logits)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0372291-78A1-45AC-8C5F-BF0F391F5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846320"/>
                <a:ext cx="5943600" cy="2489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6BEB392-35AB-41EA-8486-0A62AF57EB98}"/>
              </a:ext>
            </a:extLst>
          </p:cNvPr>
          <p:cNvSpPr txBox="1"/>
          <p:nvPr/>
        </p:nvSpPr>
        <p:spPr>
          <a:xfrm>
            <a:off x="7040880" y="4480560"/>
            <a:ext cx="438912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Key points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C617458-B32D-4D48-A296-0860BC647F48}"/>
              </a:ext>
            </a:extLst>
          </p:cNvPr>
          <p:cNvSpPr txBox="1"/>
          <p:nvPr/>
        </p:nvSpPr>
        <p:spPr>
          <a:xfrm>
            <a:off x="7040880" y="4846320"/>
            <a:ext cx="4389120" cy="2413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•  Number of output queries O is task-dependent — independent of N and M
•  A single decoder cross-attention layer suffices
•  No self-attention among the outputs</a:t>
            </a:r>
            <a:endParaRPr lang="it-IT" sz="1400">
              <a:solidFill>
                <a:srgbClr val="1A1A1A"/>
              </a:solidFill>
            </a:endParaRPr>
          </a:p>
        </p:txBody>
      </p:sp>
      <p:pic>
        <p:nvPicPr>
          <p:cNvPr id="12" name="Picture 11" descr="perceiver_io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2011680"/>
            <a:ext cx="9144000" cy="234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51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2862408-EDA8-E13B-45BB-772B8EED2E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8EEAD83-2658-89AE-32BD-2A8A0379C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 Query Design per Task</a:t>
            </a:r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22587075-04AC-4C2C-B3F6-551F8EAFB20B}"/>
              </a:ext>
            </a:extLst>
          </p:cNvPr>
          <p:cNvSpPr/>
          <p:nvPr/>
        </p:nvSpPr>
        <p:spPr>
          <a:xfrm>
            <a:off x="774700" y="1905000"/>
            <a:ext cx="10985500" cy="5588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A3ADB92-D973-4F91-872E-F8E213B744F9}"/>
              </a:ext>
            </a:extLst>
          </p:cNvPr>
          <p:cNvSpPr txBox="1"/>
          <p:nvPr/>
        </p:nvSpPr>
        <p:spPr>
          <a:xfrm>
            <a:off x="927100" y="1905000"/>
            <a:ext cx="106807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1" dirty="0">
                <a:solidFill>
                  <a:srgbClr val="FFFFFF"/>
                </a:solidFill>
              </a:rPr>
              <a:t xml:space="preserve">All heads read the same final latent array  </a:t>
            </a:r>
            <a14:m>
              <m:oMath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∈</m:t>
                </m:r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m:rPr>
                        <m:nor/>
                      </m:rPr>
                      <a:rPr lang="en-US" sz="1500" b="1" dirty="0">
                        <a:solidFill>
                          <a:srgbClr val="FFFFFF"/>
                        </a:solidFill>
                      </a:rPr>
                      <m:t xml:space="preserve">ℝ</m:t>
                    </m:r>
                  </m:e>
                  <m:sup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𝐷</m:t>
                    </m:r>
                  </m:sup>
                </m:sSup>
              </m:oMath>
            </a14:m>
            <a:r>
              <a:rPr lang="en-US" sz="1500" b="1" dirty="0">
                <a:solidFill>
                  <a:srgbClr val="FFFFFF"/>
                </a:solidFill>
              </a:rPr>
              <a:t xml:space="preserve">  via decoder cross-attention.</a:t>
            </a:r>
          </a:p>
        </p:txBody>
      </p: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DF257F80-3855-4F37-B1FC-7AE8997DA125}"/>
              </a:ext>
            </a:extLst>
          </p:cNvPr>
          <p:cNvSpPr/>
          <p:nvPr/>
        </p:nvSpPr>
        <p:spPr>
          <a:xfrm>
            <a:off x="774700" y="2717800"/>
            <a:ext cx="3492500" cy="3429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73D5F9A2-9FCC-49DF-B285-8EE0A75BC672}"/>
              </a:ext>
            </a:extLst>
          </p:cNvPr>
          <p:cNvSpPr/>
          <p:nvPr/>
        </p:nvSpPr>
        <p:spPr>
          <a:xfrm>
            <a:off x="774700" y="2717800"/>
            <a:ext cx="34925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1F426CF-0455-4F9B-B0A5-D90BEA89CD40}"/>
              </a:ext>
            </a:extLst>
          </p:cNvPr>
          <p:cNvSpPr txBox="1"/>
          <p:nvPr/>
        </p:nvSpPr>
        <p:spPr>
          <a:xfrm>
            <a:off x="977900" y="2946400"/>
            <a:ext cx="30861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700" b="1">
                <a:solidFill>
                  <a:srgbClr val="156082"/>
                </a:solidFill>
              </a:rPr>
              <a:t>Classification</a:t>
            </a:r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9A346E14-BB6E-4B26-AFDC-EB4480C684C1}"/>
              </a:ext>
            </a:extLst>
          </p:cNvPr>
          <p:cNvSpPr/>
          <p:nvPr/>
        </p:nvSpPr>
        <p:spPr>
          <a:xfrm>
            <a:off x="977900" y="3403600"/>
            <a:ext cx="3086100" cy="508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2EA2AB5-4FD4-4150-BD8A-09C1ACEF387E}"/>
              </a:ext>
            </a:extLst>
          </p:cNvPr>
          <p:cNvSpPr txBox="1"/>
          <p:nvPr/>
        </p:nvSpPr>
        <p:spPr>
          <a:xfrm>
            <a:off x="977900" y="3403600"/>
            <a:ext cx="30861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1</m:t>
                </m:r>
              </m:oMath>
            </a14:m>
            <a:r>
              <a:rPr lang="en-US" sz="1700" b="1" dirty="0">
                <a:solidFill>
                  <a:srgbClr val="FFFFFF"/>
                </a:solidFill>
              </a:rPr>
              <a:t xml:space="preserve">​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DA2084F-93AC-4C5D-90A6-E2067AA53D26}"/>
              </a:ext>
            </a:extLst>
          </p:cNvPr>
          <p:cNvSpPr txBox="1"/>
          <p:nvPr/>
        </p:nvSpPr>
        <p:spPr>
          <a:xfrm>
            <a:off x="977900" y="4038600"/>
            <a:ext cx="30861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→  class logits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1BE07FC-D8B9-4CB4-9E63-9FDDE6D9CFAE}"/>
              </a:ext>
            </a:extLst>
          </p:cNvPr>
          <p:cNvSpPr txBox="1"/>
          <p:nvPr/>
        </p:nvSpPr>
        <p:spPr>
          <a:xfrm>
            <a:off x="977900" y="4495800"/>
            <a:ext cx="30861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One learned query produces a single global prediction.</a:t>
            </a:r>
            <a:endParaRPr lang="it-IT" sz="1400">
              <a:solidFill>
                <a:srgbClr val="1A1A1A"/>
              </a:solidFill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68B619D1-8C29-487D-ACB8-A1A294268D94}"/>
              </a:ext>
            </a:extLst>
          </p:cNvPr>
          <p:cNvSpPr/>
          <p:nvPr/>
        </p:nvSpPr>
        <p:spPr>
          <a:xfrm>
            <a:off x="4521200" y="2717800"/>
            <a:ext cx="3492500" cy="3429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4F46757F-BD26-4116-BC52-80D7B7D29B5F}"/>
              </a:ext>
            </a:extLst>
          </p:cNvPr>
          <p:cNvSpPr/>
          <p:nvPr/>
        </p:nvSpPr>
        <p:spPr>
          <a:xfrm>
            <a:off x="4521200" y="2717800"/>
            <a:ext cx="34925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08124CCB-FBB8-41C9-8DDA-F09D96CC71E0}"/>
              </a:ext>
            </a:extLst>
          </p:cNvPr>
          <p:cNvSpPr txBox="1"/>
          <p:nvPr/>
        </p:nvSpPr>
        <p:spPr>
          <a:xfrm>
            <a:off x="4724400" y="2946400"/>
            <a:ext cx="30861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700" b="1">
                <a:solidFill>
                  <a:srgbClr val="156082"/>
                </a:solidFill>
              </a:rPr>
              <a:t>Dense outputs</a:t>
            </a:r>
          </a:p>
        </p:txBody>
      </p: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E4F25FDF-DE66-4524-A1B2-87FB350A3504}"/>
              </a:ext>
            </a:extLst>
          </p:cNvPr>
          <p:cNvSpPr/>
          <p:nvPr/>
        </p:nvSpPr>
        <p:spPr>
          <a:xfrm>
            <a:off x="4724400" y="3403600"/>
            <a:ext cx="3086100" cy="508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3FBD0E-0277-4861-82FC-EC795DD1CFAF}"/>
              </a:ext>
            </a:extLst>
          </p:cNvPr>
          <p:cNvSpPr txBox="1"/>
          <p:nvPr/>
        </p:nvSpPr>
        <p:spPr>
          <a:xfrm>
            <a:off x="4724400" y="3403600"/>
            <a:ext cx="30861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>𝐻</m:t>
                </m:r>
                <m:r>
                  <a:rPr lang="en-US" sz="17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×</m:t>
                </m:r>
                <m:r>
                  <a:rPr lang="en-US" sz="1700" b="1" i="1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>𝑊</m:t>
                </m:r>
              </m:oMath>
            </a14:m>
            <a:r>
              <a:rPr lang="en-US" sz="1700" b="1" dirty="0">
                <a:solidFill>
                  <a:srgbClr val="FFFFFF"/>
                </a:solidFill>
              </a:rPr>
              <a:t xml:space="preserve">​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871A561-66EB-4D82-9A94-57D7BA2EB654}"/>
              </a:ext>
            </a:extLst>
          </p:cNvPr>
          <p:cNvSpPr txBox="1"/>
          <p:nvPr/>
        </p:nvSpPr>
        <p:spPr>
          <a:xfrm>
            <a:off x="4724400" y="4038600"/>
            <a:ext cx="30861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→  dense output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63013F2-FE53-49D1-BC02-E1D9A8AB5143}"/>
              </a:ext>
            </a:extLst>
          </p:cNvPr>
          <p:cNvSpPr txBox="1"/>
          <p:nvPr/>
        </p:nvSpPr>
        <p:spPr>
          <a:xfrm>
            <a:off x="4724400" y="4495800"/>
            <a:ext cx="30861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Output shape is controlled directly by the query array.</a:t>
            </a:r>
            <a:endParaRPr lang="it-IT" sz="1400">
              <a:solidFill>
                <a:srgbClr val="1A1A1A"/>
              </a:solidFill>
            </a:endParaRPr>
          </a:p>
        </p:txBody>
      </p:sp>
      <p:sp>
        <p:nvSpPr>
          <p:cNvPr id="21" name="Rettangolo con angoli arrotondati 20">
            <a:extLst>
              <a:ext uri="{FF2B5EF4-FFF2-40B4-BE49-F238E27FC236}">
                <a16:creationId xmlns:a16="http://schemas.microsoft.com/office/drawing/2014/main" id="{22E1CC88-7E8C-45C5-998F-EDF752A750DF}"/>
              </a:ext>
            </a:extLst>
          </p:cNvPr>
          <p:cNvSpPr/>
          <p:nvPr/>
        </p:nvSpPr>
        <p:spPr>
          <a:xfrm>
            <a:off x="8267700" y="2717800"/>
            <a:ext cx="3492500" cy="3429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74848201-7EE2-42DE-A943-4B232C06E2F3}"/>
              </a:ext>
            </a:extLst>
          </p:cNvPr>
          <p:cNvSpPr/>
          <p:nvPr/>
        </p:nvSpPr>
        <p:spPr>
          <a:xfrm>
            <a:off x="8267700" y="2717800"/>
            <a:ext cx="34925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5B2B6AA2-47C2-43FF-9020-F22CC98F37E2}"/>
              </a:ext>
            </a:extLst>
          </p:cNvPr>
          <p:cNvSpPr txBox="1"/>
          <p:nvPr/>
        </p:nvSpPr>
        <p:spPr>
          <a:xfrm>
            <a:off x="8470900" y="2946400"/>
            <a:ext cx="30861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700" b="1">
                <a:solidFill>
                  <a:srgbClr val="156082"/>
                </a:solidFill>
              </a:rPr>
              <a:t>Masked LM</a:t>
            </a:r>
          </a:p>
        </p:txBody>
      </p: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9E7D0A50-2521-44C0-B21E-493B2AE372AF}"/>
              </a:ext>
            </a:extLst>
          </p:cNvPr>
          <p:cNvSpPr/>
          <p:nvPr/>
        </p:nvSpPr>
        <p:spPr>
          <a:xfrm>
            <a:off x="8470900" y="3403600"/>
            <a:ext cx="3086100" cy="508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43BE41D2-C4D1-4C67-8FFA-F5C023D963BB}"/>
              </a:ext>
            </a:extLst>
          </p:cNvPr>
          <p:cNvSpPr txBox="1"/>
          <p:nvPr/>
        </p:nvSpPr>
        <p:spPr>
          <a:xfrm>
            <a:off x="8470900" y="3403600"/>
            <a:ext cx="30861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700" b="1" dirty="0">
                <a:solidFill>
                  <a:srgbClr val="FFFFFF"/>
                </a:solidFill>
              </a:rPr>
              <a:t xml:space="preserve">​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6E316596-751C-46F0-92D4-A4013DB6B55B}"/>
              </a:ext>
            </a:extLst>
          </p:cNvPr>
          <p:cNvSpPr txBox="1"/>
          <p:nvPr/>
        </p:nvSpPr>
        <p:spPr>
          <a:xfrm>
            <a:off x="8470900" y="4038600"/>
            <a:ext cx="30861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→  token logits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79CA8A61-3066-43DC-914F-5B737FB1FB3D}"/>
              </a:ext>
            </a:extLst>
          </p:cNvPr>
          <p:cNvSpPr txBox="1"/>
          <p:nvPr/>
        </p:nvSpPr>
        <p:spPr>
          <a:xfrm>
            <a:off x="8470900" y="4495800"/>
            <a:ext cx="30861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One query per byte position; the MLM loss is scored only at masked positions.</a:t>
            </a:r>
            <a:endParaRPr lang="it-IT" sz="1400">
              <a:solidFill>
                <a:srgbClr val="1A1A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1848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46113AA-1921-31D7-A79E-3E162A5F48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F74E2A-A5CA-3F8C-E230-990D58AB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Perceiver vs Perceiver IO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438E97F-0418-4601-A830-F72EEB3AE781}"/>
              </a:ext>
            </a:extLst>
          </p:cNvPr>
          <p:cNvSpPr/>
          <p:nvPr/>
        </p:nvSpPr>
        <p:spPr>
          <a:xfrm>
            <a:off x="6350000" y="2095500"/>
            <a:ext cx="5410200" cy="2413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7296E5B4-4A8D-4E47-A426-2D775632D3B4}"/>
              </a:ext>
            </a:extLst>
          </p:cNvPr>
          <p:cNvSpPr/>
          <p:nvPr/>
        </p:nvSpPr>
        <p:spPr>
          <a:xfrm>
            <a:off x="6350000" y="2095500"/>
            <a:ext cx="54102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DE444AB-9F46-4565-94F9-A4F0A8599D31}"/>
              </a:ext>
            </a:extLst>
          </p:cNvPr>
          <p:cNvSpPr txBox="1"/>
          <p:nvPr/>
        </p:nvSpPr>
        <p:spPr>
          <a:xfrm>
            <a:off x="6553200" y="2247900"/>
            <a:ext cx="50038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Decoder effect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FCAE4FA-C5B3-44C8-BA80-49BAD457C995}"/>
              </a:ext>
            </a:extLst>
          </p:cNvPr>
          <p:cNvSpPr txBox="1"/>
          <p:nvPr/>
        </p:nvSpPr>
        <p:spPr>
          <a:xfrm>
            <a:off x="6553200" y="2616200"/>
            <a:ext cx="5003800" cy="180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•  Output query is a learned aggregation, not fixed mean pooling
•  Decoder cross-attention attends selectively to relevant latents
•  Small gain on CIFAR-10, but enables MLM and dense outputs
•  Cost: ∼1.6× parameters (5.22M vs 3.35M)</a:t>
            </a:r>
            <a:endParaRPr lang="it-IT" sz="1350">
              <a:solidFill>
                <a:srgbClr val="1A1A1A"/>
              </a:solidFill>
            </a:endParaRPr>
          </a:p>
        </p:txBody>
      </p: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33C10037-7944-425D-B492-7468849E37A2}"/>
              </a:ext>
            </a:extLst>
          </p:cNvPr>
          <p:cNvGraphicFramePr>
            <a:graphicFrameLocks noGrp="1"/>
          </p:cNvGraphicFramePr>
          <p:nvPr/>
        </p:nvGraphicFramePr>
        <p:xfrm>
          <a:off x="6350000" y="4724400"/>
          <a:ext cx="5410200" cy="13970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73082654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83687509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586464290"/>
                    </a:ext>
                  </a:extLst>
                </a:gridCol>
              </a:tblGrid>
              <a:tr h="465667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∆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76270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r>
                        <a:rPr lang="it-IT" sz="1350"/>
                        <a:t>Best 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78.12%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338322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r>
                        <a:rPr lang="it-IT" sz="13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78.20%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27AE60"/>
                          </a:solidFill>
                        </a:rPr>
                        <a:t>+0.08 pp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692453"/>
                  </a:ext>
                </a:extLst>
              </a:tr>
            </a:tbl>
          </a:graphicData>
        </a:graphic>
      </p:graphicFrame>
      <p:graphicFrame>
        <p:nvGraphicFramePr>
          <p:cNvPr id="201" name="Chart 1"/>
          <p:cNvGraphicFramePr/>
          <p:nvPr/>
        </p:nvGraphicFramePr>
        <p:xfrm>
          <a:off x="508000" y="2032000"/>
          <a:ext cx="5588000" cy="421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41868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58A42D3-961D-2448-A843-6C242D399F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CDA8FD9-E06F-5DC1-5A7C-56DE6329F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WikiText-103: Masked Language Model Pre-training</a:t>
            </a:r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E7A6AFF-5C6E-4629-9924-FB7B599C84FA}"/>
              </a:ext>
            </a:extLst>
          </p:cNvPr>
          <p:cNvSpPr txBox="1"/>
          <p:nvPr/>
        </p:nvSpPr>
        <p:spPr>
          <a:xfrm>
            <a:off x="914400" y="1874519"/>
            <a:ext cx="105156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A1A1A"/>
                </a:solidFill>
              </a:rPr>
              <a:t>Goal — pre-train a general language encoder without specialized tokenizers.</a:t>
            </a:r>
            <a:endParaRPr lang="it-IT" sz="1400" b="1">
              <a:solidFill>
                <a:srgbClr val="FFFFFF"/>
              </a:solidFill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6FA40D7C-BD1A-436D-B84A-6E6F2DF4F539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468880"/>
          <a:ext cx="4572000" cy="2438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154982464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97418034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530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Tokenization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Byte-level (UTF-8)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139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Vocabulary size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256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41248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Sequence length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1024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041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Mask probability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15%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50757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Model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Perceiver IO (∼10M)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3764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Epochs / batch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50 / 32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22503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Masked byte acc.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82.20%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</a:tbl>
          </a:graphicData>
        </a:graphic>
      </p:graphicFrame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A02BD12-E636-47EA-B15C-A5D3004C02CB}"/>
              </a:ext>
            </a:extLst>
          </p:cNvPr>
          <p:cNvSpPr txBox="1"/>
          <p:nvPr/>
        </p:nvSpPr>
        <p:spPr>
          <a:xfrm>
            <a:off x="5943600" y="2468880"/>
            <a:ext cx="576072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Why byte-level?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2D88F29-C691-48A4-8C53-6BEEAA5D0014}"/>
              </a:ext>
            </a:extLst>
          </p:cNvPr>
          <p:cNvSpPr txBox="1"/>
          <p:nvPr/>
        </p:nvSpPr>
        <p:spPr>
          <a:xfrm>
            <a:off x="5943600" y="2834640"/>
            <a:ext cx="5760720" cy="1054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•  No BPE / WordPiece tokenizer needed
•  Truly language-agnostic input
•  Fixed vocabulary of size 256
•  Trade-off: longer sequences for the same text</a:t>
            </a:r>
            <a:endParaRPr lang="it-IT" sz="1350">
              <a:solidFill>
                <a:srgbClr val="1A1A1A"/>
              </a:solidFill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07A5DD4-64D3-44B4-B655-E4286CAE8F72}"/>
              </a:ext>
            </a:extLst>
          </p:cNvPr>
          <p:cNvSpPr txBox="1"/>
          <p:nvPr/>
        </p:nvSpPr>
        <p:spPr>
          <a:xfrm>
            <a:off x="5943600" y="4480560"/>
            <a:ext cx="576072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MLM task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CB5D4E4-77D6-4F2B-9E03-6C218961EC97}"/>
              </a:ext>
            </a:extLst>
          </p:cNvPr>
          <p:cNvSpPr txBox="1"/>
          <p:nvPr/>
        </p:nvSpPr>
        <p:spPr>
          <a:xfrm>
            <a:off x="5943600" y="4846320"/>
            <a:ext cx="5760720" cy="1117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•  15% of byte positions masked
•  Output queries = masked positions
•  Decoder predicts original byte values
•  Cross-entropy loss over 256 classes</a:t>
            </a:r>
            <a:endParaRPr lang="it-IT" sz="1350">
              <a:solidFill>
                <a:srgbClr val="1A1A1A"/>
              </a:solidFill>
            </a:endParaRPr>
          </a:p>
        </p:txBody>
      </p:sp>
      <p:pic>
        <p:nvPicPr>
          <p:cNvPr id="17" name="Picture 16" descr="byte_latent_arr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4937760"/>
            <a:ext cx="1645920" cy="1574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0877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2774BB0-407F-DF37-EB60-E99B953E95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0D85781-325F-6D19-A334-1297198C9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GLUE: Fine-tuning on 8 Tasks</a:t>
            </a:r>
            <a:endParaRPr lang="it-IT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B5EC7784-8423-486E-B75D-9A22ADF9C836}"/>
              </a:ext>
            </a:extLst>
          </p:cNvPr>
          <p:cNvSpPr/>
          <p:nvPr/>
        </p:nvSpPr>
        <p:spPr>
          <a:xfrm>
            <a:off x="774700" y="2032000"/>
            <a:ext cx="5080000" cy="3175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556A50CD-02FE-4E53-B9B7-56989EF1B657}"/>
              </a:ext>
            </a:extLst>
          </p:cNvPr>
          <p:cNvSpPr/>
          <p:nvPr/>
        </p:nvSpPr>
        <p:spPr>
          <a:xfrm>
            <a:off x="774700" y="2032000"/>
            <a:ext cx="5080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E3CCB07-0BBA-4EDF-A8AE-46F71C2071FC}"/>
              </a:ext>
            </a:extLst>
          </p:cNvPr>
          <p:cNvSpPr txBox="1"/>
          <p:nvPr/>
        </p:nvSpPr>
        <p:spPr>
          <a:xfrm>
            <a:off x="977900" y="2184400"/>
            <a:ext cx="4673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Fine-tuning setup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B31C2AC-A697-4254-A5FF-1D132DB399C7}"/>
              </a:ext>
            </a:extLst>
          </p:cNvPr>
          <p:cNvSpPr txBox="1"/>
          <p:nvPr/>
        </p:nvSpPr>
        <p:spPr>
          <a:xfrm>
            <a:off x="977900" y="2565400"/>
            <a:ext cx="4673600" cy="251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•  Transfer the pre-trained MLM encoder
•  Replace output queries with a classification query
•  30 epochs,  LR = 5 × 10⁻⁴
•  Byte-level input (same as pre-training)</a:t>
            </a:r>
            <a:endParaRPr lang="it-IT" sz="1400">
              <a:solidFill>
                <a:srgbClr val="1A1A1A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1F6FCA0-C8CE-440C-A8CE-938DED232528}"/>
              </a:ext>
            </a:extLst>
          </p:cNvPr>
          <p:cNvSpPr txBox="1"/>
          <p:nvPr/>
        </p:nvSpPr>
        <p:spPr>
          <a:xfrm>
            <a:off x="6223000" y="2032000"/>
            <a:ext cx="5537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8 GLUE benchmark tasks</a:t>
            </a:r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21DF5605-3823-447E-993F-F26B6BC854A1}"/>
              </a:ext>
            </a:extLst>
          </p:cNvPr>
          <p:cNvSpPr/>
          <p:nvPr/>
        </p:nvSpPr>
        <p:spPr>
          <a:xfrm>
            <a:off x="6223000" y="2438400"/>
            <a:ext cx="5537200" cy="8128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AE3DB486-0D94-4B05-8982-267387DFE847}"/>
              </a:ext>
            </a:extLst>
          </p:cNvPr>
          <p:cNvSpPr/>
          <p:nvPr/>
        </p:nvSpPr>
        <p:spPr>
          <a:xfrm>
            <a:off x="6223000" y="2438400"/>
            <a:ext cx="76200" cy="8128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92248C1-242F-47F0-8411-E512FBA21872}"/>
              </a:ext>
            </a:extLst>
          </p:cNvPr>
          <p:cNvSpPr txBox="1"/>
          <p:nvPr/>
        </p:nvSpPr>
        <p:spPr>
          <a:xfrm>
            <a:off x="6426200" y="25654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50" b="1">
                <a:solidFill>
                  <a:srgbClr val="0E2841"/>
                </a:solidFill>
              </a:rPr>
              <a:t>Single sentence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68AC447-8716-411B-92DA-220FAA606814}"/>
              </a:ext>
            </a:extLst>
          </p:cNvPr>
          <p:cNvSpPr txBox="1"/>
          <p:nvPr/>
        </p:nvSpPr>
        <p:spPr>
          <a:xfrm>
            <a:off x="6426200" y="2844800"/>
            <a:ext cx="51308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400">
                <a:solidFill>
                  <a:srgbClr val="1A1A1A"/>
                </a:solidFill>
              </a:rPr>
              <a:t>CoLA  ·  SST-2</a:t>
            </a: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8AD6966D-DD7C-4EBB-A2EF-65D2F5CB3892}"/>
              </a:ext>
            </a:extLst>
          </p:cNvPr>
          <p:cNvSpPr/>
          <p:nvPr/>
        </p:nvSpPr>
        <p:spPr>
          <a:xfrm>
            <a:off x="6223000" y="3378200"/>
            <a:ext cx="5537200" cy="8128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627A6971-348D-4AE4-AC31-C3B53ED602DD}"/>
              </a:ext>
            </a:extLst>
          </p:cNvPr>
          <p:cNvSpPr/>
          <p:nvPr/>
        </p:nvSpPr>
        <p:spPr>
          <a:xfrm>
            <a:off x="6223000" y="3378200"/>
            <a:ext cx="76200" cy="8128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95CCFD67-E03E-415E-BEE5-544B901AE99F}"/>
              </a:ext>
            </a:extLst>
          </p:cNvPr>
          <p:cNvSpPr txBox="1"/>
          <p:nvPr/>
        </p:nvSpPr>
        <p:spPr>
          <a:xfrm>
            <a:off x="6426200" y="35052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50" b="1">
                <a:solidFill>
                  <a:srgbClr val="0E2841"/>
                </a:solidFill>
              </a:rPr>
              <a:t>Similarity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38495206-264D-4836-BB25-72FA35020F01}"/>
              </a:ext>
            </a:extLst>
          </p:cNvPr>
          <p:cNvSpPr txBox="1"/>
          <p:nvPr/>
        </p:nvSpPr>
        <p:spPr>
          <a:xfrm>
            <a:off x="6426200" y="3784600"/>
            <a:ext cx="51308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400">
                <a:solidFill>
                  <a:srgbClr val="1A1A1A"/>
                </a:solidFill>
              </a:rPr>
              <a:t>MRPC  ·  STS-B  ·  QQP</a:t>
            </a:r>
          </a:p>
        </p:txBody>
      </p:sp>
      <p:sp>
        <p:nvSpPr>
          <p:cNvPr id="18" name="Rettangolo con angoli arrotondati 17">
            <a:extLst>
              <a:ext uri="{FF2B5EF4-FFF2-40B4-BE49-F238E27FC236}">
                <a16:creationId xmlns:a16="http://schemas.microsoft.com/office/drawing/2014/main" id="{1E25F3C7-AFAF-4A8C-913E-9FA177C3D940}"/>
              </a:ext>
            </a:extLst>
          </p:cNvPr>
          <p:cNvSpPr/>
          <p:nvPr/>
        </p:nvSpPr>
        <p:spPr>
          <a:xfrm>
            <a:off x="6223000" y="4318000"/>
            <a:ext cx="5537200" cy="8128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473E7462-D022-4EEB-AE09-2E96FAC48145}"/>
              </a:ext>
            </a:extLst>
          </p:cNvPr>
          <p:cNvSpPr/>
          <p:nvPr/>
        </p:nvSpPr>
        <p:spPr>
          <a:xfrm>
            <a:off x="6223000" y="4318000"/>
            <a:ext cx="76200" cy="8128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FB479D55-DB56-4EE3-AC96-E06789E52A25}"/>
              </a:ext>
            </a:extLst>
          </p:cNvPr>
          <p:cNvSpPr txBox="1"/>
          <p:nvPr/>
        </p:nvSpPr>
        <p:spPr>
          <a:xfrm>
            <a:off x="6426200" y="44450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50" b="1">
                <a:solidFill>
                  <a:srgbClr val="0E2841"/>
                </a:solidFill>
              </a:rPr>
              <a:t>Inference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B6EDC06-2768-4760-B45B-61D40E3BDFEC}"/>
              </a:ext>
            </a:extLst>
          </p:cNvPr>
          <p:cNvSpPr txBox="1"/>
          <p:nvPr/>
        </p:nvSpPr>
        <p:spPr>
          <a:xfrm>
            <a:off x="6426200" y="4724400"/>
            <a:ext cx="51308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400">
                <a:solidFill>
                  <a:srgbClr val="1A1A1A"/>
                </a:solidFill>
              </a:rPr>
              <a:t>MNLI  ·  QNLI  ·  RTE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301EAEC4-C271-4C9E-926A-39C5EA59EEF4}"/>
              </a:ext>
            </a:extLst>
          </p:cNvPr>
          <p:cNvSpPr/>
          <p:nvPr/>
        </p:nvSpPr>
        <p:spPr>
          <a:xfrm>
            <a:off x="774700" y="5461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D83A787-C478-4527-A79F-9F1B6E1E9B16}"/>
              </a:ext>
            </a:extLst>
          </p:cNvPr>
          <p:cNvSpPr txBox="1"/>
          <p:nvPr/>
        </p:nvSpPr>
        <p:spPr>
          <a:xfrm>
            <a:off x="927100" y="5461000"/>
            <a:ext cx="106807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Each task tests a different NLU capability — with the same architecture.</a:t>
            </a:r>
            <a:endParaRPr lang="it-IT" sz="15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013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GLUE: Per-Task Results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45840DBF-C40D-49C1-803F-5D9DE7218E8D}"/>
              </a:ext>
            </a:extLst>
          </p:cNvPr>
          <p:cNvSpPr txBox="1"/>
          <p:nvPr/>
        </p:nvSpPr>
        <p:spPr>
          <a:xfrm>
            <a:off x="6949440" y="420624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Setup factors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C9B51C0-41F6-46E2-8B96-4A9277A8CBCB}"/>
              </a:ext>
            </a:extLst>
          </p:cNvPr>
          <p:cNvSpPr txBox="1"/>
          <p:nvPr/>
        </p:nvSpPr>
        <p:spPr>
          <a:xfrm>
            <a:off x="6949440" y="4572000"/>
            <a:ext cx="4572000" cy="124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50">
                <a:solidFill>
                  <a:srgbClr val="1A1A1A"/>
                </a:solidFill>
              </a:rPr>
              <a:t>•  Byte-level input, no subword tokenizer
•  Smaller model: ∼10M vs 201M
•  STS-B excluded (regression metric)
•  CoLA acc. ≈ majority baseline (official metric is MCC)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27C06BC-083D-4415-802E-C7784F2FC75D}"/>
              </a:ext>
            </a:extLst>
          </p:cNvPr>
          <p:cNvSpPr txBox="1"/>
          <p:nvPr/>
        </p:nvSpPr>
        <p:spPr>
          <a:xfrm>
            <a:off x="6949440" y="219456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Per-task pattern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0B68F77-3278-4F27-9907-9473E655D7E8}"/>
              </a:ext>
            </a:extLst>
          </p:cNvPr>
          <p:cNvSpPr txBox="1"/>
          <p:nvPr/>
        </p:nvSpPr>
        <p:spPr>
          <a:xfrm>
            <a:off x="6949440" y="2560320"/>
            <a:ext cx="4572000" cy="1117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QQP is the strongest task at 75.65%, while inference tasks (MNLI, RTE) are hardest. The classification mean sits around 62% with a much smaller, tokenizer-free model.</a:t>
            </a:r>
            <a:endParaRPr lang="it-IT" sz="1350">
              <a:solidFill>
                <a:srgbClr val="1A1A1A"/>
              </a:solidFill>
            </a:endParaRPr>
          </a:p>
        </p:txBody>
      </p:sp>
      <p:pic>
        <p:nvPicPr>
          <p:cNvPr id="15" name="Picture 14" descr="glu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5943600" cy="325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793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45E198C5-CA0D-9DAF-24FF-124115CC37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224D50-ABBF-1528-BA06-FFABB9663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Convergence: Representative Checkpoints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240C00BB-FC72-4E5C-866D-CE17D5A734E5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2194560"/>
          <a:ext cx="508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>
                  <a:extLst>
                    <a:ext uri="{9D8B030D-6E8A-4147-A177-3AD203B41FA5}">
                      <a16:colId xmlns:a16="http://schemas.microsoft.com/office/drawing/2014/main" val="3428646505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3272906777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Run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Best epoch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58053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GLUE QQP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09992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WikiText-103 MLM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49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257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ModelNet40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58479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CIFAR-10 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108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000967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CIFAR-10 Perceiver 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120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099474"/>
                  </a:ext>
                </a:extLst>
              </a:tr>
            </a:tbl>
          </a:graphicData>
        </a:graphic>
      </p:graphicFrame>
      <p:sp>
        <p:nvSpPr>
          <p:cNvPr id="9" name="CasellaDiTesto 8">
            <a:extLst>
              <a:ext uri="{FF2B5EF4-FFF2-40B4-BE49-F238E27FC236}">
                <a16:creationId xmlns:a16="http://schemas.microsoft.com/office/drawing/2014/main" id="{611463E3-1461-4CB9-BAF3-88FEAA8F488E}"/>
              </a:ext>
            </a:extLst>
          </p:cNvPr>
          <p:cNvSpPr txBox="1"/>
          <p:nvPr/>
        </p:nvSpPr>
        <p:spPr>
          <a:xfrm>
            <a:off x="6400800" y="4572000"/>
            <a:ext cx="5029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Pattern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A540430-0875-4506-BDB5-A9DFD48BE19D}"/>
              </a:ext>
            </a:extLst>
          </p:cNvPr>
          <p:cNvSpPr txBox="1"/>
          <p:nvPr/>
        </p:nvSpPr>
        <p:spPr>
          <a:xfrm>
            <a:off x="6400800" y="4937760"/>
            <a:ext cx="5029200" cy="124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•  Fine-tuning peaks earlier than image training
•  Point clouds converge before CIFAR-10
•  CIFAR-10 requires the longest schedule</a:t>
            </a:r>
            <a:endParaRPr lang="it-IT" sz="1350">
              <a:solidFill>
                <a:srgbClr val="1A1A1A"/>
              </a:solidFill>
            </a:endParaRPr>
          </a:p>
        </p:txBody>
      </p:sp>
      <p:pic>
        <p:nvPicPr>
          <p:cNvPr id="15" name="Picture 14" descr="convergence_epochs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486400" cy="2999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5397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12CA6BA-465E-E295-1F15-669EA25DB4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B1A5D0-AADA-37EF-6277-79D5257D5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Attention Maps Analysis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9A198CF-B057-4011-8117-9137B4455DE4}"/>
              </a:ext>
            </a:extLst>
          </p:cNvPr>
          <p:cNvSpPr txBox="1"/>
          <p:nvPr/>
        </p:nvSpPr>
        <p:spPr>
          <a:xfrm>
            <a:off x="914400" y="2212848"/>
            <a:ext cx="4114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156082"/>
                </a:solidFill>
              </a:rPr>
              <a:t>Fourier PE  (baseline, final maps)</a:t>
            </a:r>
            <a:endParaRPr lang="it-IT" sz="1600" b="1">
              <a:solidFill>
                <a:srgbClr val="156082"/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5F84EDA-E403-484D-9A7B-2E23E258A07D}"/>
              </a:ext>
            </a:extLst>
          </p:cNvPr>
          <p:cNvSpPr txBox="1"/>
          <p:nvPr/>
        </p:nvSpPr>
        <p:spPr>
          <a:xfrm>
            <a:off x="914400" y="4882896"/>
            <a:ext cx="4114800" cy="86868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Structured, spatially selective patterns. Latents specialize in different image regions.</a:t>
            </a:r>
            <a:endParaRPr lang="it-IT" sz="1400">
              <a:solidFill>
                <a:srgbClr val="1A1A1A"/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FD1E12C-4767-4736-9C57-1B36AC9179C0}"/>
              </a:ext>
            </a:extLst>
          </p:cNvPr>
          <p:cNvSpPr txBox="1"/>
          <p:nvPr/>
        </p:nvSpPr>
        <p:spPr>
          <a:xfrm>
            <a:off x="6583680" y="2212848"/>
            <a:ext cx="4114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600" b="1">
                <a:solidFill>
                  <a:srgbClr val="C0392B"/>
                </a:solidFill>
              </a:rPr>
              <a:t>RGB only — no PE  (final maps)</a:t>
            </a:r>
            <a:endParaRPr lang="it-IT" sz="1600" b="1">
              <a:solidFill>
                <a:srgbClr val="C0392B"/>
              </a:solidFill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078272E-9AF7-42B0-B6FA-B9A97F128894}"/>
              </a:ext>
            </a:extLst>
          </p:cNvPr>
          <p:cNvSpPr txBox="1"/>
          <p:nvPr/>
        </p:nvSpPr>
        <p:spPr>
          <a:xfrm>
            <a:off x="6583680" y="4882896"/>
            <a:ext cx="4114800" cy="86868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</a:rPr>
              <a:t>Diffuse, near-uniform patterns. No spatial selectivity — the model cannot localize information.</a:t>
            </a:r>
            <a:endParaRPr lang="it-IT" sz="1400">
              <a:solidFill>
                <a:srgbClr val="1A1A1A"/>
              </a:solidFill>
            </a:endParaRPr>
          </a:p>
        </p:txBody>
      </p:sp>
      <p:pic>
        <p:nvPicPr>
          <p:cNvPr id="19" name="Picture 18" descr="exp1_baseline_fourier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32304"/>
            <a:ext cx="3611880" cy="2377440"/>
          </a:xfrm>
          <a:prstGeom prst="rect">
            <a:avLst/>
          </a:prstGeom>
        </p:spPr>
      </p:pic>
      <p:pic>
        <p:nvPicPr>
          <p:cNvPr id="20" name="Picture 19" descr="exp3B_rgb_only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432304"/>
            <a:ext cx="3611880" cy="237744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" y="5779008"/>
            <a:ext cx="10634472" cy="768096"/>
          </a:xfrm>
          <a:prstGeom prst="roundRect">
            <a:avLst/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DC76FBF-0BEF-4EBD-80AD-74D54439E36F}"/>
              </a:ext>
            </a:extLst>
          </p:cNvPr>
          <p:cNvSpPr txBox="1"/>
          <p:nvPr/>
        </p:nvSpPr>
        <p:spPr>
          <a:xfrm>
            <a:off x="1005840" y="5870448"/>
            <a:ext cx="10149840" cy="60350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Interpretation   </a:t>
            </a:r>
            <a:r>
              <a:rPr sz="1300">
                <a:solidFill>
                  <a:srgbClr val="FFFFFF"/>
                </a:solidFill>
              </a:rPr>
              <a:t>With Fourier PE, cross-attention learns spatially coherent patterns; without PE, entropy stays high and patterns lack structure.</a:t>
            </a:r>
            <a:endParaRPr lang="it-IT" sz="14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7728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5F54950-7CF0-06C3-96B1-ED9164116C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2108F7-314D-1824-8CD9-4F78E84AE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Comprehensive Results Summary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02192B3-A04B-4EED-B05A-DF04824287A0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2006600"/>
          <a:ext cx="9728200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3341314086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507841909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53704878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69988810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528462301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Modality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Best 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Reference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Experiments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13287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78.12%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&gt; 90% 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7 ablations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38875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78.20%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708386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Point Clouds (ModelNet40)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84.24%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85.7%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3 augment.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36257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Text (WikiText-103)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82.20% MLM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79253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NLU (GLUE, 8 tasks)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∼62% avg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 fine-tune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186948"/>
                  </a:ext>
                </a:extLst>
              </a:tr>
            </a:tbl>
          </a:graphicData>
        </a:graphic>
      </p:graphicFrame>
      <p:sp>
        <p:nvSpPr>
          <p:cNvPr id="7" name="CasellaDiTesto 6">
            <a:extLst>
              <a:ext uri="{FF2B5EF4-FFF2-40B4-BE49-F238E27FC236}">
                <a16:creationId xmlns:a16="http://schemas.microsoft.com/office/drawing/2014/main" id="{8103CBDC-E838-4CE5-8BDF-3E28E49BCF43}"/>
              </a:ext>
            </a:extLst>
          </p:cNvPr>
          <p:cNvSpPr txBox="1"/>
          <p:nvPr/>
        </p:nvSpPr>
        <p:spPr>
          <a:xfrm>
            <a:off x="774700" y="4419600"/>
            <a:ext cx="10998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150" i="1">
                <a:solidFill>
                  <a:srgbClr val="555555"/>
                </a:solidFill>
              </a:rPr>
              <a:t>† Strong ViT/CNN baselines on CIFAR-10; the original Perceiver paper does not benchmark CIFAR-10.</a:t>
            </a:r>
            <a:endParaRPr lang="it-IT" sz="1150" i="1">
              <a:solidFill>
                <a:srgbClr val="555555"/>
              </a:solidFill>
            </a:endParaRP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7B841C89-3920-491A-81BD-CD52F6FC3590}"/>
              </a:ext>
            </a:extLst>
          </p:cNvPr>
          <p:cNvSpPr/>
          <p:nvPr/>
        </p:nvSpPr>
        <p:spPr>
          <a:xfrm>
            <a:off x="774700" y="4800600"/>
            <a:ext cx="2603500" cy="1270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66CDF52C-7A63-41E7-8906-FE594A6F7D5A}"/>
              </a:ext>
            </a:extLst>
          </p:cNvPr>
          <p:cNvSpPr/>
          <p:nvPr/>
        </p:nvSpPr>
        <p:spPr>
          <a:xfrm>
            <a:off x="774700" y="4800600"/>
            <a:ext cx="26035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A7BB1E0-33CB-4009-8225-6EA05F376D53}"/>
              </a:ext>
            </a:extLst>
          </p:cNvPr>
          <p:cNvSpPr txBox="1"/>
          <p:nvPr/>
        </p:nvSpPr>
        <p:spPr>
          <a:xfrm>
            <a:off x="876300" y="5029200"/>
            <a:ext cx="24003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2600" b="1">
                <a:solidFill>
                  <a:srgbClr val="0E2841"/>
                </a:solidFill>
              </a:rPr>
              <a:t>∼2500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39F0F58-54B6-44DE-8D7A-8F57933655A1}"/>
              </a:ext>
            </a:extLst>
          </p:cNvPr>
          <p:cNvSpPr txBox="1"/>
          <p:nvPr/>
        </p:nvSpPr>
        <p:spPr>
          <a:xfrm>
            <a:off x="876300" y="5588000"/>
            <a:ext cx="24003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250" b="1">
                <a:solidFill>
                  <a:srgbClr val="156082"/>
                </a:solidFill>
              </a:rPr>
              <a:t>lines of PyTorch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07284160-6889-4AB1-AC42-BBC775A07548}"/>
              </a:ext>
            </a:extLst>
          </p:cNvPr>
          <p:cNvSpPr/>
          <p:nvPr/>
        </p:nvSpPr>
        <p:spPr>
          <a:xfrm>
            <a:off x="3530600" y="4800600"/>
            <a:ext cx="2603500" cy="1270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D951FAAF-2CC7-421F-BAFF-BDE32C113DA4}"/>
              </a:ext>
            </a:extLst>
          </p:cNvPr>
          <p:cNvSpPr/>
          <p:nvPr/>
        </p:nvSpPr>
        <p:spPr>
          <a:xfrm>
            <a:off x="3530600" y="4800600"/>
            <a:ext cx="26035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B33E5A1-D618-43FD-852E-FE2ABDA794D8}"/>
              </a:ext>
            </a:extLst>
          </p:cNvPr>
          <p:cNvSpPr txBox="1"/>
          <p:nvPr/>
        </p:nvSpPr>
        <p:spPr>
          <a:xfrm>
            <a:off x="3632200" y="5029200"/>
            <a:ext cx="24003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2600" b="1">
                <a:solidFill>
                  <a:srgbClr val="0E2841"/>
                </a:solidFill>
              </a:rPr>
              <a:t>20+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6FBC8A1-A7A6-490C-A2E6-89FF0EB4CBF8}"/>
              </a:ext>
            </a:extLst>
          </p:cNvPr>
          <p:cNvSpPr txBox="1"/>
          <p:nvPr/>
        </p:nvSpPr>
        <p:spPr>
          <a:xfrm>
            <a:off x="3632200" y="5588000"/>
            <a:ext cx="24003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250" b="1">
                <a:solidFill>
                  <a:srgbClr val="156082"/>
                </a:solidFill>
              </a:rPr>
              <a:t>training runs</a:t>
            </a:r>
          </a:p>
        </p:txBody>
      </p:sp>
      <p:sp>
        <p:nvSpPr>
          <p:cNvPr id="16" name="Rettangolo con angoli arrotondati 15">
            <a:extLst>
              <a:ext uri="{FF2B5EF4-FFF2-40B4-BE49-F238E27FC236}">
                <a16:creationId xmlns:a16="http://schemas.microsoft.com/office/drawing/2014/main" id="{CA731131-1080-4874-8D95-4B9246140D23}"/>
              </a:ext>
            </a:extLst>
          </p:cNvPr>
          <p:cNvSpPr/>
          <p:nvPr/>
        </p:nvSpPr>
        <p:spPr>
          <a:xfrm>
            <a:off x="6286500" y="4800600"/>
            <a:ext cx="2603500" cy="1270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42631EE6-B668-414E-854B-B43D7D5C8E10}"/>
              </a:ext>
            </a:extLst>
          </p:cNvPr>
          <p:cNvSpPr/>
          <p:nvPr/>
        </p:nvSpPr>
        <p:spPr>
          <a:xfrm>
            <a:off x="6286500" y="4800600"/>
            <a:ext cx="26035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DBB5BEBE-0A7E-4415-B510-AE44E3D7B1BE}"/>
              </a:ext>
            </a:extLst>
          </p:cNvPr>
          <p:cNvSpPr txBox="1"/>
          <p:nvPr/>
        </p:nvSpPr>
        <p:spPr>
          <a:xfrm>
            <a:off x="6388100" y="5029200"/>
            <a:ext cx="24003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2600" b="1">
                <a:solidFill>
                  <a:srgbClr val="0E2841"/>
                </a:solidFill>
              </a:rPr>
              <a:t>3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F694B682-F089-455C-8BEE-2448725F7BEF}"/>
              </a:ext>
            </a:extLst>
          </p:cNvPr>
          <p:cNvSpPr txBox="1"/>
          <p:nvPr/>
        </p:nvSpPr>
        <p:spPr>
          <a:xfrm>
            <a:off x="6388100" y="5588000"/>
            <a:ext cx="24003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250" b="1">
                <a:solidFill>
                  <a:srgbClr val="156082"/>
                </a:solidFill>
              </a:rPr>
              <a:t>modalities</a:t>
            </a:r>
          </a:p>
        </p:txBody>
      </p:sp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45DCCBE3-5DDD-4358-8288-A411161E08EC}"/>
              </a:ext>
            </a:extLst>
          </p:cNvPr>
          <p:cNvSpPr/>
          <p:nvPr/>
        </p:nvSpPr>
        <p:spPr>
          <a:xfrm>
            <a:off x="9042400" y="4800600"/>
            <a:ext cx="2603500" cy="1270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6FADA11D-1FBF-421E-9C93-BC76CC9AA9C2}"/>
              </a:ext>
            </a:extLst>
          </p:cNvPr>
          <p:cNvSpPr/>
          <p:nvPr/>
        </p:nvSpPr>
        <p:spPr>
          <a:xfrm>
            <a:off x="9042400" y="4800600"/>
            <a:ext cx="26035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1139FB0B-B6EF-48CE-BDF5-F3CDB7C221EE}"/>
              </a:ext>
            </a:extLst>
          </p:cNvPr>
          <p:cNvSpPr txBox="1"/>
          <p:nvPr/>
        </p:nvSpPr>
        <p:spPr>
          <a:xfrm>
            <a:off x="9144000" y="5029200"/>
            <a:ext cx="24003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2600" b="1">
                <a:solidFill>
                  <a:srgbClr val="0E2841"/>
                </a:solidFill>
              </a:rPr>
              <a:t>100%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6B25264D-603A-4076-B504-6BCE367123C5}"/>
              </a:ext>
            </a:extLst>
          </p:cNvPr>
          <p:cNvSpPr txBox="1"/>
          <p:nvPr/>
        </p:nvSpPr>
        <p:spPr>
          <a:xfrm>
            <a:off x="9144000" y="5588000"/>
            <a:ext cx="24003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250" b="1">
                <a:solidFill>
                  <a:srgbClr val="156082"/>
                </a:solidFill>
              </a:rPr>
              <a:t>reproducible</a:t>
            </a:r>
          </a:p>
        </p:txBody>
      </p:sp>
    </p:spTree>
    <p:extLst>
      <p:ext uri="{BB962C8B-B14F-4D97-AF65-F5344CB8AC3E}">
        <p14:creationId xmlns:p14="http://schemas.microsoft.com/office/powerpoint/2010/main" val="3305740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A3601A0-4E24-3414-F516-03ACE8AD2B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1231F62-D219-DC1E-6DC7-9EE88FE1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Gap vs Original Papers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32CAA73-4A0D-4C8F-A65E-83F437669B66}"/>
              </a:ext>
            </a:extLst>
          </p:cNvPr>
          <p:cNvSpPr txBox="1"/>
          <p:nvPr/>
        </p:nvSpPr>
        <p:spPr>
          <a:xfrm>
            <a:off x="774700" y="20066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ModelNet40 — Point Clouds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C9266D29-616A-4D2E-B8D4-0EE66E98CC13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2387600"/>
          <a:ext cx="5334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393842218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71311985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4062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Original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85.7%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045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implementation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84.24%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64755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Gap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27AE60"/>
                          </a:solidFill>
                        </a:rPr>
                        <a:t>1.46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338869"/>
                  </a:ext>
                </a:extLst>
              </a:tr>
            </a:tbl>
          </a:graphicData>
        </a:graphic>
      </p:graphicFrame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7B6968-E9F8-48A7-9A59-DDA3620462D5}"/>
              </a:ext>
            </a:extLst>
          </p:cNvPr>
          <p:cNvSpPr txBox="1"/>
          <p:nvPr/>
        </p:nvSpPr>
        <p:spPr>
          <a:xfrm>
            <a:off x="774700" y="40640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i="1">
                <a:solidFill>
                  <a:srgbClr val="444444"/>
                </a:solidFill>
              </a:rPr>
              <a:t>Small reproduction gap — the main scale difference is batch size (128 vs 512).</a:t>
            </a:r>
            <a:endParaRPr lang="it-IT" sz="1300" i="1">
              <a:solidFill>
                <a:srgbClr val="444444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4C57B53-7C99-46DB-98EF-527448A52CF5}"/>
              </a:ext>
            </a:extLst>
          </p:cNvPr>
          <p:cNvSpPr txBox="1"/>
          <p:nvPr/>
        </p:nvSpPr>
        <p:spPr>
          <a:xfrm>
            <a:off x="6426200" y="20066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CIFAR-10 — Images</a:t>
            </a: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A3A6EC7A-A1FA-446D-96BD-F44EB2E285B4}"/>
              </a:ext>
            </a:extLst>
          </p:cNvPr>
          <p:cNvGraphicFramePr>
            <a:graphicFrameLocks noGrp="1"/>
          </p:cNvGraphicFramePr>
          <p:nvPr/>
        </p:nvGraphicFramePr>
        <p:xfrm>
          <a:off x="6426200" y="2387600"/>
          <a:ext cx="5334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07356346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1674302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424585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ViT / CNN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&gt; 90%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76044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78.20%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385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Gap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E74C3C"/>
                          </a:solidFill>
                        </a:rPr>
                        <a:t>∼12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950163"/>
                  </a:ext>
                </a:extLst>
              </a:tr>
            </a:tbl>
          </a:graphicData>
        </a:graphic>
      </p:graphicFrame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06CA848-FA33-445A-9899-60C2C06A6E97}"/>
              </a:ext>
            </a:extLst>
          </p:cNvPr>
          <p:cNvSpPr txBox="1"/>
          <p:nvPr/>
        </p:nvSpPr>
        <p:spPr>
          <a:xfrm>
            <a:off x="6426200" y="40640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00" i="1">
                <a:solidFill>
                  <a:srgbClr val="444444"/>
                </a:solidFill>
              </a:rPr>
              <a:t>Larger gap vs strong ViT/CNN baselines (the Perceiver paper has no CIFAR-10); TPU cluster vs single GPU.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B0B258D7-5383-49D0-B6BD-FEF1E03C4B7D}"/>
              </a:ext>
            </a:extLst>
          </p:cNvPr>
          <p:cNvSpPr/>
          <p:nvPr/>
        </p:nvSpPr>
        <p:spPr>
          <a:xfrm>
            <a:off x="774700" y="5486400"/>
            <a:ext cx="10985500" cy="6858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7E34BA7-B9F8-4BD1-B10E-8869CBFF9632}"/>
              </a:ext>
            </a:extLst>
          </p:cNvPr>
          <p:cNvSpPr txBox="1"/>
          <p:nvPr/>
        </p:nvSpPr>
        <p:spPr>
          <a:xfrm>
            <a:off x="927100" y="5486400"/>
            <a:ext cx="106807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The CIFAR-10 gap is mainly batch size (64 vs 1024), latent count (96 vs 256) and compute limits — the architecture is especially scale-sensitive on images.</a:t>
            </a:r>
            <a:endParaRPr lang="it-IT" sz="135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977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E95C5C0-4720-568B-2048-636E6BE56C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DEDD7E1-3771-814A-3551-3076A71C8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Hardware Limitations &amp; Design Choices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60884B7C-F6B8-453C-A570-6D1437CD458D}"/>
              </a:ext>
            </a:extLst>
          </p:cNvPr>
          <p:cNvGraphicFramePr>
            <a:graphicFrameLocks noGrp="1"/>
          </p:cNvGraphicFramePr>
          <p:nvPr/>
        </p:nvGraphicFramePr>
        <p:xfrm>
          <a:off x="774700" y="2006600"/>
          <a:ext cx="10998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322263798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837676831"/>
                    </a:ext>
                  </a:extLst>
                </a:gridCol>
                <a:gridCol w="4394200">
                  <a:extLst>
                    <a:ext uri="{9D8B030D-6E8A-4147-A177-3AD203B41FA5}">
                      <a16:colId xmlns:a16="http://schemas.microsoft.com/office/drawing/2014/main" val="416967976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 (Google)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Project Setup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30198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Hardware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512 TPU v3 cores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 NVIDIA consumer GPU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70554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Batch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up to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max 64–128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59708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Latents (N)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256–512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96–128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93022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Model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30–100M+ params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3.35–10M params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5349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Training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days (distributed)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hours–days (single GPU)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541355"/>
                  </a:ext>
                </a:extLst>
              </a:tr>
            </a:tbl>
          </a:graphicData>
        </a:graphic>
      </p:graphicFrame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301DF70C-424D-45EE-88ED-6E66673DF277}"/>
              </a:ext>
            </a:extLst>
          </p:cNvPr>
          <p:cNvSpPr/>
          <p:nvPr/>
        </p:nvSpPr>
        <p:spPr>
          <a:xfrm>
            <a:off x="774700" y="4292600"/>
            <a:ext cx="5334000" cy="1905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3A1D8643-83DA-4A2C-AF9F-CF99ADCCFDCD}"/>
              </a:ext>
            </a:extLst>
          </p:cNvPr>
          <p:cNvSpPr/>
          <p:nvPr/>
        </p:nvSpPr>
        <p:spPr>
          <a:xfrm>
            <a:off x="774700" y="42926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6F3B934-E3E3-49FE-8F68-B121F3CFF9FA}"/>
              </a:ext>
            </a:extLst>
          </p:cNvPr>
          <p:cNvSpPr txBox="1"/>
          <p:nvPr/>
        </p:nvSpPr>
        <p:spPr>
          <a:xfrm>
            <a:off x="977900" y="44450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Consequences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4B69F06-8542-42F5-9AEA-4A13AE85C723}"/>
              </a:ext>
            </a:extLst>
          </p:cNvPr>
          <p:cNvSpPr txBox="1"/>
          <p:nvPr/>
        </p:nvSpPr>
        <p:spPr>
          <a:xfrm>
            <a:off x="977900" y="4826000"/>
            <a:ext cx="4927600" cy="124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•  LAMB less effective with small batches
•  Fewer latents limit representational capacity
•  Reduced augmentation due to time constraints
•  Fewer hyperparameter-search iterations</a:t>
            </a:r>
            <a:endParaRPr lang="it-IT" sz="1350">
              <a:solidFill>
                <a:srgbClr val="1A1A1A"/>
              </a:solidFill>
            </a:endParaRP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961005AE-ECE5-4D62-8292-CCBEA6506530}"/>
              </a:ext>
            </a:extLst>
          </p:cNvPr>
          <p:cNvSpPr/>
          <p:nvPr/>
        </p:nvSpPr>
        <p:spPr>
          <a:xfrm>
            <a:off x="6426200" y="4292600"/>
            <a:ext cx="5334000" cy="1905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E4694A6E-9A5F-4A59-B187-60AA95353739}"/>
              </a:ext>
            </a:extLst>
          </p:cNvPr>
          <p:cNvSpPr/>
          <p:nvPr/>
        </p:nvSpPr>
        <p:spPr>
          <a:xfrm>
            <a:off x="6426200" y="42926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CC4B1A9-1F78-496A-8904-AA24CD7326CF}"/>
              </a:ext>
            </a:extLst>
          </p:cNvPr>
          <p:cNvSpPr txBox="1"/>
          <p:nvPr/>
        </p:nvSpPr>
        <p:spPr>
          <a:xfrm>
            <a:off x="6629400" y="44450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Mitigation strategies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4BB5070-4855-4784-A94B-DD12BB14079D}"/>
              </a:ext>
            </a:extLst>
          </p:cNvPr>
          <p:cNvSpPr txBox="1"/>
          <p:nvPr/>
        </p:nvSpPr>
        <p:spPr>
          <a:xfrm>
            <a:off x="6629400" y="4826000"/>
            <a:ext cx="4927600" cy="124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50">
                <a:solidFill>
                  <a:srgbClr val="1A1A1A"/>
                </a:solidFill>
              </a:rPr>
              <a:t>•  Weight sharing to reduce memory
•  Gradient accumulation where possible
•  Careful cosine-annealing schedule
•  Focus on the most informative ablations</a:t>
            </a:r>
            <a:endParaRPr lang="it-IT" sz="1350">
              <a:solidFill>
                <a:srgbClr val="1A1A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72540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C5A678F-2425-CDE8-2419-E91F978217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0670635-9074-C54C-B8CE-FFCD9479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Possible Improvements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96820A5-C293-4190-B857-1648E6E49B8D}"/>
              </a:ext>
            </a:extLst>
          </p:cNvPr>
          <p:cNvSpPr/>
          <p:nvPr/>
        </p:nvSpPr>
        <p:spPr>
          <a:xfrm>
            <a:off x="774700" y="2006600"/>
            <a:ext cx="5334000" cy="1905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69B762DD-9B1A-4816-9196-C2DA33E068D5}"/>
              </a:ext>
            </a:extLst>
          </p:cNvPr>
          <p:cNvSpPr/>
          <p:nvPr/>
        </p:nvSpPr>
        <p:spPr>
          <a:xfrm>
            <a:off x="774700" y="20066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28E43CB-70C3-448A-99C0-B340C2021BF6}"/>
              </a:ext>
            </a:extLst>
          </p:cNvPr>
          <p:cNvSpPr txBox="1"/>
          <p:nvPr/>
        </p:nvSpPr>
        <p:spPr>
          <a:xfrm>
            <a:off x="977900" y="21590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Architecture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1BE2B0B-6634-4F75-A8F6-E58FFCF3BE8F}"/>
              </a:ext>
            </a:extLst>
          </p:cNvPr>
          <p:cNvSpPr txBox="1"/>
          <p:nvPr/>
        </p:nvSpPr>
        <p:spPr>
          <a:xfrm>
            <a:off x="977900" y="2540000"/>
            <a:ext cx="4927600" cy="124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250">
                <a:solidFill>
                  <a:srgbClr val="1A1A1A"/>
                </a:solidFill>
              </a:rPr>
              <a:t>•  Increase latent count (N = 256+) with gradient checkpointing
•  Multi-scale cross-attention (coarse → fine)
•  Relative positional encodings (RoPE, ALiBi)
•  Deeper decoder for structured outputs</a:t>
            </a: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55E44D91-1D14-4642-A4F7-35D7C90634D2}"/>
              </a:ext>
            </a:extLst>
          </p:cNvPr>
          <p:cNvSpPr/>
          <p:nvPr/>
        </p:nvSpPr>
        <p:spPr>
          <a:xfrm>
            <a:off x="6426200" y="2006600"/>
            <a:ext cx="5334000" cy="1905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0A61A42A-7AC0-40C8-891E-941B512F28D2}"/>
              </a:ext>
            </a:extLst>
          </p:cNvPr>
          <p:cNvSpPr/>
          <p:nvPr/>
        </p:nvSpPr>
        <p:spPr>
          <a:xfrm>
            <a:off x="6426200" y="20066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ED73FEF-90BE-45FB-880B-47C5BA861C04}"/>
              </a:ext>
            </a:extLst>
          </p:cNvPr>
          <p:cNvSpPr txBox="1"/>
          <p:nvPr/>
        </p:nvSpPr>
        <p:spPr>
          <a:xfrm>
            <a:off x="6629400" y="21590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Training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F6B75BC4-9918-4DFE-9961-8247F9222B6E}"/>
              </a:ext>
            </a:extLst>
          </p:cNvPr>
          <p:cNvSpPr txBox="1"/>
          <p:nvPr/>
        </p:nvSpPr>
        <p:spPr>
          <a:xfrm>
            <a:off x="6629400" y="2540000"/>
            <a:ext cx="4927600" cy="124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250">
                <a:solidFill>
                  <a:srgbClr val="1A1A1A"/>
                </a:solidFill>
              </a:rPr>
              <a:t>•  Larger batches via gradient accumulation
•  Mixed-precision (FP16 / BF16) training
•  Longer training schedules
•  Advanced augmentation (CutMix, MixUp)</a:t>
            </a:r>
            <a:endParaRPr lang="it-IT" sz="1250">
              <a:solidFill>
                <a:srgbClr val="1A1A1A"/>
              </a:solidFill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C77ACEF6-2273-4BCE-B678-D97EDE9A1316}"/>
              </a:ext>
            </a:extLst>
          </p:cNvPr>
          <p:cNvSpPr/>
          <p:nvPr/>
        </p:nvSpPr>
        <p:spPr>
          <a:xfrm>
            <a:off x="774700" y="4064000"/>
            <a:ext cx="5334000" cy="1905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9DAFAFB-0DEC-42A1-9DDC-A3B3B0A4BEFF}"/>
              </a:ext>
            </a:extLst>
          </p:cNvPr>
          <p:cNvSpPr/>
          <p:nvPr/>
        </p:nvSpPr>
        <p:spPr>
          <a:xfrm>
            <a:off x="774700" y="40640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3D47528-FBB0-4665-9BCE-CAD0BA2C63A7}"/>
              </a:ext>
            </a:extLst>
          </p:cNvPr>
          <p:cNvSpPr txBox="1"/>
          <p:nvPr/>
        </p:nvSpPr>
        <p:spPr>
          <a:xfrm>
            <a:off x="977900" y="42164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Data &amp; Tasks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9B8DB6F-A53B-447B-A22A-9EAE3043FA22}"/>
              </a:ext>
            </a:extLst>
          </p:cNvPr>
          <p:cNvSpPr txBox="1"/>
          <p:nvPr/>
        </p:nvSpPr>
        <p:spPr>
          <a:xfrm>
            <a:off x="977900" y="4597400"/>
            <a:ext cx="4927600" cy="124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250">
                <a:solidFill>
                  <a:srgbClr val="1A1A1A"/>
                </a:solidFill>
              </a:rPr>
              <a:t>•  ImageNet pre-training for vision
•  Subword tokenization for NLP
•  Multi-modal joint training
•  Audio modality experiments</a:t>
            </a:r>
            <a:endParaRPr lang="it-IT" sz="1250">
              <a:solidFill>
                <a:srgbClr val="1A1A1A"/>
              </a:solidFill>
            </a:endParaRPr>
          </a:p>
        </p:txBody>
      </p: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BB222DA0-D718-4989-B2A3-BDBD44EC28B3}"/>
              </a:ext>
            </a:extLst>
          </p:cNvPr>
          <p:cNvSpPr/>
          <p:nvPr/>
        </p:nvSpPr>
        <p:spPr>
          <a:xfrm>
            <a:off x="6426200" y="4064000"/>
            <a:ext cx="5334000" cy="19050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CCABCB3B-DCF5-44E8-A72F-AE2656CBEFD6}"/>
              </a:ext>
            </a:extLst>
          </p:cNvPr>
          <p:cNvSpPr/>
          <p:nvPr/>
        </p:nvSpPr>
        <p:spPr>
          <a:xfrm>
            <a:off x="6426200" y="4064000"/>
            <a:ext cx="5334000" cy="762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9A14A0D4-2B87-4262-9486-CDC366B61B8D}"/>
              </a:ext>
            </a:extLst>
          </p:cNvPr>
          <p:cNvSpPr txBox="1"/>
          <p:nvPr/>
        </p:nvSpPr>
        <p:spPr>
          <a:xfrm>
            <a:off x="6629400" y="42164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56082"/>
                </a:solidFill>
              </a:rPr>
              <a:t>Analysis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387243F-5275-40F9-8904-163880ED725C}"/>
              </a:ext>
            </a:extLst>
          </p:cNvPr>
          <p:cNvSpPr txBox="1"/>
          <p:nvPr/>
        </p:nvSpPr>
        <p:spPr>
          <a:xfrm>
            <a:off x="6629400" y="4597400"/>
            <a:ext cx="4927600" cy="1244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250">
                <a:solidFill>
                  <a:srgbClr val="1A1A1A"/>
                </a:solidFill>
              </a:rPr>
              <a:t>•  Layer-wise attention probing
•  Latent-space clustering visualization
•  Systematic hyperparameter search
•  Compare with efficient Transformers (Linformer, Performer)</a:t>
            </a:r>
            <a:endParaRPr lang="it-IT" sz="1250">
              <a:solidFill>
                <a:srgbClr val="1A1A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64674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2B9279D-4ACB-8491-98C0-785A9D16F3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10E4ED2-9FC6-962C-82D9-70B7E1C7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Empirical Summary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52D955A0-C577-44EF-B172-D4E0FD060818}"/>
              </a:ext>
            </a:extLst>
          </p:cNvPr>
          <p:cNvSpPr/>
          <p:nvPr/>
        </p:nvSpPr>
        <p:spPr>
          <a:xfrm>
            <a:off x="774700" y="2006600"/>
            <a:ext cx="5334000" cy="31496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7B014EB-E196-48FC-AE97-BF4DC75D8632}"/>
              </a:ext>
            </a:extLst>
          </p:cNvPr>
          <p:cNvSpPr/>
          <p:nvPr/>
        </p:nvSpPr>
        <p:spPr>
          <a:xfrm>
            <a:off x="774700" y="2006600"/>
            <a:ext cx="5334000" cy="762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12C409C-DD8F-4563-A883-88214E9E8AF8}"/>
              </a:ext>
            </a:extLst>
          </p:cNvPr>
          <p:cNvSpPr txBox="1"/>
          <p:nvPr/>
        </p:nvSpPr>
        <p:spPr>
          <a:xfrm>
            <a:off x="977900" y="21590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96B24"/>
                </a:solidFill>
              </a:rPr>
              <a:t>Observed strengths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3ABC9FA-9802-44A7-9DD4-7BDC90D900FC}"/>
              </a:ext>
            </a:extLst>
          </p:cNvPr>
          <p:cNvSpPr txBox="1"/>
          <p:nvPr/>
        </p:nvSpPr>
        <p:spPr>
          <a:xfrm>
            <a:off x="977900" y="2565400"/>
            <a:ext cx="4927600" cy="2463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00">
                <a:solidFill>
                  <a:srgbClr val="1A1A1A"/>
                </a:solidFill>
              </a:rPr>
              <a:t>•  Modality-agnostic architecture
•  Weight sharing: ∼2.6× fewer parameters, modest accuracy cost
•  Perceiver IO slightly edges base Perceiver on CIFAR-10
•  MLM pre-training transfers to GLUE fine-tuning
•  Fourier PE is robust and general-purpose</a:t>
            </a: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14308698-FF15-4638-87D4-E618F24DE0D8}"/>
              </a:ext>
            </a:extLst>
          </p:cNvPr>
          <p:cNvSpPr/>
          <p:nvPr/>
        </p:nvSpPr>
        <p:spPr>
          <a:xfrm>
            <a:off x="6426200" y="2006600"/>
            <a:ext cx="5334000" cy="31496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47963EC-37F5-4C98-93AC-FF25331D98C7}"/>
              </a:ext>
            </a:extLst>
          </p:cNvPr>
          <p:cNvSpPr/>
          <p:nvPr/>
        </p:nvSpPr>
        <p:spPr>
          <a:xfrm>
            <a:off x="6426200" y="2006600"/>
            <a:ext cx="5334000" cy="76200"/>
          </a:xfrm>
          <a:prstGeom prst="rect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D5F1FAE-D8C2-4931-BCDC-4E5F5E138DF9}"/>
              </a:ext>
            </a:extLst>
          </p:cNvPr>
          <p:cNvSpPr txBox="1"/>
          <p:nvPr/>
        </p:nvSpPr>
        <p:spPr>
          <a:xfrm>
            <a:off x="6629400" y="21590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C0392B"/>
                </a:solidFill>
              </a:rPr>
              <a:t>Observed limitations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79F00F01-54B5-4114-8598-A9577E0B9500}"/>
              </a:ext>
            </a:extLst>
          </p:cNvPr>
          <p:cNvSpPr txBox="1"/>
          <p:nvPr/>
        </p:nvSpPr>
        <p:spPr>
          <a:xfrm>
            <a:off x="6629400" y="2565400"/>
            <a:ext cx="4927600" cy="2463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00">
                <a:solidFill>
                  <a:srgbClr val="1A1A1A"/>
                </a:solidFill>
              </a:rPr>
              <a:t>•  Performance gap vs paper on images (∼12 pp)
•  LAMB optimizer sensitive to batch size
•  Byte-level tokenization → very long sequences for text
•  Augmentation can hurt with limited training
•  Hyperparameter tuning is time-consuming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CD5B6C75-0A2E-4A23-A0E9-B7944AB70EE9}"/>
              </a:ext>
            </a:extLst>
          </p:cNvPr>
          <p:cNvSpPr/>
          <p:nvPr/>
        </p:nvSpPr>
        <p:spPr>
          <a:xfrm>
            <a:off x="774700" y="5384800"/>
            <a:ext cx="10985500" cy="6858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328D228-9F56-43CA-BAA0-C787D49FF60F}"/>
              </a:ext>
            </a:extLst>
          </p:cNvPr>
          <p:cNvSpPr txBox="1"/>
          <p:nvPr/>
        </p:nvSpPr>
        <p:spPr>
          <a:xfrm>
            <a:off x="927100" y="5384800"/>
            <a:ext cx="106807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Central finding — positional encoding is the largest single factor in the CIFAR-10 ablation: removing it drops accuracy from 72.02% to 61.34%.</a:t>
            </a:r>
            <a:endParaRPr lang="it-IT" sz="14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25176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1FD264E-F91E-A55D-CBAB-F785673D9D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C0E7B07-24B0-E0E9-E8F8-A86F4CD55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Conclusions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A6CB1F92-CDEC-47DE-BF24-3C71A60DEDE2}"/>
              </a:ext>
            </a:extLst>
          </p:cNvPr>
          <p:cNvSpPr/>
          <p:nvPr/>
        </p:nvSpPr>
        <p:spPr>
          <a:xfrm>
            <a:off x="774700" y="2006600"/>
            <a:ext cx="5334000" cy="31496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A9055CF-89ED-41C3-BC60-B3AD8CBA799D}"/>
              </a:ext>
            </a:extLst>
          </p:cNvPr>
          <p:cNvSpPr/>
          <p:nvPr/>
        </p:nvSpPr>
        <p:spPr>
          <a:xfrm>
            <a:off x="774700" y="2006600"/>
            <a:ext cx="5334000" cy="762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077F1DD-B446-41B7-BDAB-E42F0256C5D0}"/>
              </a:ext>
            </a:extLst>
          </p:cNvPr>
          <p:cNvSpPr txBox="1"/>
          <p:nvPr/>
        </p:nvSpPr>
        <p:spPr>
          <a:xfrm>
            <a:off x="977900" y="21590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196B24"/>
                </a:solidFill>
              </a:rPr>
              <a:t>Architecture properties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7B56F0E-1B09-4CBA-8DBE-E37BAA65B94B}"/>
              </a:ext>
            </a:extLst>
          </p:cNvPr>
          <p:cNvSpPr txBox="1"/>
          <p:nvPr/>
        </p:nvSpPr>
        <p:spPr>
          <a:xfrm>
            <a:off x="977900" y="2565400"/>
            <a:ext cx="4927600" cy="2463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00">
                <a:solidFill>
                  <a:srgbClr val="1A1A1A"/>
                </a:solidFill>
              </a:rPr>
              <a:t>•  Single architecture for images, point clouds, and text
•  Linear complexity in input size
•  Memory efficiency via weight sharing (∼61%)
•  Zero CNN / RNN domain-specific assumptions
•  Output queries enable flexible structured decoding</a:t>
            </a: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535C733E-D5EA-4C2D-8109-F381D279D016}"/>
              </a:ext>
            </a:extLst>
          </p:cNvPr>
          <p:cNvSpPr/>
          <p:nvPr/>
        </p:nvSpPr>
        <p:spPr>
          <a:xfrm>
            <a:off x="6426200" y="2006600"/>
            <a:ext cx="5334000" cy="31496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C8D1BABA-AE9B-4FE9-A836-DD936829B420}"/>
              </a:ext>
            </a:extLst>
          </p:cNvPr>
          <p:cNvSpPr/>
          <p:nvPr/>
        </p:nvSpPr>
        <p:spPr>
          <a:xfrm>
            <a:off x="6426200" y="2006600"/>
            <a:ext cx="5334000" cy="76200"/>
          </a:xfrm>
          <a:prstGeom prst="rect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D2D52C4-62E9-4F0E-A374-FED4C0A1942A}"/>
              </a:ext>
            </a:extLst>
          </p:cNvPr>
          <p:cNvSpPr txBox="1"/>
          <p:nvPr/>
        </p:nvSpPr>
        <p:spPr>
          <a:xfrm>
            <a:off x="6629400" y="21590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500" b="1">
                <a:solidFill>
                  <a:srgbClr val="C0392B"/>
                </a:solidFill>
              </a:rPr>
              <a:t>Remaining limitations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A4A80D6-02DA-4A33-A03C-0A63272E6B7E}"/>
              </a:ext>
            </a:extLst>
          </p:cNvPr>
          <p:cNvSpPr txBox="1"/>
          <p:nvPr/>
        </p:nvSpPr>
        <p:spPr>
          <a:xfrm>
            <a:off x="6629400" y="2565400"/>
            <a:ext cx="4927600" cy="2463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300">
                <a:solidFill>
                  <a:srgbClr val="1A1A1A"/>
                </a:solidFill>
              </a:rPr>
              <a:t>•  Requires large compute to match specialized models
•  Heavily depends on positional encoding
•  Outperformed by efficient CNNs on vision benchmarks
•  LAMB introduces training instability at small scale
•  Latent bottleneck limits fine-grained spatial reasoning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0B65086F-9934-47BC-81A9-61B96764EA36}"/>
              </a:ext>
            </a:extLst>
          </p:cNvPr>
          <p:cNvSpPr/>
          <p:nvPr/>
        </p:nvSpPr>
        <p:spPr>
          <a:xfrm>
            <a:off x="774700" y="5384800"/>
            <a:ext cx="10985500" cy="6858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0097315-F9E0-406A-99DB-1DB9D2915F26}"/>
              </a:ext>
            </a:extLst>
          </p:cNvPr>
          <p:cNvSpPr txBox="1"/>
          <p:nvPr/>
        </p:nvSpPr>
        <p:spPr>
          <a:xfrm>
            <a:off x="927100" y="5384800"/>
            <a:ext cx="106807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A single general-purpose architecture applies to images, point clouds, and text. At the tested scale, performance depends strongly on positional encoding, latent capacity, and available compute.</a:t>
            </a:r>
            <a:endParaRPr lang="it-IT" sz="135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13158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BC80FAA-9435-E04B-A7B3-D175AA5155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lnSpcReduction="10000"/>
          </a:bodyPr>
          <a:lstStyle/>
          <a:p>
            <a:r>
              <a:rPr lang="it-IT"/>
              <a:t>Questions?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0CD1E0-52F9-E149-A57F-714D455359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Francesco Gigli  ·  Corso Vignoli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97FBA6F7-C967-CF4D-AD7D-FC03901314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Università degli Studi di Firenze  ·  Course B031278 — Deep Learning</a:t>
            </a:r>
            <a:endParaRPr lang="it-IT" dirty="0"/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8EB8E93C-7698-414F-97DD-BFDA414291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Code and models available upon request</a:t>
            </a:r>
            <a:endParaRPr lang="it-IT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55D5C45F-1F83-9949-83E6-E9AFC97601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Titolo 7">
            <a:extLst>
              <a:ext uri="{FF2B5EF4-FFF2-40B4-BE49-F238E27FC236}">
                <a16:creationId xmlns:a16="http://schemas.microsoft.com/office/drawing/2014/main" id="{D4EA38DD-12F7-FB4B-8A7D-28D03E1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Thank you!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22811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7AD2D38-0527-42EB-9BAB-BEF4CE8ED520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194ebe41-69a4-4857-8ce7-85066af63d6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11963</TotalTime>
  <Words>3694</Words>
  <Application>Microsoft Office PowerPoint</Application>
  <PresentationFormat>Widescreen</PresentationFormat>
  <Paragraphs>600</Paragraphs>
  <Slides>38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CMSS10</vt:lpstr>
      <vt:lpstr>Courier New</vt:lpstr>
      <vt:lpstr>Verdana</vt:lpstr>
      <vt:lpstr>Tema di Office</vt:lpstr>
      <vt:lpstr>Perceiver &amp; Perceiver IO Implementation and Experimental Analysis</vt:lpstr>
      <vt:lpstr>Presentazione standard di PowerPoint</vt:lpstr>
      <vt:lpstr>The Problem: Modality-Specific Architectures</vt:lpstr>
      <vt:lpstr>The Problem: Scaling bottleneck</vt:lpstr>
      <vt:lpstr>The Perceiver Solution</vt:lpstr>
      <vt:lpstr>Presentazione standard di PowerPoint</vt:lpstr>
      <vt:lpstr>Perceiver Architecture</vt:lpstr>
      <vt:lpstr>Fourier Positional Encoding</vt:lpstr>
      <vt:lpstr>Latent Transformer &amp; Weight Sharing</vt:lpstr>
      <vt:lpstr>Original Perceiver Output: Pooling Classifier</vt:lpstr>
      <vt:lpstr>Computational Complexity Analysis</vt:lpstr>
      <vt:lpstr>GELU Activation &amp; LAMB Optimizer</vt:lpstr>
      <vt:lpstr>Implementation</vt:lpstr>
      <vt:lpstr>Implementation Differences from the Paper</vt:lpstr>
      <vt:lpstr>CIFAR-10: Experimental Setup</vt:lpstr>
      <vt:lpstr>CIFAR-10: Ablation Accuracy</vt:lpstr>
      <vt:lpstr>CIFAR-10: Ablation Matrix</vt:lpstr>
      <vt:lpstr>CIFAR-10: Weight Sharing Trade-off</vt:lpstr>
      <vt:lpstr>CIFAR-10: Fixed-Permutation Test</vt:lpstr>
      <vt:lpstr>CIFAR-10: Best Perceiver Configuration</vt:lpstr>
      <vt:lpstr>ModelNet40: Setup &amp; Results</vt:lpstr>
      <vt:lpstr>ModelNet40: Augmentation Effects</vt:lpstr>
      <vt:lpstr>Perceiver IO: Structured Outputs</vt:lpstr>
      <vt:lpstr>Perceiver IO Decoder with Output Queries</vt:lpstr>
      <vt:lpstr>Output Query Design per Task</vt:lpstr>
      <vt:lpstr>CIFAR-10: Perceiver vs Perceiver IO</vt:lpstr>
      <vt:lpstr>WikiText-103: Masked Language Model Pre-training</vt:lpstr>
      <vt:lpstr>GLUE: Fine-tuning on 8 Tasks</vt:lpstr>
      <vt:lpstr>GLUE: Per-Task Results</vt:lpstr>
      <vt:lpstr>Convergence: Representative Checkpoints</vt:lpstr>
      <vt:lpstr>Attention Maps Analysis</vt:lpstr>
      <vt:lpstr>Comprehensive Results Summary</vt:lpstr>
      <vt:lpstr>Gap vs Original Papers</vt:lpstr>
      <vt:lpstr>Hardware Limitations &amp; Design Choices</vt:lpstr>
      <vt:lpstr>Possible Improvements</vt:lpstr>
      <vt:lpstr>Empirical Summary</vt:lpstr>
      <vt:lpstr>Conclusions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Gigli</dc:creator>
  <cp:lastModifiedBy>Francesco Gigli</cp:lastModifiedBy>
  <cp:revision>5</cp:revision>
  <dcterms:created xsi:type="dcterms:W3CDTF">2026-06-15T08:59:35Z</dcterms:created>
  <dcterms:modified xsi:type="dcterms:W3CDTF">2026-07-10T10:19:40Z</dcterms:modified>
</cp:coreProperties>
</file>