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0" r:id="rId2"/>
    <p:sldId id="275" r:id="rId3"/>
    <p:sldId id="276" r:id="rId4"/>
    <p:sldId id="321" r:id="rId5"/>
    <p:sldId id="322" r:id="rId6"/>
    <p:sldId id="316" r:id="rId7"/>
    <p:sldId id="314" r:id="rId8"/>
    <p:sldId id="280" r:id="rId9"/>
    <p:sldId id="279" r:id="rId10"/>
    <p:sldId id="282" r:id="rId11"/>
    <p:sldId id="283" r:id="rId12"/>
    <p:sldId id="284" r:id="rId13"/>
    <p:sldId id="285" r:id="rId14"/>
    <p:sldId id="286" r:id="rId15"/>
    <p:sldId id="287" r:id="rId16"/>
    <p:sldId id="289" r:id="rId17"/>
    <p:sldId id="290" r:id="rId18"/>
    <p:sldId id="291" r:id="rId19"/>
    <p:sldId id="292" r:id="rId20"/>
    <p:sldId id="294" r:id="rId21"/>
    <p:sldId id="295" r:id="rId22"/>
    <p:sldId id="297" r:id="rId23"/>
    <p:sldId id="323" r:id="rId47"/>
    <p:sldId id="298" r:id="rId24"/>
    <p:sldId id="299" r:id="rId25"/>
    <p:sldId id="300" r:id="rId26"/>
    <p:sldId id="302" r:id="rId27"/>
    <p:sldId id="303" r:id="rId28"/>
    <p:sldId id="304" r:id="rId29"/>
    <p:sldId id="305" r:id="rId30"/>
    <p:sldId id="324" r:id="rId48"/>
    <p:sldId id="325" r:id="rId49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262" r:id="rId3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02E61-26DD-4A1E-8E6A-E2067667E5F7}" v="386" dt="2026-06-26T11:04:36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3.xml"/><Relationship Id="rId32" Type="http://schemas.openxmlformats.org/officeDocument/2006/relationships/slide" Target="slides/slide34.xml"/><Relationship Id="rId33" Type="http://schemas.openxmlformats.org/officeDocument/2006/relationships/slide" Target="slides/slide35.xml"/><Relationship Id="rId34" Type="http://schemas.openxmlformats.org/officeDocument/2006/relationships/slide" Target="slides/slide36.xml"/><Relationship Id="rId35" Type="http://schemas.openxmlformats.org/officeDocument/2006/relationships/slide" Target="slides/slide37.xml"/><Relationship Id="rId36" Type="http://schemas.openxmlformats.org/officeDocument/2006/relationships/slide" Target="slides/slide38.xml"/><Relationship Id="rId37" Type="http://schemas.openxmlformats.org/officeDocument/2006/relationships/slide" Target="slides/slide39.xml"/><Relationship Id="rId38" Type="http://schemas.openxmlformats.org/officeDocument/2006/relationships/slide" Target="slides/slide40.xml"/><Relationship Id="rId39" Type="http://schemas.openxmlformats.org/officeDocument/2006/relationships/slide" Target="slides/slide41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microsoft.com/office/2016/11/relationships/changesInfo" Target="changesInfos/changesInfo1.xml"/><Relationship Id="rId46" Type="http://schemas.microsoft.com/office/2015/10/relationships/revisionInfo" Target="revisionInfo.xml"/><Relationship Id="rId47" Type="http://schemas.openxmlformats.org/officeDocument/2006/relationships/slide" Target="slides/slide23.xml"/><Relationship Id="rId48" Type="http://schemas.openxmlformats.org/officeDocument/2006/relationships/slide" Target="slides/slide31.xml"/><Relationship Id="rId49" Type="http://schemas.openxmlformats.org/officeDocument/2006/relationships/slide" Target="slides/slide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Gigli" userId="f89a709f7a6bca5b" providerId="LiveId" clId="{C4A6562D-4991-4ACE-B1F8-42E496B0C622}"/>
    <pc:docChg chg="undo custSel addSld delSld modSld sldOrd">
      <pc:chgData name="Francesco Gigli" userId="f89a709f7a6bca5b" providerId="LiveId" clId="{C4A6562D-4991-4ACE-B1F8-42E496B0C622}" dt="2026-06-26T14:08:48.857" v="1379" actId="1076"/>
      <pc:docMkLst>
        <pc:docMk/>
      </pc:docMkLst>
      <pc:sldChg chg="add del">
        <pc:chgData name="Francesco Gigli" userId="f89a709f7a6bca5b" providerId="LiveId" clId="{C4A6562D-4991-4ACE-B1F8-42E496B0C622}" dt="2026-06-26T08:26:54.554" v="627"/>
        <pc:sldMkLst>
          <pc:docMk/>
          <pc:sldMk cId="2332281121" sldId="262"/>
        </pc:sldMkLst>
      </pc:sldChg>
      <pc:sldChg chg="modSp del mod">
        <pc:chgData name="Francesco Gigli" userId="f89a709f7a6bca5b" providerId="LiveId" clId="{C4A6562D-4991-4ACE-B1F8-42E496B0C622}" dt="2026-06-26T13:29:24.450" v="1370" actId="47"/>
        <pc:sldMkLst>
          <pc:docMk/>
          <pc:sldMk cId="2822460831" sldId="274"/>
        </pc:sldMkLst>
      </pc:sldChg>
      <pc:sldChg chg="addSp delSp modSp mod">
        <pc:chgData name="Francesco Gigli" userId="f89a709f7a6bca5b" providerId="LiveId" clId="{C4A6562D-4991-4ACE-B1F8-42E496B0C622}" dt="2026-06-26T09:06:40.325" v="882" actId="20577"/>
        <pc:sldMkLst>
          <pc:docMk/>
          <pc:sldMk cId="1215343669" sldId="276"/>
        </pc:sldMkLst>
        <pc:spChg chg="mod">
          <ac:chgData name="Francesco Gigli" userId="f89a709f7a6bca5b" providerId="LiveId" clId="{C4A6562D-4991-4ACE-B1F8-42E496B0C622}" dt="2026-06-26T09:04:45.587" v="778" actId="1076"/>
          <ac:spMkLst>
            <pc:docMk/>
            <pc:sldMk cId="1215343669" sldId="276"/>
            <ac:spMk id="4" creationId="{A79B9830-61D5-1253-FF73-4F280D46A53B}"/>
          </ac:spMkLst>
        </pc:spChg>
        <pc:spChg chg="mod">
          <ac:chgData name="Francesco Gigli" userId="f89a709f7a6bca5b" providerId="LiveId" clId="{C4A6562D-4991-4ACE-B1F8-42E496B0C622}" dt="2026-06-26T09:04:39.526" v="776" actId="14100"/>
          <ac:spMkLst>
            <pc:docMk/>
            <pc:sldMk cId="1215343669" sldId="276"/>
            <ac:spMk id="5" creationId="{A99989DC-1BCA-404D-8A2C-A424F24F9AC8}"/>
          </ac:spMkLst>
        </pc:spChg>
        <pc:spChg chg="mod">
          <ac:chgData name="Francesco Gigli" userId="f89a709f7a6bca5b" providerId="LiveId" clId="{C4A6562D-4991-4ACE-B1F8-42E496B0C622}" dt="2026-06-26T09:04:28.681" v="775" actId="14100"/>
          <ac:spMkLst>
            <pc:docMk/>
            <pc:sldMk cId="1215343669" sldId="276"/>
            <ac:spMk id="6" creationId="{73496C9D-A997-440D-A477-CCD3631D2FFE}"/>
          </ac:spMkLst>
        </pc:spChg>
        <pc:spChg chg="mod">
          <ac:chgData name="Francesco Gigli" userId="f89a709f7a6bca5b" providerId="LiveId" clId="{C4A6562D-4991-4ACE-B1F8-42E496B0C622}" dt="2026-06-26T09:05:06.128" v="825" actId="1037"/>
          <ac:spMkLst>
            <pc:docMk/>
            <pc:sldMk cId="1215343669" sldId="276"/>
            <ac:spMk id="7" creationId="{E47BE781-BDE9-4F6D-BF99-15505C0BAC56}"/>
          </ac:spMkLst>
        </pc:spChg>
        <pc:spChg chg="mod">
          <ac:chgData name="Francesco Gigli" userId="f89a709f7a6bca5b" providerId="LiveId" clId="{C4A6562D-4991-4ACE-B1F8-42E496B0C622}" dt="2026-06-26T09:04:54.942" v="810" actId="1037"/>
          <ac:spMkLst>
            <pc:docMk/>
            <pc:sldMk cId="1215343669" sldId="276"/>
            <ac:spMk id="8" creationId="{277B1E6E-9151-41C9-8860-C0222476830B}"/>
          </ac:spMkLst>
        </pc:spChg>
        <pc:spChg chg="mod">
          <ac:chgData name="Francesco Gigli" userId="f89a709f7a6bca5b" providerId="LiveId" clId="{C4A6562D-4991-4ACE-B1F8-42E496B0C622}" dt="2026-06-26T09:05:43.620" v="874" actId="20577"/>
          <ac:spMkLst>
            <pc:docMk/>
            <pc:sldMk cId="1215343669" sldId="276"/>
            <ac:spMk id="9" creationId="{751429FB-981B-4CCE-9EBA-712549F3A7C5}"/>
          </ac:spMkLst>
        </pc:spChg>
        <pc:spChg chg="mod">
          <ac:chgData name="Francesco Gigli" userId="f89a709f7a6bca5b" providerId="LiveId" clId="{C4A6562D-4991-4ACE-B1F8-42E496B0C622}" dt="2026-06-26T09:04:54.942" v="810" actId="1037"/>
          <ac:spMkLst>
            <pc:docMk/>
            <pc:sldMk cId="1215343669" sldId="276"/>
            <ac:spMk id="10" creationId="{1D0C3AD1-30A3-46A4-9ABC-317BD81D00EC}"/>
          </ac:spMkLst>
        </pc:spChg>
        <pc:spChg chg="mod">
          <ac:chgData name="Francesco Gigli" userId="f89a709f7a6bca5b" providerId="LiveId" clId="{C4A6562D-4991-4ACE-B1F8-42E496B0C622}" dt="2026-06-26T09:05:43.001" v="873" actId="20577"/>
          <ac:spMkLst>
            <pc:docMk/>
            <pc:sldMk cId="1215343669" sldId="276"/>
            <ac:spMk id="11" creationId="{380C3E53-A290-4590-AB07-B9A6F66C1468}"/>
          </ac:spMkLst>
        </pc:spChg>
        <pc:spChg chg="mod">
          <ac:chgData name="Francesco Gigli" userId="f89a709f7a6bca5b" providerId="LiveId" clId="{C4A6562D-4991-4ACE-B1F8-42E496B0C622}" dt="2026-06-26T09:04:54.942" v="810" actId="1037"/>
          <ac:spMkLst>
            <pc:docMk/>
            <pc:sldMk cId="1215343669" sldId="276"/>
            <ac:spMk id="12" creationId="{5D7263DC-37ED-4B49-950F-0306756FC5EC}"/>
          </ac:spMkLst>
        </pc:spChg>
        <pc:spChg chg="mod">
          <ac:chgData name="Francesco Gigli" userId="f89a709f7a6bca5b" providerId="LiveId" clId="{C4A6562D-4991-4ACE-B1F8-42E496B0C622}" dt="2026-06-26T09:05:42.828" v="872" actId="20577"/>
          <ac:spMkLst>
            <pc:docMk/>
            <pc:sldMk cId="1215343669" sldId="276"/>
            <ac:spMk id="13" creationId="{609A5295-4DC2-481B-AEA7-BCA8CD30DFB4}"/>
          </ac:spMkLst>
        </pc:spChg>
        <pc:spChg chg="mod">
          <ac:chgData name="Francesco Gigli" userId="f89a709f7a6bca5b" providerId="LiveId" clId="{C4A6562D-4991-4ACE-B1F8-42E496B0C622}" dt="2026-06-26T09:04:54.942" v="810" actId="1037"/>
          <ac:spMkLst>
            <pc:docMk/>
            <pc:sldMk cId="1215343669" sldId="276"/>
            <ac:spMk id="14" creationId="{679DC7B8-B681-47AE-BD4D-4374C6D1E3B3}"/>
          </ac:spMkLst>
        </pc:spChg>
        <pc:spChg chg="mod">
          <ac:chgData name="Francesco Gigli" userId="f89a709f7a6bca5b" providerId="LiveId" clId="{C4A6562D-4991-4ACE-B1F8-42E496B0C622}" dt="2026-06-26T09:05:21.483" v="829" actId="14100"/>
          <ac:spMkLst>
            <pc:docMk/>
            <pc:sldMk cId="1215343669" sldId="276"/>
            <ac:spMk id="15" creationId="{648B9E9E-C403-49DE-956D-21C670CB8EE5}"/>
          </ac:spMkLst>
        </pc:spChg>
        <pc:spChg chg="mod">
          <ac:chgData name="Francesco Gigli" userId="f89a709f7a6bca5b" providerId="LiveId" clId="{C4A6562D-4991-4ACE-B1F8-42E496B0C622}" dt="2026-06-26T09:05:51.310" v="875" actId="14100"/>
          <ac:spMkLst>
            <pc:docMk/>
            <pc:sldMk cId="1215343669" sldId="276"/>
            <ac:spMk id="16" creationId="{C175B906-1279-4504-8FFF-FB4757B2C068}"/>
          </ac:spMkLst>
        </pc:spChg>
        <pc:spChg chg="del">
          <ac:chgData name="Francesco Gigli" userId="f89a709f7a6bca5b" providerId="LiveId" clId="{C4A6562D-4991-4ACE-B1F8-42E496B0C622}" dt="2026-06-26T08:55:17.471" v="656" actId="478"/>
          <ac:spMkLst>
            <pc:docMk/>
            <pc:sldMk cId="1215343669" sldId="276"/>
            <ac:spMk id="17" creationId="{5251AE95-1DA5-4502-8202-EC1C34487B74}"/>
          </ac:spMkLst>
        </pc:spChg>
        <pc:spChg chg="del mod">
          <ac:chgData name="Francesco Gigli" userId="f89a709f7a6bca5b" providerId="LiveId" clId="{C4A6562D-4991-4ACE-B1F8-42E496B0C622}" dt="2026-06-26T08:55:17.471" v="656" actId="478"/>
          <ac:spMkLst>
            <pc:docMk/>
            <pc:sldMk cId="1215343669" sldId="276"/>
            <ac:spMk id="18" creationId="{31310673-6690-4268-8F77-A92AB08AA31C}"/>
          </ac:spMkLst>
        </pc:spChg>
        <pc:spChg chg="del mod">
          <ac:chgData name="Francesco Gigli" userId="f89a709f7a6bca5b" providerId="LiveId" clId="{C4A6562D-4991-4ACE-B1F8-42E496B0C622}" dt="2026-06-26T08:55:17.471" v="656" actId="478"/>
          <ac:spMkLst>
            <pc:docMk/>
            <pc:sldMk cId="1215343669" sldId="276"/>
            <ac:spMk id="21" creationId="{A65B67BC-D358-4F83-A36E-E5EBCD28604D}"/>
          </ac:spMkLst>
        </pc:spChg>
        <pc:spChg chg="mod">
          <ac:chgData name="Francesco Gigli" userId="f89a709f7a6bca5b" providerId="LiveId" clId="{C4A6562D-4991-4ACE-B1F8-42E496B0C622}" dt="2026-06-26T09:06:40.325" v="882" actId="20577"/>
          <ac:spMkLst>
            <pc:docMk/>
            <pc:sldMk cId="1215343669" sldId="276"/>
            <ac:spMk id="23" creationId="{C00477AF-EB6F-4E8B-9A72-0CCBCB474D0C}"/>
          </ac:spMkLst>
        </pc:spChg>
        <pc:graphicFrameChg chg="del mod">
          <ac:chgData name="Francesco Gigli" userId="f89a709f7a6bca5b" providerId="LiveId" clId="{C4A6562D-4991-4ACE-B1F8-42E496B0C622}" dt="2026-06-26T08:55:17.471" v="656" actId="478"/>
          <ac:graphicFrameMkLst>
            <pc:docMk/>
            <pc:sldMk cId="1215343669" sldId="276"/>
            <ac:graphicFrameMk id="20" creationId="{4F55156B-D676-419B-9AE8-C8D0CAB89D42}"/>
          </ac:graphicFrameMkLst>
        </pc:graphicFrameChg>
        <pc:picChg chg="add del mod">
          <ac:chgData name="Francesco Gigli" userId="f89a709f7a6bca5b" providerId="LiveId" clId="{C4A6562D-4991-4ACE-B1F8-42E496B0C622}" dt="2026-06-26T08:59:26.240" v="752" actId="478"/>
          <ac:picMkLst>
            <pc:docMk/>
            <pc:sldMk cId="1215343669" sldId="276"/>
            <ac:picMk id="19" creationId="{BEE88A9E-B5F5-2D12-A08F-91D691F5FE04}"/>
          </ac:picMkLst>
        </pc:picChg>
        <pc:picChg chg="add mod">
          <ac:chgData name="Francesco Gigli" userId="f89a709f7a6bca5b" providerId="LiveId" clId="{C4A6562D-4991-4ACE-B1F8-42E496B0C622}" dt="2026-06-26T09:06:11.617" v="881" actId="1076"/>
          <ac:picMkLst>
            <pc:docMk/>
            <pc:sldMk cId="1215343669" sldId="276"/>
            <ac:picMk id="25" creationId="{C1E313AC-613D-8635-BE29-C1A0626E1ACC}"/>
          </ac:picMkLst>
        </pc:picChg>
        <pc:picChg chg="add mod">
          <ac:chgData name="Francesco Gigli" userId="f89a709f7a6bca5b" providerId="LiveId" clId="{C4A6562D-4991-4ACE-B1F8-42E496B0C622}" dt="2026-06-26T09:06:09.472" v="880" actId="1076"/>
          <ac:picMkLst>
            <pc:docMk/>
            <pc:sldMk cId="1215343669" sldId="276"/>
            <ac:picMk id="26" creationId="{CEE7E67F-5AC5-6905-6829-BC989AA43835}"/>
          </ac:picMkLst>
        </pc:picChg>
        <pc:picChg chg="add mod">
          <ac:chgData name="Francesco Gigli" userId="f89a709f7a6bca5b" providerId="LiveId" clId="{C4A6562D-4991-4ACE-B1F8-42E496B0C622}" dt="2026-06-26T09:06:06.079" v="879" actId="14100"/>
          <ac:picMkLst>
            <pc:docMk/>
            <pc:sldMk cId="1215343669" sldId="276"/>
            <ac:picMk id="27" creationId="{E7300981-8A09-B32E-B7C4-EEDAE3614557}"/>
          </ac:picMkLst>
        </pc:picChg>
      </pc:sldChg>
      <pc:sldChg chg="modSp add del mod">
        <pc:chgData name="Francesco Gigli" userId="f89a709f7a6bca5b" providerId="LiveId" clId="{C4A6562D-4991-4ACE-B1F8-42E496B0C622}" dt="2026-06-26T08:27:06.077" v="628" actId="207"/>
        <pc:sldMkLst>
          <pc:docMk/>
          <pc:sldMk cId="2628307212" sldId="279"/>
        </pc:sldMkLst>
        <pc:spChg chg="mod">
          <ac:chgData name="Francesco Gigli" userId="f89a709f7a6bca5b" providerId="LiveId" clId="{C4A6562D-4991-4ACE-B1F8-42E496B0C622}" dt="2026-06-26T08:27:06.077" v="628" actId="207"/>
          <ac:spMkLst>
            <pc:docMk/>
            <pc:sldMk cId="2628307212" sldId="279"/>
            <ac:spMk id="2" creationId="{AF95F253-AD08-B1BC-C8F1-1AFCA8581976}"/>
          </ac:spMkLst>
        </pc:spChg>
      </pc:sldChg>
      <pc:sldChg chg="modSp add del mod">
        <pc:chgData name="Francesco Gigli" userId="f89a709f7a6bca5b" providerId="LiveId" clId="{C4A6562D-4991-4ACE-B1F8-42E496B0C622}" dt="2026-06-26T13:56:53.373" v="1377" actId="14100"/>
        <pc:sldMkLst>
          <pc:docMk/>
          <pc:sldMk cId="1736177399" sldId="280"/>
        </pc:sldMkLst>
        <pc:spChg chg="mod">
          <ac:chgData name="Francesco Gigli" userId="f89a709f7a6bca5b" providerId="LiveId" clId="{C4A6562D-4991-4ACE-B1F8-42E496B0C622}" dt="2026-06-26T08:29:18.582" v="629" actId="207"/>
          <ac:spMkLst>
            <pc:docMk/>
            <pc:sldMk cId="1736177399" sldId="280"/>
            <ac:spMk id="2" creationId="{53C65412-2859-171C-3C20-1D3B89565ABA}"/>
          </ac:spMkLst>
        </pc:spChg>
        <pc:picChg chg="mod">
          <ac:chgData name="Francesco Gigli" userId="f89a709f7a6bca5b" providerId="LiveId" clId="{C4A6562D-4991-4ACE-B1F8-42E496B0C622}" dt="2026-06-26T13:56:53.373" v="1377" actId="14100"/>
          <ac:picMkLst>
            <pc:docMk/>
            <pc:sldMk cId="1736177399" sldId="280"/>
            <ac:picMk id="17" creationId="{00000000-0000-0000-0000-000000000000}"/>
          </ac:picMkLst>
        </pc:picChg>
      </pc:sldChg>
      <pc:sldChg chg="add del">
        <pc:chgData name="Francesco Gigli" userId="f89a709f7a6bca5b" providerId="LiveId" clId="{C4A6562D-4991-4ACE-B1F8-42E496B0C622}" dt="2026-06-26T13:56:59.191" v="1378" actId="47"/>
        <pc:sldMkLst>
          <pc:docMk/>
          <pc:sldMk cId="2066811356" sldId="281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698505060" sldId="282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078838086" sldId="283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294688998" sldId="284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376115099" sldId="285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049060376" sldId="286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985290525" sldId="287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022032366" sldId="289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385006604" sldId="290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706570745" sldId="291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667801620" sldId="292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669542203" sldId="294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4111356" sldId="295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124111434" sldId="297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824057446" sldId="298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985151815" sldId="299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901848557" sldId="300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04186826" sldId="302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963087791" sldId="303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15013059" sldId="304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527793755" sldId="305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712539712" sldId="306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817728501" sldId="307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305740726" sldId="308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433977972" sldId="309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2357254047" sldId="310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3546467433" sldId="311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992517604" sldId="312"/>
        </pc:sldMkLst>
      </pc:sldChg>
      <pc:sldChg chg="add del">
        <pc:chgData name="Francesco Gigli" userId="f89a709f7a6bca5b" providerId="LiveId" clId="{C4A6562D-4991-4ACE-B1F8-42E496B0C622}" dt="2026-06-26T08:26:54.554" v="627"/>
        <pc:sldMkLst>
          <pc:docMk/>
          <pc:sldMk cId="1631315825" sldId="313"/>
        </pc:sldMkLst>
      </pc:sldChg>
      <pc:sldChg chg="addSp delSp modSp add mod">
        <pc:chgData name="Francesco Gigli" userId="f89a709f7a6bca5b" providerId="LiveId" clId="{C4A6562D-4991-4ACE-B1F8-42E496B0C622}" dt="2026-06-26T14:08:48.857" v="1379" actId="1076"/>
        <pc:sldMkLst>
          <pc:docMk/>
          <pc:sldMk cId="2854741937" sldId="314"/>
        </pc:sldMkLst>
        <pc:spChg chg="add mod">
          <ac:chgData name="Francesco Gigli" userId="f89a709f7a6bca5b" providerId="LiveId" clId="{C4A6562D-4991-4ACE-B1F8-42E496B0C622}" dt="2026-06-17T10:32:21.059" v="231" actId="20577"/>
          <ac:spMkLst>
            <pc:docMk/>
            <pc:sldMk cId="2854741937" sldId="314"/>
            <ac:spMk id="7" creationId="{F9199AF9-D49A-E7E7-FA39-B58A38AFB16C}"/>
          </ac:spMkLst>
        </pc:spChg>
        <pc:spChg chg="add del">
          <ac:chgData name="Francesco Gigli" userId="f89a709f7a6bca5b" providerId="LiveId" clId="{C4A6562D-4991-4ACE-B1F8-42E496B0C622}" dt="2026-06-26T11:03:41.662" v="1172" actId="22"/>
          <ac:spMkLst>
            <pc:docMk/>
            <pc:sldMk cId="2854741937" sldId="314"/>
            <ac:spMk id="8" creationId="{3C262C11-0705-C5B5-F30F-DC844B01A97B}"/>
          </ac:spMkLst>
        </pc:spChg>
        <pc:spChg chg="mod">
          <ac:chgData name="Francesco Gigli" userId="f89a709f7a6bca5b" providerId="LiveId" clId="{C4A6562D-4991-4ACE-B1F8-42E496B0C622}" dt="2026-06-17T10:32:22.118" v="232" actId="20577"/>
          <ac:spMkLst>
            <pc:docMk/>
            <pc:sldMk cId="2854741937" sldId="314"/>
            <ac:spMk id="15" creationId="{DE0B5638-D561-478B-9939-BBA3CCA8461B}"/>
          </ac:spMkLst>
        </pc:spChg>
        <pc:picChg chg="add del mod">
          <ac:chgData name="Francesco Gigli" userId="f89a709f7a6bca5b" providerId="LiveId" clId="{C4A6562D-4991-4ACE-B1F8-42E496B0C622}" dt="2026-06-26T11:03:40.263" v="1169" actId="478"/>
          <ac:picMkLst>
            <pc:docMk/>
            <pc:sldMk cId="2854741937" sldId="314"/>
            <ac:picMk id="5" creationId="{EB96F87D-D115-EE8A-2B42-BED6376A5EA0}"/>
          </ac:picMkLst>
        </pc:picChg>
        <pc:picChg chg="add mod">
          <ac:chgData name="Francesco Gigli" userId="f89a709f7a6bca5b" providerId="LiveId" clId="{C4A6562D-4991-4ACE-B1F8-42E496B0C622}" dt="2026-06-26T14:08:48.857" v="1379" actId="1076"/>
          <ac:picMkLst>
            <pc:docMk/>
            <pc:sldMk cId="2854741937" sldId="314"/>
            <ac:picMk id="10" creationId="{3670A3B8-3F13-7D62-5BB5-C8046E4A1501}"/>
          </ac:picMkLst>
        </pc:picChg>
        <pc:picChg chg="del">
          <ac:chgData name="Francesco Gigli" userId="f89a709f7a6bca5b" providerId="LiveId" clId="{C4A6562D-4991-4ACE-B1F8-42E496B0C622}" dt="2026-06-26T08:37:46.257" v="630" actId="478"/>
          <ac:picMkLst>
            <pc:docMk/>
            <pc:sldMk cId="2854741937" sldId="314"/>
            <ac:picMk id="20" creationId="{00000000-0000-0000-0000-000000000000}"/>
          </ac:picMkLst>
        </pc:picChg>
      </pc:sldChg>
      <pc:sldChg chg="modSp add mod ord">
        <pc:chgData name="Francesco Gigli" userId="f89a709f7a6bca5b" providerId="LiveId" clId="{C4A6562D-4991-4ACE-B1F8-42E496B0C622}" dt="2026-06-26T13:55:17.447" v="1375"/>
        <pc:sldMkLst>
          <pc:docMk/>
          <pc:sldMk cId="3665472281" sldId="316"/>
        </pc:sldMkLst>
        <pc:spChg chg="mod">
          <ac:chgData name="Francesco Gigli" userId="f89a709f7a6bca5b" providerId="LiveId" clId="{C4A6562D-4991-4ACE-B1F8-42E496B0C622}" dt="2026-06-17T14:04:15.890" v="623" actId="1076"/>
          <ac:spMkLst>
            <pc:docMk/>
            <pc:sldMk cId="3665472281" sldId="316"/>
            <ac:spMk id="16" creationId="{1D313583-3C86-72A3-B32A-91521DA04A70}"/>
          </ac:spMkLst>
        </pc:spChg>
        <pc:spChg chg="mod">
          <ac:chgData name="Francesco Gigli" userId="f89a709f7a6bca5b" providerId="LiveId" clId="{C4A6562D-4991-4ACE-B1F8-42E496B0C622}" dt="2026-06-17T14:04:19.641" v="624" actId="1076"/>
          <ac:spMkLst>
            <pc:docMk/>
            <pc:sldMk cId="3665472281" sldId="316"/>
            <ac:spMk id="20" creationId="{6D733F30-C5DE-19F3-A0FC-65B90959B7E9}"/>
          </ac:spMkLst>
        </pc:spChg>
        <pc:spChg chg="mod">
          <ac:chgData name="Francesco Gigli" userId="f89a709f7a6bca5b" providerId="LiveId" clId="{C4A6562D-4991-4ACE-B1F8-42E496B0C622}" dt="2026-06-17T14:04:29.041" v="625" actId="1076"/>
          <ac:spMkLst>
            <pc:docMk/>
            <pc:sldMk cId="3665472281" sldId="316"/>
            <ac:spMk id="22" creationId="{08C2DFE5-F7D7-D202-D835-CA9EA7B16573}"/>
          </ac:spMkLst>
        </pc:spChg>
        <pc:picChg chg="mod">
          <ac:chgData name="Francesco Gigli" userId="f89a709f7a6bca5b" providerId="LiveId" clId="{C4A6562D-4991-4ACE-B1F8-42E496B0C622}" dt="2026-06-17T14:04:02.703" v="621" actId="1076"/>
          <ac:picMkLst>
            <pc:docMk/>
            <pc:sldMk cId="3665472281" sldId="316"/>
            <ac:picMk id="15" creationId="{00000000-0000-0000-0000-000000000000}"/>
          </ac:picMkLst>
        </pc:picChg>
      </pc:sldChg>
      <pc:sldChg chg="addSp delSp modSp add del mod">
        <pc:chgData name="Francesco Gigli" userId="f89a709f7a6bca5b" providerId="LiveId" clId="{C4A6562D-4991-4ACE-B1F8-42E496B0C622}" dt="2026-06-26T09:29:12.698" v="979"/>
        <pc:sldMkLst>
          <pc:docMk/>
          <pc:sldMk cId="3980380814" sldId="317"/>
        </pc:sldMkLst>
        <pc:spChg chg="mod">
          <ac:chgData name="Francesco Gigli" userId="f89a709f7a6bca5b" providerId="LiveId" clId="{C4A6562D-4991-4ACE-B1F8-42E496B0C622}" dt="2026-06-26T08:54:39.381" v="655" actId="20577"/>
          <ac:spMkLst>
            <pc:docMk/>
            <pc:sldMk cId="3980380814" sldId="317"/>
            <ac:spMk id="4" creationId="{F98BF1B5-4E8C-A834-C284-D8DC4B12823E}"/>
          </ac:spMkLst>
        </pc:spChg>
        <pc:spChg chg="del">
          <ac:chgData name="Francesco Gigli" userId="f89a709f7a6bca5b" providerId="LiveId" clId="{C4A6562D-4991-4ACE-B1F8-42E496B0C622}" dt="2026-06-26T09:07:09.086" v="884" actId="478"/>
          <ac:spMkLst>
            <pc:docMk/>
            <pc:sldMk cId="3980380814" sldId="317"/>
            <ac:spMk id="5" creationId="{71DD6E32-E1AD-DB09-F6BF-60A4BE0E529A}"/>
          </ac:spMkLst>
        </pc:spChg>
        <pc:spChg chg="del">
          <ac:chgData name="Francesco Gigli" userId="f89a709f7a6bca5b" providerId="LiveId" clId="{C4A6562D-4991-4ACE-B1F8-42E496B0C622}" dt="2026-06-26T09:07:10.395" v="885" actId="478"/>
          <ac:spMkLst>
            <pc:docMk/>
            <pc:sldMk cId="3980380814" sldId="317"/>
            <ac:spMk id="6" creationId="{5D72E7A9-F470-F89C-82F5-185BB65B80AF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7" creationId="{6370DD9E-00EC-EAB1-0B00-2E4B457C51D6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8" creationId="{4AD7531A-A1D7-61F0-1827-6DA8E58E32AE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9" creationId="{E8B14C63-7210-4AAE-EA89-7C7FC7A0860A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0" creationId="{389382BC-AD71-F08C-9188-259DF3136F1A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1" creationId="{4B72C3CB-87C7-25F0-C26A-21008FCB3C51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2" creationId="{CDB23AD9-E35E-3FE8-1323-BCD6AFCCD26B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3" creationId="{08BC238B-7F8B-561F-CEEB-FA5E7DCB4E69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4" creationId="{DDFDF1FB-460F-DD40-B5E1-C814DB8E14FC}"/>
          </ac:spMkLst>
        </pc:spChg>
        <pc:spChg chg="del">
          <ac:chgData name="Francesco Gigli" userId="f89a709f7a6bca5b" providerId="LiveId" clId="{C4A6562D-4991-4ACE-B1F8-42E496B0C622}" dt="2026-06-26T09:07:06.418" v="883" actId="478"/>
          <ac:spMkLst>
            <pc:docMk/>
            <pc:sldMk cId="3980380814" sldId="317"/>
            <ac:spMk id="15" creationId="{6AC276AC-7F87-1A85-2DE7-4420C4B04109}"/>
          </ac:spMkLst>
        </pc:spChg>
        <pc:spChg chg="del">
          <ac:chgData name="Francesco Gigli" userId="f89a709f7a6bca5b" providerId="LiveId" clId="{C4A6562D-4991-4ACE-B1F8-42E496B0C622}" dt="2026-06-26T09:07:14.214" v="886" actId="478"/>
          <ac:spMkLst>
            <pc:docMk/>
            <pc:sldMk cId="3980380814" sldId="317"/>
            <ac:spMk id="16" creationId="{D9EAA099-4A21-B5BD-8071-FC18A0F73CE3}"/>
          </ac:spMkLst>
        </pc:spChg>
        <pc:spChg chg="mod">
          <ac:chgData name="Francesco Gigli" userId="f89a709f7a6bca5b" providerId="LiveId" clId="{C4A6562D-4991-4ACE-B1F8-42E496B0C622}" dt="2026-06-26T09:26:57.768" v="967" actId="1037"/>
          <ac:spMkLst>
            <pc:docMk/>
            <pc:sldMk cId="3980380814" sldId="317"/>
            <ac:spMk id="17" creationId="{375F75CD-4C88-C639-A637-C5CCFC5425E8}"/>
          </ac:spMkLst>
        </pc:spChg>
        <pc:spChg chg="mod">
          <ac:chgData name="Francesco Gigli" userId="f89a709f7a6bca5b" providerId="LiveId" clId="{C4A6562D-4991-4ACE-B1F8-42E496B0C622}" dt="2026-06-26T09:26:57.768" v="967" actId="1037"/>
          <ac:spMkLst>
            <pc:docMk/>
            <pc:sldMk cId="3980380814" sldId="317"/>
            <ac:spMk id="18" creationId="{898DD8C9-8749-AB82-3D25-6AC5EF1D4112}"/>
          </ac:spMkLst>
        </pc:spChg>
        <pc:spChg chg="add del">
          <ac:chgData name="Francesco Gigli" userId="f89a709f7a6bca5b" providerId="LiveId" clId="{C4A6562D-4991-4ACE-B1F8-42E496B0C622}" dt="2026-06-26T09:21:50.485" v="891" actId="22"/>
          <ac:spMkLst>
            <pc:docMk/>
            <pc:sldMk cId="3980380814" sldId="317"/>
            <ac:spMk id="19" creationId="{268949C5-6691-3827-5D57-020A36C75321}"/>
          </ac:spMkLst>
        </pc:spChg>
        <pc:spChg chg="mod">
          <ac:chgData name="Francesco Gigli" userId="f89a709f7a6bca5b" providerId="LiveId" clId="{C4A6562D-4991-4ACE-B1F8-42E496B0C622}" dt="2026-06-26T09:28:36.038" v="977"/>
          <ac:spMkLst>
            <pc:docMk/>
            <pc:sldMk cId="3980380814" sldId="317"/>
            <ac:spMk id="21" creationId="{392EBB36-EC5B-2698-F53F-993659BFA814}"/>
          </ac:spMkLst>
        </pc:spChg>
        <pc:spChg chg="mod">
          <ac:chgData name="Francesco Gigli" userId="f89a709f7a6bca5b" providerId="LiveId" clId="{C4A6562D-4991-4ACE-B1F8-42E496B0C622}" dt="2026-06-26T09:07:22.752" v="887" actId="115"/>
          <ac:spMkLst>
            <pc:docMk/>
            <pc:sldMk cId="3980380814" sldId="317"/>
            <ac:spMk id="23" creationId="{8E6A49CE-B647-A0D6-5976-B46E209A795D}"/>
          </ac:spMkLst>
        </pc:spChg>
        <pc:spChg chg="add del">
          <ac:chgData name="Francesco Gigli" userId="f89a709f7a6bca5b" providerId="LiveId" clId="{C4A6562D-4991-4ACE-B1F8-42E496B0C622}" dt="2026-06-26T09:21:55.716" v="894" actId="22"/>
          <ac:spMkLst>
            <pc:docMk/>
            <pc:sldMk cId="3980380814" sldId="317"/>
            <ac:spMk id="25" creationId="{4B7F434D-B152-6F11-1457-D6F42318E3D9}"/>
          </ac:spMkLst>
        </pc:spChg>
        <pc:spChg chg="add del mod">
          <ac:chgData name="Francesco Gigli" userId="f89a709f7a6bca5b" providerId="LiveId" clId="{C4A6562D-4991-4ACE-B1F8-42E496B0C622}" dt="2026-06-26T09:22:02.443" v="898" actId="478"/>
          <ac:spMkLst>
            <pc:docMk/>
            <pc:sldMk cId="3980380814" sldId="317"/>
            <ac:spMk id="27" creationId="{61CC58E2-FF2C-5C41-7C3F-F50454F796A6}"/>
          </ac:spMkLst>
        </pc:spChg>
        <pc:spChg chg="add del">
          <ac:chgData name="Francesco Gigli" userId="f89a709f7a6bca5b" providerId="LiveId" clId="{C4A6562D-4991-4ACE-B1F8-42E496B0C622}" dt="2026-06-26T09:22:11.141" v="901" actId="22"/>
          <ac:spMkLst>
            <pc:docMk/>
            <pc:sldMk cId="3980380814" sldId="317"/>
            <ac:spMk id="29" creationId="{A0523CB5-3736-B273-B650-E65162DD7470}"/>
          </ac:spMkLst>
        </pc:spChg>
        <pc:graphicFrameChg chg="mod modGraphic">
          <ac:chgData name="Francesco Gigli" userId="f89a709f7a6bca5b" providerId="LiveId" clId="{C4A6562D-4991-4ACE-B1F8-42E496B0C622}" dt="2026-06-26T09:28:36.037" v="974"/>
          <ac:graphicFrameMkLst>
            <pc:docMk/>
            <pc:sldMk cId="3980380814" sldId="317"/>
            <ac:graphicFrameMk id="20" creationId="{B9DE6546-5EEE-8EF9-D8A3-7A8BD00CEFA8}"/>
          </ac:graphicFrameMkLst>
        </pc:graphicFrameChg>
        <pc:picChg chg="add mod">
          <ac:chgData name="Francesco Gigli" userId="f89a709f7a6bca5b" providerId="LiveId" clId="{C4A6562D-4991-4ACE-B1F8-42E496B0C622}" dt="2026-06-26T09:28:36.034" v="971"/>
          <ac:picMkLst>
            <pc:docMk/>
            <pc:sldMk cId="3980380814" sldId="317"/>
            <ac:picMk id="31" creationId="{DCF6ED6F-8587-3229-DD18-F4F677BB5A9A}"/>
          </ac:picMkLst>
        </pc:picChg>
      </pc:sldChg>
      <pc:sldChg chg="delSp modSp add del mod">
        <pc:chgData name="Francesco Gigli" userId="f89a709f7a6bca5b" providerId="LiveId" clId="{C4A6562D-4991-4ACE-B1F8-42E496B0C622}" dt="2026-06-26T09:40:38.181" v="994"/>
        <pc:sldMkLst>
          <pc:docMk/>
          <pc:sldMk cId="1608935821" sldId="318"/>
        </pc:sldMkLst>
        <pc:spChg chg="del mod">
          <ac:chgData name="Francesco Gigli" userId="f89a709f7a6bca5b" providerId="LiveId" clId="{C4A6562D-4991-4ACE-B1F8-42E496B0C622}" dt="2026-06-26T09:30:02.910" v="987" actId="478"/>
          <ac:spMkLst>
            <pc:docMk/>
            <pc:sldMk cId="1608935821" sldId="318"/>
            <ac:spMk id="17" creationId="{375F75CD-4C88-C639-A637-C5CCFC5425E8}"/>
          </ac:spMkLst>
        </pc:spChg>
        <pc:spChg chg="del mod">
          <ac:chgData name="Francesco Gigli" userId="f89a709f7a6bca5b" providerId="LiveId" clId="{C4A6562D-4991-4ACE-B1F8-42E496B0C622}" dt="2026-06-26T09:30:02.910" v="987" actId="478"/>
          <ac:spMkLst>
            <pc:docMk/>
            <pc:sldMk cId="1608935821" sldId="318"/>
            <ac:spMk id="18" creationId="{898DD8C9-8749-AB82-3D25-6AC5EF1D4112}"/>
          </ac:spMkLst>
        </pc:spChg>
        <pc:spChg chg="del">
          <ac:chgData name="Francesco Gigli" userId="f89a709f7a6bca5b" providerId="LiveId" clId="{C4A6562D-4991-4ACE-B1F8-42E496B0C622}" dt="2026-06-26T09:30:02.910" v="987" actId="478"/>
          <ac:spMkLst>
            <pc:docMk/>
            <pc:sldMk cId="1608935821" sldId="318"/>
            <ac:spMk id="21" creationId="{392EBB36-EC5B-2698-F53F-993659BFA814}"/>
          </ac:spMkLst>
        </pc:spChg>
        <pc:spChg chg="del mod">
          <ac:chgData name="Francesco Gigli" userId="f89a709f7a6bca5b" providerId="LiveId" clId="{C4A6562D-4991-4ACE-B1F8-42E496B0C622}" dt="2026-06-26T09:30:02.910" v="987" actId="478"/>
          <ac:spMkLst>
            <pc:docMk/>
            <pc:sldMk cId="1608935821" sldId="318"/>
            <ac:spMk id="40" creationId="{00000000-0000-0000-0000-000000000000}"/>
          </ac:spMkLst>
        </pc:spChg>
        <pc:spChg chg="del mod">
          <ac:chgData name="Francesco Gigli" userId="f89a709f7a6bca5b" providerId="LiveId" clId="{C4A6562D-4991-4ACE-B1F8-42E496B0C622}" dt="2026-06-26T09:30:02.910" v="987" actId="478"/>
          <ac:spMkLst>
            <pc:docMk/>
            <pc:sldMk cId="1608935821" sldId="318"/>
            <ac:spMk id="41" creationId="{00000000-0000-0000-0000-000000000000}"/>
          </ac:spMkLst>
        </pc:spChg>
        <pc:graphicFrameChg chg="del">
          <ac:chgData name="Francesco Gigli" userId="f89a709f7a6bca5b" providerId="LiveId" clId="{C4A6562D-4991-4ACE-B1F8-42E496B0C622}" dt="2026-06-26T09:30:02.910" v="987" actId="478"/>
          <ac:graphicFrameMkLst>
            <pc:docMk/>
            <pc:sldMk cId="1608935821" sldId="318"/>
            <ac:graphicFrameMk id="20" creationId="{B9DE6546-5EEE-8EF9-D8A3-7A8BD00CEFA8}"/>
          </ac:graphicFrameMkLst>
        </pc:graphicFrameChg>
      </pc:sldChg>
      <pc:sldChg chg="add del">
        <pc:chgData name="Francesco Gigli" userId="f89a709f7a6bca5b" providerId="LiveId" clId="{C4A6562D-4991-4ACE-B1F8-42E496B0C622}" dt="2026-06-26T09:40:51.349" v="996"/>
        <pc:sldMkLst>
          <pc:docMk/>
          <pc:sldMk cId="65911500" sldId="319"/>
        </pc:sldMkLst>
      </pc:sldChg>
      <pc:sldChg chg="modSp add del mod">
        <pc:chgData name="Francesco Gigli" userId="f89a709f7a6bca5b" providerId="LiveId" clId="{C4A6562D-4991-4ACE-B1F8-42E496B0C622}" dt="2026-06-26T09:37:57.896" v="992"/>
        <pc:sldMkLst>
          <pc:docMk/>
          <pc:sldMk cId="324238075" sldId="319"/>
        </pc:sldMkLst>
        <pc:spChg chg="mod">
          <ac:chgData name="Francesco Gigli" userId="f89a709f7a6bca5b" providerId="LiveId" clId="{C4A6562D-4991-4ACE-B1F8-42E496B0C622}" dt="2026-06-26T09:37:57.602" v="991" actId="1076"/>
          <ac:spMkLst>
            <pc:docMk/>
            <pc:sldMk cId="324238075" sldId="319"/>
            <ac:spMk id="4" creationId="{F98BF1B5-4E8C-A834-C284-D8DC4B12823E}"/>
          </ac:spMkLst>
        </pc:spChg>
      </pc:sldChg>
      <pc:sldChg chg="add del">
        <pc:chgData name="Francesco Gigli" userId="f89a709f7a6bca5b" providerId="LiveId" clId="{C4A6562D-4991-4ACE-B1F8-42E496B0C622}" dt="2026-06-26T09:40:52.632" v="998"/>
        <pc:sldMkLst>
          <pc:docMk/>
          <pc:sldMk cId="1922961856" sldId="320"/>
        </pc:sldMkLst>
      </pc:sldChg>
      <pc:sldChg chg="delSp modSp add mod">
        <pc:chgData name="Francesco Gigli" userId="f89a709f7a6bca5b" providerId="LiveId" clId="{C4A6562D-4991-4ACE-B1F8-42E496B0C622}" dt="2026-06-26T09:52:22.851" v="1168" actId="114"/>
        <pc:sldMkLst>
          <pc:docMk/>
          <pc:sldMk cId="771788994" sldId="321"/>
        </pc:sldMkLst>
        <pc:spChg chg="del mod">
          <ac:chgData name="Francesco Gigli" userId="f89a709f7a6bca5b" providerId="LiveId" clId="{C4A6562D-4991-4ACE-B1F8-42E496B0C622}" dt="2026-06-26T09:45:03.746" v="1002" actId="478"/>
          <ac:spMkLst>
            <pc:docMk/>
            <pc:sldMk cId="771788994" sldId="321"/>
            <ac:spMk id="400" creationId="{00000000-0000-0000-0000-000000000000}"/>
          </ac:spMkLst>
        </pc:spChg>
        <pc:spChg chg="del mod">
          <ac:chgData name="Francesco Gigli" userId="f89a709f7a6bca5b" providerId="LiveId" clId="{C4A6562D-4991-4ACE-B1F8-42E496B0C622}" dt="2026-06-26T09:45:30.217" v="1019" actId="478"/>
          <ac:spMkLst>
            <pc:docMk/>
            <pc:sldMk cId="771788994" sldId="321"/>
            <ac:spMk id="401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6:26.507" v="1151" actId="1035"/>
          <ac:spMkLst>
            <pc:docMk/>
            <pc:sldMk cId="771788994" sldId="321"/>
            <ac:spMk id="402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5:49.273" v="1119" actId="1038"/>
          <ac:spMkLst>
            <pc:docMk/>
            <pc:sldMk cId="771788994" sldId="321"/>
            <ac:spMk id="403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5:49.273" v="1119" actId="1038"/>
          <ac:spMkLst>
            <pc:docMk/>
            <pc:sldMk cId="771788994" sldId="321"/>
            <ac:spMk id="404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52:01.374" v="1162" actId="20577"/>
          <ac:spMkLst>
            <pc:docMk/>
            <pc:sldMk cId="771788994" sldId="321"/>
            <ac:spMk id="405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52:22.851" v="1168" actId="114"/>
          <ac:spMkLst>
            <pc:docMk/>
            <pc:sldMk cId="771788994" sldId="321"/>
            <ac:spMk id="406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6:20.610" v="1138" actId="1036"/>
          <ac:spMkLst>
            <pc:docMk/>
            <pc:sldMk cId="771788994" sldId="321"/>
            <ac:spMk id="408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6:20.610" v="1138" actId="1036"/>
          <ac:spMkLst>
            <pc:docMk/>
            <pc:sldMk cId="771788994" sldId="321"/>
            <ac:spMk id="409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09:46:20.610" v="1138" actId="1036"/>
          <ac:spMkLst>
            <pc:docMk/>
            <pc:sldMk cId="771788994" sldId="321"/>
            <ac:spMk id="410" creationId="{00000000-0000-0000-0000-000000000000}"/>
          </ac:spMkLst>
        </pc:spChg>
        <pc:graphicFrameChg chg="modGraphic">
          <ac:chgData name="Francesco Gigli" userId="f89a709f7a6bca5b" providerId="LiveId" clId="{C4A6562D-4991-4ACE-B1F8-42E496B0C622}" dt="2026-06-26T09:46:05.456" v="1123" actId="14100"/>
          <ac:graphicFrameMkLst>
            <pc:docMk/>
            <pc:sldMk cId="771788994" sldId="321"/>
            <ac:graphicFrameMk id="407" creationId="{00000000-0000-0000-0000-000000000000}"/>
          </ac:graphicFrameMkLst>
        </pc:graphicFrameChg>
        <pc:picChg chg="mod">
          <ac:chgData name="Francesco Gigli" userId="f89a709f7a6bca5b" providerId="LiveId" clId="{C4A6562D-4991-4ACE-B1F8-42E496B0C622}" dt="2026-06-26T09:45:26.105" v="1018" actId="1076"/>
          <ac:picMkLst>
            <pc:docMk/>
            <pc:sldMk cId="771788994" sldId="321"/>
            <ac:picMk id="31" creationId="{DCF6ED6F-8587-3229-DD18-F4F677BB5A9A}"/>
          </ac:picMkLst>
        </pc:picChg>
        <pc:picChg chg="mod">
          <ac:chgData name="Francesco Gigli" userId="f89a709f7a6bca5b" providerId="LiveId" clId="{C4A6562D-4991-4ACE-B1F8-42E496B0C622}" dt="2026-06-26T09:45:49.273" v="1119" actId="1038"/>
          <ac:picMkLst>
            <pc:docMk/>
            <pc:sldMk cId="771788994" sldId="321"/>
            <ac:picMk id="411" creationId="{00000000-0000-0000-0000-000000000000}"/>
          </ac:picMkLst>
        </pc:picChg>
        <pc:picChg chg="mod">
          <ac:chgData name="Francesco Gigli" userId="f89a709f7a6bca5b" providerId="LiveId" clId="{C4A6562D-4991-4ACE-B1F8-42E496B0C622}" dt="2026-06-26T09:45:49.273" v="1119" actId="1038"/>
          <ac:picMkLst>
            <pc:docMk/>
            <pc:sldMk cId="771788994" sldId="321"/>
            <ac:picMk id="412" creationId="{00000000-0000-0000-0000-000000000000}"/>
          </ac:picMkLst>
        </pc:picChg>
      </pc:sldChg>
      <pc:sldChg chg="addSp delSp modSp add mod ord">
        <pc:chgData name="Francesco Gigli" userId="f89a709f7a6bca5b" providerId="LiveId" clId="{C4A6562D-4991-4ACE-B1F8-42E496B0C622}" dt="2026-06-26T13:29:14.250" v="1369"/>
        <pc:sldMkLst>
          <pc:docMk/>
          <pc:sldMk cId="1525083133" sldId="322"/>
        </pc:sldMkLst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5" creationId="{67E54837-3AE8-7FD0-275E-B99EC215BC68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6" creationId="{671E686A-987B-7656-3BFC-CC78A2951260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1" creationId="{AE81820B-AED3-FBB8-D30F-99FD41D54F1C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3" creationId="{41789B2F-7CD7-9CC8-4077-413F94790DB3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4" creationId="{65BA17C5-903C-3D34-81EA-C25DAAA21243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6" creationId="{FBDDD26A-37C6-6656-FB55-14E970AD17D6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7" creationId="{9BEBBC34-021D-8C7C-54EB-839E7CAC7D5F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8" creationId="{784FBDEC-D66B-8904-5383-F6F054DD8794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19" creationId="{A283C60E-A64E-A0A9-1AD3-364B0301B456}"/>
          </ac:spMkLst>
        </pc:spChg>
        <pc:spChg chg="add del">
          <ac:chgData name="Francesco Gigli" userId="f89a709f7a6bca5b" providerId="LiveId" clId="{C4A6562D-4991-4ACE-B1F8-42E496B0C622}" dt="2026-06-26T11:08:34.512" v="1187" actId="22"/>
          <ac:spMkLst>
            <pc:docMk/>
            <pc:sldMk cId="1525083133" sldId="322"/>
            <ac:spMk id="22" creationId="{88A70461-DD35-4447-B3A2-05C7E891D336}"/>
          </ac:spMkLst>
        </pc:spChg>
        <pc:spChg chg="del">
          <ac:chgData name="Francesco Gigli" userId="f89a709f7a6bca5b" providerId="LiveId" clId="{C4A6562D-4991-4ACE-B1F8-42E496B0C622}" dt="2026-06-26T11:05:41.293" v="1184" actId="478"/>
          <ac:spMkLst>
            <pc:docMk/>
            <pc:sldMk cId="1525083133" sldId="322"/>
            <ac:spMk id="26" creationId="{BF9BB10F-64F5-2608-1AC8-254E215C269C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32" creationId="{A532F7BD-8D0A-FE82-C488-6E6AE7245AB7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34" creationId="{88CBC763-C437-9FDB-D54E-290D78216946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36" creationId="{79052DBA-C4A4-EA4B-EC7B-1A7A8B30EE0E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38" creationId="{76F05E4D-3971-4121-6266-4A2F134DC19C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40" creationId="{946ABF13-AAF1-D795-C12C-2A98A5937151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42" creationId="{F4B21885-99A8-CB43-6AB0-F93141589D62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44" creationId="{B1A40D28-C25A-9955-E811-3EE29FEBA23D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46" creationId="{D042A1FD-8FB8-C48F-B67B-B9F9B5BF7015}"/>
          </ac:spMkLst>
        </pc:spChg>
        <pc:spChg chg="add del mod">
          <ac:chgData name="Francesco Gigli" userId="f89a709f7a6bca5b" providerId="LiveId" clId="{C4A6562D-4991-4ACE-B1F8-42E496B0C622}" dt="2026-06-26T13:26:48.837" v="1296" actId="22"/>
          <ac:spMkLst>
            <pc:docMk/>
            <pc:sldMk cId="1525083133" sldId="322"/>
            <ac:spMk id="48" creationId="{A3F088F5-326B-05BD-08B0-E2E81E2DC941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54" creationId="{30EC1437-6CDE-8C1A-A196-49B43B66ACA6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56" creationId="{0DD70F48-4C36-0CFB-0391-E82D5CAF13FB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58" creationId="{CFB004B6-6773-1961-E59F-1569F8C257D6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60" creationId="{B7EB06D7-7604-67DF-12B1-A0ACFF6AD24A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62" creationId="{0CC7C421-E172-9522-8696-254A5C96EBCC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64" creationId="{B2905C55-F654-837E-4934-D143C971EA6A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66" creationId="{79D4B34A-BB13-B250-8FAE-517008CDEF99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68" creationId="{0FDECC71-2436-FE19-1928-1F5ADA155866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70" creationId="{E360B65F-CE18-6EB6-F7B8-334A72A232C8}"/>
          </ac:spMkLst>
        </pc:spChg>
        <pc:spChg chg="add mod">
          <ac:chgData name="Francesco Gigli" userId="f89a709f7a6bca5b" providerId="LiveId" clId="{C4A6562D-4991-4ACE-B1F8-42E496B0C622}" dt="2026-06-26T13:27:05.770" v="1337" actId="1036"/>
          <ac:spMkLst>
            <pc:docMk/>
            <pc:sldMk cId="1525083133" sldId="322"/>
            <ac:spMk id="72" creationId="{A71C4BAB-1D36-D18A-3E35-BDC9256C256F}"/>
          </ac:spMkLst>
        </pc:spChg>
        <pc:spChg chg="add mod">
          <ac:chgData name="Francesco Gigli" userId="f89a709f7a6bca5b" providerId="LiveId" clId="{C4A6562D-4991-4ACE-B1F8-42E496B0C622}" dt="2026-06-26T13:27:59.606" v="1367" actId="1076"/>
          <ac:spMkLst>
            <pc:docMk/>
            <pc:sldMk cId="1525083133" sldId="322"/>
            <ac:spMk id="78" creationId="{56D4960A-621D-B99C-AAE3-C08B8562EF6F}"/>
          </ac:spMkLst>
        </pc:spChg>
        <pc:spChg chg="add mod">
          <ac:chgData name="Francesco Gigli" userId="f89a709f7a6bca5b" providerId="LiveId" clId="{C4A6562D-4991-4ACE-B1F8-42E496B0C622}" dt="2026-06-26T13:27:59.606" v="1367" actId="1076"/>
          <ac:spMkLst>
            <pc:docMk/>
            <pc:sldMk cId="1525083133" sldId="322"/>
            <ac:spMk id="80" creationId="{3204D644-B32B-B51D-E006-FC8277885136}"/>
          </ac:spMkLst>
        </pc:spChg>
        <pc:picChg chg="add del mod">
          <ac:chgData name="Francesco Gigli" userId="f89a709f7a6bca5b" providerId="LiveId" clId="{C4A6562D-4991-4ACE-B1F8-42E496B0C622}" dt="2026-06-26T13:26:40.259" v="1251" actId="478"/>
          <ac:picMkLst>
            <pc:docMk/>
            <pc:sldMk cId="1525083133" sldId="322"/>
            <ac:picMk id="28" creationId="{FE674A98-EC69-D378-E4BB-5B75FC922252}"/>
          </ac:picMkLst>
        </pc:picChg>
        <pc:picChg chg="add del mod">
          <ac:chgData name="Francesco Gigli" userId="f89a709f7a6bca5b" providerId="LiveId" clId="{C4A6562D-4991-4ACE-B1F8-42E496B0C622}" dt="2026-06-26T13:26:39.896" v="1250" actId="478"/>
          <ac:picMkLst>
            <pc:docMk/>
            <pc:sldMk cId="1525083133" sldId="322"/>
            <ac:picMk id="30" creationId="{26492996-3C78-A7AA-2488-0188D5036DBE}"/>
          </ac:picMkLst>
        </pc:picChg>
        <pc:picChg chg="add del mod">
          <ac:chgData name="Francesco Gigli" userId="f89a709f7a6bca5b" providerId="LiveId" clId="{C4A6562D-4991-4ACE-B1F8-42E496B0C622}" dt="2026-06-26T13:26:48.837" v="1296" actId="22"/>
          <ac:picMkLst>
            <pc:docMk/>
            <pc:sldMk cId="1525083133" sldId="322"/>
            <ac:picMk id="52" creationId="{82415AC6-CB80-6008-343F-9229A9C8202F}"/>
          </ac:picMkLst>
        </pc:picChg>
        <pc:picChg chg="add del">
          <ac:chgData name="Francesco Gigli" userId="f89a709f7a6bca5b" providerId="LiveId" clId="{C4A6562D-4991-4ACE-B1F8-42E496B0C622}" dt="2026-06-26T13:27:21.191" v="1340" actId="478"/>
          <ac:picMkLst>
            <pc:docMk/>
            <pc:sldMk cId="1525083133" sldId="322"/>
            <ac:picMk id="82" creationId="{0D2A1A2A-7C09-3F0B-AB55-A09AF7C3FDB3}"/>
          </ac:picMkLst>
        </pc:picChg>
      </pc:sldChg>
      <pc:sldChg chg="new del mod ord setBg">
        <pc:chgData name="Francesco Gigli" userId="f89a709f7a6bca5b" providerId="LiveId" clId="{C4A6562D-4991-4ACE-B1F8-42E496B0C622}" dt="2026-06-26T13:14:22.064" v="1209"/>
        <pc:sldMkLst>
          <pc:docMk/>
          <pc:sldMk cId="2999198495" sldId="323"/>
        </pc:sldMkLst>
      </pc:sldChg>
      <pc:sldChg chg="add del">
        <pc:chgData name="Francesco Gigli" userId="f89a709f7a6bca5b" providerId="LiveId" clId="{C4A6562D-4991-4ACE-B1F8-42E496B0C622}" dt="2026-06-26T13:14:32.445" v="1211"/>
        <pc:sldMkLst>
          <pc:docMk/>
          <pc:sldMk cId="2876242128" sldId="324"/>
        </pc:sldMkLst>
      </pc:sldChg>
      <pc:sldChg chg="add del">
        <pc:chgData name="Francesco Gigli" userId="f89a709f7a6bca5b" providerId="LiveId" clId="{C4A6562D-4991-4ACE-B1F8-42E496B0C622}" dt="2026-06-26T13:14:34.103" v="1213"/>
        <pc:sldMkLst>
          <pc:docMk/>
          <pc:sldMk cId="3304696998" sldId="325"/>
        </pc:sldMkLst>
      </pc:sldChg>
      <pc:sldChg chg="addSp delSp modSp add del mod">
        <pc:chgData name="Francesco Gigli" userId="f89a709f7a6bca5b" providerId="LiveId" clId="{C4A6562D-4991-4ACE-B1F8-42E496B0C622}" dt="2026-06-26T13:27:41.785" v="1366" actId="47"/>
        <pc:sldMkLst>
          <pc:docMk/>
          <pc:sldMk cId="3165843663" sldId="326"/>
        </pc:sldMkLst>
        <pc:spChg chg="del">
          <ac:chgData name="Francesco Gigli" userId="f89a709f7a6bca5b" providerId="LiveId" clId="{C4A6562D-4991-4ACE-B1F8-42E496B0C622}" dt="2026-06-26T13:17:09.728" v="1216" actId="478"/>
          <ac:spMkLst>
            <pc:docMk/>
            <pc:sldMk cId="3165843663" sldId="326"/>
            <ac:spMk id="201" creationId="{00000000-0000-0000-0000-000000000000}"/>
          </ac:spMkLst>
        </pc:spChg>
        <pc:spChg chg="del mod">
          <ac:chgData name="Francesco Gigli" userId="f89a709f7a6bca5b" providerId="LiveId" clId="{C4A6562D-4991-4ACE-B1F8-42E496B0C622}" dt="2026-06-26T13:17:07.671" v="1215" actId="478"/>
          <ac:spMkLst>
            <pc:docMk/>
            <pc:sldMk cId="3165843663" sldId="326"/>
            <ac:spMk id="202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13:19:00.514" v="1248" actId="1076"/>
          <ac:spMkLst>
            <pc:docMk/>
            <pc:sldMk cId="3165843663" sldId="326"/>
            <ac:spMk id="203" creationId="{00000000-0000-0000-0000-000000000000}"/>
          </ac:spMkLst>
        </pc:spChg>
        <pc:spChg chg="mod">
          <ac:chgData name="Francesco Gigli" userId="f89a709f7a6bca5b" providerId="LiveId" clId="{C4A6562D-4991-4ACE-B1F8-42E496B0C622}" dt="2026-06-26T13:19:03.964" v="1249" actId="1076"/>
          <ac:spMkLst>
            <pc:docMk/>
            <pc:sldMk cId="3165843663" sldId="326"/>
            <ac:spMk id="204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9.764" v="1228" actId="478"/>
          <ac:spMkLst>
            <pc:docMk/>
            <pc:sldMk cId="3165843663" sldId="326"/>
            <ac:spMk id="205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8.485" v="1227" actId="478"/>
          <ac:spMkLst>
            <pc:docMk/>
            <pc:sldMk cId="3165843663" sldId="326"/>
            <ac:spMk id="206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41.076" v="1229" actId="478"/>
          <ac:spMkLst>
            <pc:docMk/>
            <pc:sldMk cId="3165843663" sldId="326"/>
            <ac:spMk id="20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41.780" v="1230" actId="478"/>
          <ac:spMkLst>
            <pc:docMk/>
            <pc:sldMk cId="3165843663" sldId="326"/>
            <ac:spMk id="208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11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32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33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3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38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41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51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5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59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17.258" v="1217" actId="478"/>
          <ac:spMkLst>
            <pc:docMk/>
            <pc:sldMk cId="3165843663" sldId="326"/>
            <ac:spMk id="269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20.919" v="1218" actId="478"/>
          <ac:spMkLst>
            <pc:docMk/>
            <pc:sldMk cId="3165843663" sldId="326"/>
            <ac:spMk id="274" creationId="{00000000-0000-0000-0000-000000000000}"/>
          </ac:spMkLst>
        </pc:spChg>
        <pc:spChg chg="del mod">
          <ac:chgData name="Francesco Gigli" userId="f89a709f7a6bca5b" providerId="LiveId" clId="{C4A6562D-4991-4ACE-B1F8-42E496B0C622}" dt="2026-06-26T13:17:22.884" v="1221" actId="478"/>
          <ac:spMkLst>
            <pc:docMk/>
            <pc:sldMk cId="3165843663" sldId="326"/>
            <ac:spMk id="275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22.357" v="1220" actId="478"/>
          <ac:spMkLst>
            <pc:docMk/>
            <pc:sldMk cId="3165843663" sldId="326"/>
            <ac:spMk id="276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03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1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18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2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35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36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38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47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60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17:31.335" v="1224" actId="478"/>
          <ac:spMkLst>
            <pc:docMk/>
            <pc:sldMk cId="3165843663" sldId="326"/>
            <ac:spMk id="363" creationId="{00000000-0000-0000-0000-000000000000}"/>
          </ac:spMkLst>
        </pc:spChg>
        <pc:spChg chg="del">
          <ac:chgData name="Francesco Gigli" userId="f89a709f7a6bca5b" providerId="LiveId" clId="{C4A6562D-4991-4ACE-B1F8-42E496B0C622}" dt="2026-06-26T13:27:12.205" v="1338" actId="478"/>
          <ac:spMkLst>
            <pc:docMk/>
            <pc:sldMk cId="3165843663" sldId="326"/>
            <ac:spMk id="387" creationId="{00000000-0000-0000-0000-000000000000}"/>
          </ac:spMkLst>
        </pc:spChg>
        <pc:picChg chg="add mod">
          <ac:chgData name="Francesco Gigli" userId="f89a709f7a6bca5b" providerId="LiveId" clId="{C4A6562D-4991-4ACE-B1F8-42E496B0C622}" dt="2026-06-26T13:18:53.758" v="1247" actId="14100"/>
          <ac:picMkLst>
            <pc:docMk/>
            <pc:sldMk cId="3165843663" sldId="326"/>
            <ac:picMk id="3" creationId="{7B019C94-FB38-A032-AB60-77F2EF153A8E}"/>
          </ac:picMkLst>
        </pc:picChg>
        <pc:picChg chg="add mod">
          <ac:chgData name="Francesco Gigli" userId="f89a709f7a6bca5b" providerId="LiveId" clId="{C4A6562D-4991-4ACE-B1F8-42E496B0C622}" dt="2026-06-26T13:18:48.524" v="1246" actId="1076"/>
          <ac:picMkLst>
            <pc:docMk/>
            <pc:sldMk cId="3165843663" sldId="326"/>
            <ac:picMk id="5" creationId="{21D4E8B5-0FDC-580D-D1A9-45773396BCAB}"/>
          </ac:picMkLst>
        </pc:picChg>
      </pc:sldChg>
      <pc:sldMasterChg chg="delSldLayout">
        <pc:chgData name="Francesco Gigli" userId="f89a709f7a6bca5b" providerId="LiveId" clId="{C4A6562D-4991-4ACE-B1F8-42E496B0C622}" dt="2026-06-26T08:26:52.437" v="626" actId="47"/>
        <pc:sldMasterMkLst>
          <pc:docMk/>
          <pc:sldMasterMk cId="534383360" sldId="2147483648"/>
        </pc:sldMasterMkLst>
        <pc:sldLayoutChg chg="del">
          <pc:chgData name="Francesco Gigli" userId="f89a709f7a6bca5b" providerId="LiveId" clId="{C4A6562D-4991-4ACE-B1F8-42E496B0C622}" dt="2026-06-26T08:26:52.437" v="626" actId="47"/>
          <pc:sldLayoutMkLst>
            <pc:docMk/>
            <pc:sldMasterMk cId="534383360" sldId="2147483648"/>
            <pc:sldLayoutMk cId="2629593913" sldId="2147483662"/>
          </pc:sldLayoutMkLst>
        </pc:sldLayoutChg>
      </pc:sldMaster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Accuracy by configuration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0"/>
            <c:bubble3D val="0"/>
            <c:spPr>
              <a:solidFill>
                <a:srgbClr val="9DB8C6"/>
              </a:solidFill>
            </c:spPr>
            <c:extLst>
              <c:ext xmlns:c16="http://schemas.microsoft.com/office/drawing/2014/chart" uri="{C3380CC4-5D6E-409C-BE32-E72D297353CC}">
                <c16:uniqueId val="{00000001-F2C5-4761-AB16-2F17FDFB64A6}"/>
              </c:ext>
            </c:extLst>
          </c:dPt>
          <c:dPt>
            <c:idx val="1"/>
            <c:invertIfNegative val="0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3-F2C5-4761-AB16-2F17FDFB64A6}"/>
              </c:ext>
            </c:extLst>
          </c:dPt>
          <c:dPt>
            <c:idx val="2"/>
            <c:invertIfNegative val="0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5-F2C5-4761-AB16-2F17FDFB64A6}"/>
              </c:ext>
            </c:extLst>
          </c:dPt>
          <c:dPt>
            <c:idx val="3"/>
            <c:invertIfNegative val="0"/>
            <c:bubble3D val="0"/>
            <c:spPr>
              <a:solidFill>
                <a:srgbClr val="9DB8C6"/>
              </a:solidFill>
            </c:spPr>
            <c:extLst>
              <c:ext xmlns:c16="http://schemas.microsoft.com/office/drawing/2014/chart" uri="{C3380CC4-5D6E-409C-BE32-E72D297353CC}">
                <c16:uniqueId val="{00000007-F2C5-4761-AB16-2F17FDFB64A6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69.69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2C5-4761-AB16-2F17FDFB64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78.12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2C5-4761-AB16-2F17FDFB64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/>
                      <a:t>77.60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2C5-4761-AB16-2F17FDFB64A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1"/>
                      <a:t>73.85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2C5-4761-AB16-2F17FDFB64A6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Baseline</c:v>
              </c:pt>
              <c:pt idx="1">
                <c:v>Fourier perm</c:v>
              </c:pt>
              <c:pt idx="2">
                <c:v>Learned perm</c:v>
              </c:pt>
              <c:pt idx="3">
                <c:v>No WS</c:v>
              </c:pt>
            </c:strLit>
          </c:cat>
          <c:val>
            <c:numLit>
              <c:formatCode>General</c:formatCode>
              <c:ptCount val="4"/>
              <c:pt idx="0">
                <c:v>69.69</c:v>
              </c:pt>
              <c:pt idx="1">
                <c:v>78.12</c:v>
              </c:pt>
              <c:pt idx="2">
                <c:v>77.599999999999994</c:v>
              </c:pt>
              <c:pt idx="3">
                <c:v>73.849999999999994</c:v>
              </c:pt>
            </c:numLit>
          </c:val>
          <c:extLst>
            <c:ext xmlns:c16="http://schemas.microsoft.com/office/drawing/2014/chart" uri="{C3380CC4-5D6E-409C-BE32-E72D297353CC}">
              <c16:uniqueId val="{00000008-F2C5-4761-AB16-2F17FDFB6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80"/>
          <c:min val="6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  <a:endParaRPr lang="en-US"/>
          </a:p>
        </c:txPr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Accuracy by augmentation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9826-45E1-990A-6A130EE3FBD2}"/>
              </c:ext>
            </c:extLst>
          </c:dPt>
          <c:dPt>
            <c:idx val="1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3-9826-45E1-990A-6A130EE3FBD2}"/>
              </c:ext>
            </c:extLst>
          </c:dPt>
          <c:dPt>
            <c:idx val="2"/>
            <c:invertIfNegative val="1"/>
            <c:bubble3D val="0"/>
            <c:spPr>
              <a:solidFill>
                <a:srgbClr val="E97132"/>
              </a:solidFill>
            </c:spPr>
            <c:extLst>
              <c:ext xmlns:c16="http://schemas.microsoft.com/office/drawing/2014/chart" uri="{C3380CC4-5D6E-409C-BE32-E72D297353CC}">
                <c16:uniqueId val="{00000005-9826-45E1-990A-6A130EE3FBD2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84.24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826-45E1-990A-6A130EE3FBD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83.67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826-45E1-990A-6A130EE3FBD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1"/>
                      <a:t>83.14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826-45E1-990A-6A130EE3FBD2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Scale</c:v>
              </c:pt>
              <c:pt idx="1">
                <c:v>+ Translation</c:v>
              </c:pt>
              <c:pt idx="2">
                <c:v>+ Rotation</c:v>
              </c:pt>
            </c:strLit>
          </c:cat>
          <c:val>
            <c:numLit>
              <c:formatCode>General</c:formatCode>
              <c:ptCount val="3"/>
              <c:pt idx="0">
                <c:v>84.24</c:v>
              </c:pt>
              <c:pt idx="1">
                <c:v>83.67</c:v>
              </c:pt>
              <c:pt idx="2">
                <c:v>83.14</c:v>
              </c:pt>
            </c:numLit>
          </c:val>
          <c:extLst>
            <c:ext xmlns:c16="http://schemas.microsoft.com/office/drawing/2014/chart" uri="{C3380CC4-5D6E-409C-BE32-E72D297353CC}">
              <c16:uniqueId val="{00000006-9826-45E1-990A-6A130EE3F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86"/>
          <c:min val="8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it-IT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CIFAR-10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invertIfNegative val="1"/>
          <c:dPt>
            <c:idx val="0"/>
            <c:invertIfNegative val="1"/>
            <c:bubble3D val="0"/>
            <c:spPr>
              <a:solidFill>
                <a:srgbClr val="156082"/>
              </a:solidFill>
            </c:spPr>
            <c:extLst>
              <c:ext xmlns:c16="http://schemas.microsoft.com/office/drawing/2014/chart" uri="{C3380CC4-5D6E-409C-BE32-E72D297353CC}">
                <c16:uniqueId val="{00000001-921E-4B39-9B6A-5CC4383FD930}"/>
              </c:ext>
            </c:extLst>
          </c:dPt>
          <c:dPt>
            <c:idx val="1"/>
            <c:invertIfNegative val="1"/>
            <c:bubble3D val="0"/>
            <c:spPr>
              <a:solidFill>
                <a:srgbClr val="196B24"/>
              </a:solidFill>
            </c:spPr>
            <c:extLst>
              <c:ext xmlns:c16="http://schemas.microsoft.com/office/drawing/2014/chart" uri="{C3380CC4-5D6E-409C-BE32-E72D297353CC}">
                <c16:uniqueId val="{00000003-921E-4B39-9B6A-5CC4383FD93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/>
                      <a:t>78.12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1E-4B39-9B6A-5CC4383FD93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1"/>
                      <a:t>78.20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21E-4B39-9B6A-5CC4383FD930}"/>
                </c:ext>
              </c:extLst>
            </c:dLbl>
            <c:numFmt formatCode="0.00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Best Perceiver</c:v>
              </c:pt>
              <c:pt idx="1">
                <c:v>Perceiver IO</c:v>
              </c:pt>
            </c:strLit>
          </c:cat>
          <c:val>
            <c:numLit>
              <c:formatCode>General</c:formatCode>
              <c:ptCount val="2"/>
              <c:pt idx="0">
                <c:v>78.12</c:v>
              </c:pt>
              <c:pt idx="1">
                <c:v>78.2</c:v>
              </c:pt>
            </c:numLit>
          </c:val>
          <c:extLst>
            <c:ext xmlns:c16="http://schemas.microsoft.com/office/drawing/2014/chart" uri="{C3380CC4-5D6E-409C-BE32-E72D297353CC}">
              <c16:uniqueId val="{00000004-921E-4B39-9B6A-5CC4383FD9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79"/>
          <c:min val="77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  <c:majorUnit val="1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1425F-F4CF-4288-A706-0B2217E5AD63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3DA05-E672-4CEF-B475-4A5D6C27BF3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64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latinLnBrk="0"/>
            <a:endParaRPr lang="it-IT" sz="12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3110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E7D7B2-511C-5746-97D1-507EEDB38854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662012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1C781C4-B577-A127-8A3D-16E1CE377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D3DA16C-22B6-1D03-F512-379958E08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FAE8F10-64F1-6384-0F18-296CA2BCA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30C313-F1F4-98CA-82BC-84551304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F92A44-6B0E-71EA-CB3A-B5E359AA1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7174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95519D-5BC0-9ABF-DB6A-26E9B0F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200BA4-C6F8-5729-92DD-7A0968DBF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6A5C7E-6F76-8980-2CBC-18E422D1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88F5A6-ED23-BBC4-617D-0DFD1B3B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D516E22-1E6E-517E-E7B5-DB8A9CB5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496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4DAA80-2284-9B75-846B-1346331F5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7B3CF5B-D866-5D3A-011B-D485BF836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5F11FF-5B0A-48BB-060F-4B9867DE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926F39-CF9F-6342-3F26-9484E492A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BB825C-F44F-775E-ADC6-3EB02926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116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E4F4EB-0D3F-D504-C61E-7C8E17A0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C4D7DD-0260-3BD2-A298-0CDBCED6B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49253D8-E0F8-D579-432D-A96691ACD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59DC75-765B-E7EA-146D-42319DC9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15416A-0AF9-D0F4-6679-AE7C2DC76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D5ADB72-008B-0ADE-436E-6955C5C1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27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AE8958-2A6C-ECB7-C43F-9054311B7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8ADE126-BCE2-71A1-28C8-EA0C49EC5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0061AB-4022-1209-3C39-AD95BC805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4921737-8045-F2E3-974E-C25CECABA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61C50C8-1944-836C-5527-26F074CC2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D520CF4-2292-4671-2CF9-9788349E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573B1B2-FAB1-4C38-91D4-9147DED48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2B77629-0E7E-8F2E-F8D9-380B1B597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50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D76EC7-C343-E7BF-DBDC-2FD02506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C579CA5-1A46-BDDE-EE4B-7454063E4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F02A437-4EB3-97E9-45E5-4ED4AD6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388D24E-F1B2-8948-9866-A0D8C498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395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E3E440-BD9D-6A66-7879-7C395BFAC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BB3621C-0226-62D0-0E1A-1F37C7BB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EBB9B97-640B-3F18-0BDD-66113E712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4207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BAEA89-A143-5D22-9DE9-76DCC0C7F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56D109-ABC7-7181-A2B9-F7B57E134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77317CB-43E1-8462-CE71-0FAC2A0CF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D35213-79DC-39CE-01C3-EF4F9A7E2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5715372-C64C-0A2B-8F0F-A573FFAA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46A8D8-1875-E6A9-08F0-36D5CBD7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6002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C5FB2-2884-2CF9-E8C9-44139647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DA297E7-3523-1B19-8068-60D3DE9E7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847F6A8-D70F-1067-9E63-CD306909A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A4F0A40-6FAA-8FA0-AFA0-9F8CA007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D3D02D-7A78-4C69-F688-086FE0AA5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B1FBC6-7BD6-6AFE-F958-89D6CEC34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56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2F9B13-56E8-ED69-3D4C-5D9C5724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AC65D95-E899-D2B5-01FB-73F941C28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95C9A5-B075-ADCC-176C-941544CB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D4656A-091E-E50E-5D91-9A9FA5E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2E11B30-5016-1525-A53D-13537AE4B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8330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9B89BEA-CBEE-B976-2750-F572405DF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B3ECB6F-F6AF-320D-20AA-975008D60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28B9B1-8211-F958-AB67-36E86D024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104F41-B033-72B9-73B9-64BD5ECA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BF746E-0DED-BBB4-9AC3-5B1595282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3320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F200A84E-7986-C941-8FF7-A4CA8D08C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olo relazione">
            <a:extLst>
              <a:ext uri="{FF2B5EF4-FFF2-40B4-BE49-F238E27FC236}">
                <a16:creationId xmlns:a16="http://schemas.microsoft.com/office/drawing/2014/main" id="{05BBF5B6-31C4-4BDC-A474-09BF69D00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89068" y="2330164"/>
            <a:ext cx="10515600" cy="795080"/>
          </a:xfrm>
          <a:prstGeom prst="rect">
            <a:avLst/>
          </a:prstGeom>
        </p:spPr>
        <p:txBody>
          <a:bodyPr/>
          <a:lstStyle>
            <a:lvl1pPr>
              <a:defRPr sz="5000" b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Titolo_Verdana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5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Bold</a:t>
            </a:r>
            <a:r>
              <a:rPr lang="it-IT" sz="5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50pt</a:t>
            </a:r>
          </a:p>
        </p:txBody>
      </p:sp>
      <p:sp>
        <p:nvSpPr>
          <p:cNvPr id="9" name="Sottotitolo relazione">
            <a:extLst>
              <a:ext uri="{FF2B5EF4-FFF2-40B4-BE49-F238E27FC236}">
                <a16:creationId xmlns:a16="http://schemas.microsoft.com/office/drawing/2014/main" id="{475FD1B4-BD36-4041-A9C9-DAF49CEB83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89068" y="3247578"/>
            <a:ext cx="10515600" cy="79507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4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40pt</a:t>
            </a:r>
          </a:p>
        </p:txBody>
      </p:sp>
      <p:sp>
        <p:nvSpPr>
          <p:cNvPr id="11" name="Nome e cognome relatore">
            <a:extLst>
              <a:ext uri="{FF2B5EF4-FFF2-40B4-BE49-F238E27FC236}">
                <a16:creationId xmlns:a16="http://schemas.microsoft.com/office/drawing/2014/main" id="{FDB9FF1D-DAE9-4957-B599-C6B8B209B8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9619" y="4433563"/>
            <a:ext cx="6994887" cy="376437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Relatore_Verdana</a:t>
            </a:r>
            <a:r>
              <a:rPr lang="it-IT" dirty="0"/>
              <a:t> 25pt</a:t>
            </a:r>
          </a:p>
        </p:txBody>
      </p:sp>
      <p:sp>
        <p:nvSpPr>
          <p:cNvPr id="13" name="Ruolo relatore">
            <a:extLst>
              <a:ext uri="{FF2B5EF4-FFF2-40B4-BE49-F238E27FC236}">
                <a16:creationId xmlns:a16="http://schemas.microsoft.com/office/drawing/2014/main" id="{1BDCF4A3-46D7-4603-8D04-616F017FCB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89617" y="4915518"/>
            <a:ext cx="7295512" cy="304988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 u="none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relatore_Verdana</a:t>
            </a:r>
            <a:r>
              <a:rPr lang="it-IT" dirty="0"/>
              <a:t> 18pt</a:t>
            </a:r>
          </a:p>
        </p:txBody>
      </p:sp>
    </p:spTree>
    <p:extLst>
      <p:ext uri="{BB962C8B-B14F-4D97-AF65-F5344CB8AC3E}">
        <p14:creationId xmlns:p14="http://schemas.microsoft.com/office/powerpoint/2010/main" val="32768768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na_solo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Sfondo bianco con logo dell'Università degli Studi di Firenze e Salomone.">
            <a:extLst>
              <a:ext uri="{FF2B5EF4-FFF2-40B4-BE49-F238E27FC236}">
                <a16:creationId xmlns:a16="http://schemas.microsoft.com/office/drawing/2014/main" id="{AAF2BE35-58D0-BA41-B3DA-597B679AD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Dati generali relazione">
            <a:extLst>
              <a:ext uri="{FF2B5EF4-FFF2-40B4-BE49-F238E27FC236}">
                <a16:creationId xmlns:a16="http://schemas.microsoft.com/office/drawing/2014/main" id="{37D8B424-C818-4FA2-9F43-383AC97ADC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7" y="6607580"/>
            <a:ext cx="10120335" cy="250425"/>
          </a:xfrm>
          <a:prstGeom prst="rect">
            <a:avLst/>
          </a:prstGeom>
        </p:spPr>
        <p:txBody>
          <a:bodyPr/>
          <a:lstStyle>
            <a:lvl1pPr>
              <a:buNone/>
              <a:defRPr sz="1100" b="0" i="0">
                <a:solidFill>
                  <a:schemeClr val="bg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11pt)</a:t>
            </a:r>
          </a:p>
        </p:txBody>
      </p:sp>
      <p:sp>
        <p:nvSpPr>
          <p:cNvPr id="7" name="Numero slide">
            <a:extLst>
              <a:ext uri="{FF2B5EF4-FFF2-40B4-BE49-F238E27FC236}">
                <a16:creationId xmlns:a16="http://schemas.microsoft.com/office/drawing/2014/main" id="{FA9D60FB-E0F4-46D2-B15D-4CAD34B259A1}"/>
              </a:ext>
            </a:extLst>
          </p:cNvPr>
          <p:cNvSpPr txBox="1"/>
          <p:nvPr userDrawn="1"/>
        </p:nvSpPr>
        <p:spPr>
          <a:xfrm>
            <a:off x="10399004" y="6598099"/>
            <a:ext cx="1358760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fld id="{5ED436A0-D5FC-479D-9D1C-A714A6CDB9F8}" type="slidenum">
              <a:rPr lang="it-IT" sz="1100" b="1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algn="r"/>
              <a:t>‹N›</a:t>
            </a:fld>
            <a:endParaRPr lang="it-IT" sz="1100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Testo diapositiva">
            <a:extLst>
              <a:ext uri="{FF2B5EF4-FFF2-40B4-BE49-F238E27FC236}">
                <a16:creationId xmlns:a16="http://schemas.microsoft.com/office/drawing/2014/main" id="{344E0AE5-EDEF-46FF-879E-9278F8E8B0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5868" y="1822125"/>
            <a:ext cx="10981895" cy="4470050"/>
          </a:xfrm>
          <a:prstGeom prst="rect">
            <a:avLst/>
          </a:prstGeom>
        </p:spPr>
        <p:txBody>
          <a:bodyPr/>
          <a:lstStyle>
            <a:lvl1pPr marL="7938" indent="0">
              <a:lnSpc>
                <a:spcPct val="150000"/>
              </a:lnSpc>
              <a:buFont typeface="Courier New" panose="02070309020205020404" pitchFamily="49" charset="0"/>
              <a:buNone/>
              <a:tabLst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Font typeface="Courier New" panose="02070309020205020404" pitchFamily="49" charset="0"/>
              <a:buChar char="o"/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Titolo diapositiva">
            <a:extLst>
              <a:ext uri="{FF2B5EF4-FFF2-40B4-BE49-F238E27FC236}">
                <a16:creationId xmlns:a16="http://schemas.microsoft.com/office/drawing/2014/main" id="{B1A728D7-4BF7-BE41-A0AF-2F9CA93A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/>
          <a:lstStyle>
            <a:lvl1pPr>
              <a:defRPr sz="2200" b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235246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ocopertin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fondo diapositiva" descr="Università degli Studi di Firenze. &#10;&#10;Sfondo blu istituzionale con Salomone e logo di ateneo.">
            <a:extLst>
              <a:ext uri="{FF2B5EF4-FFF2-40B4-BE49-F238E27FC236}">
                <a16:creationId xmlns:a16="http://schemas.microsoft.com/office/drawing/2014/main" id="{C21DE938-9907-D441-A2A2-6628A3D98A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Titolo conclusione">
            <a:extLst>
              <a:ext uri="{FF2B5EF4-FFF2-40B4-BE49-F238E27FC236}">
                <a16:creationId xmlns:a16="http://schemas.microsoft.com/office/drawing/2014/main" id="{C061A7DF-BBC8-4D30-A08B-77CC494834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31464" y="3155637"/>
            <a:ext cx="11015133" cy="477707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3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Titolo_Verdana</a:t>
            </a:r>
            <a:r>
              <a:rPr lang="it-IT" dirty="0"/>
              <a:t> </a:t>
            </a:r>
            <a:r>
              <a:rPr lang="it-IT" dirty="0" err="1"/>
              <a:t>Bold</a:t>
            </a:r>
            <a:r>
              <a:rPr lang="it-IT" dirty="0"/>
              <a:t> 30pt</a:t>
            </a:r>
          </a:p>
        </p:txBody>
      </p:sp>
      <p:sp>
        <p:nvSpPr>
          <p:cNvPr id="19" name="Sottotitolo conclusione">
            <a:extLst>
              <a:ext uri="{FF2B5EF4-FFF2-40B4-BE49-F238E27FC236}">
                <a16:creationId xmlns:a16="http://schemas.microsoft.com/office/drawing/2014/main" id="{4F0ABCB7-31A6-496B-AD17-F77B84CB9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31521" y="3734081"/>
            <a:ext cx="11015075" cy="486349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25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Sottotitolo_Verdana</a:t>
            </a:r>
            <a:r>
              <a:rPr lang="it-IT" dirty="0"/>
              <a:t> 25pt</a:t>
            </a:r>
          </a:p>
        </p:txBody>
      </p:sp>
      <p:sp>
        <p:nvSpPr>
          <p:cNvPr id="22" name="Nome e cognome relatore">
            <a:extLst>
              <a:ext uri="{FF2B5EF4-FFF2-40B4-BE49-F238E27FC236}">
                <a16:creationId xmlns:a16="http://schemas.microsoft.com/office/drawing/2014/main" id="{044A7CD4-EF29-4642-ACF5-AC1EB31784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1464" y="4624373"/>
            <a:ext cx="8333317" cy="318653"/>
          </a:xfrm>
          <a:prstGeom prst="rect">
            <a:avLst/>
          </a:prstGeom>
        </p:spPr>
        <p:txBody>
          <a:bodyPr/>
          <a:lstStyle>
            <a:lvl1pPr marL="7938" indent="0">
              <a:buNone/>
              <a:tabLst/>
              <a:defRPr sz="20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Relatore_Arial</a:t>
            </a:r>
            <a:r>
              <a:rPr lang="it-IT" dirty="0"/>
              <a:t> 20pt</a:t>
            </a:r>
          </a:p>
        </p:txBody>
      </p:sp>
      <p:sp>
        <p:nvSpPr>
          <p:cNvPr id="24" name="Ruolo relatore">
            <a:extLst>
              <a:ext uri="{FF2B5EF4-FFF2-40B4-BE49-F238E27FC236}">
                <a16:creationId xmlns:a16="http://schemas.microsoft.com/office/drawing/2014/main" id="{D07DE807-7EFE-48B4-81E7-589431F10E1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31524" y="5026153"/>
            <a:ext cx="8333317" cy="280089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Ruolo </a:t>
            </a:r>
            <a:r>
              <a:rPr lang="it-IT" dirty="0" err="1"/>
              <a:t>relatore_Arial</a:t>
            </a:r>
            <a:r>
              <a:rPr lang="it-IT" dirty="0"/>
              <a:t> 18pt</a:t>
            </a:r>
          </a:p>
        </p:txBody>
      </p:sp>
      <p:sp>
        <p:nvSpPr>
          <p:cNvPr id="26" name="Contatto relatore">
            <a:extLst>
              <a:ext uri="{FF2B5EF4-FFF2-40B4-BE49-F238E27FC236}">
                <a16:creationId xmlns:a16="http://schemas.microsoft.com/office/drawing/2014/main" id="{9517D058-2E7E-44D5-A849-24ED5F4E9D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1524" y="5389365"/>
            <a:ext cx="8333317" cy="323164"/>
          </a:xfrm>
          <a:prstGeom prst="rect">
            <a:avLst/>
          </a:prstGeom>
        </p:spPr>
        <p:txBody>
          <a:bodyPr>
            <a:noAutofit/>
          </a:bodyPr>
          <a:lstStyle>
            <a:lvl1pPr marL="7938" indent="0">
              <a:buNone/>
              <a:tabLst/>
              <a:defRPr sz="180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email_Arial</a:t>
            </a:r>
            <a:r>
              <a:rPr lang="it-IT" dirty="0"/>
              <a:t> 18pt</a:t>
            </a:r>
          </a:p>
        </p:txBody>
      </p:sp>
      <p:sp>
        <p:nvSpPr>
          <p:cNvPr id="28" name="Dati generali intervento">
            <a:extLst>
              <a:ext uri="{FF2B5EF4-FFF2-40B4-BE49-F238E27FC236}">
                <a16:creationId xmlns:a16="http://schemas.microsoft.com/office/drawing/2014/main" id="{B65FE21C-997A-4B8A-9D0E-D086916D47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1200" y="6609232"/>
            <a:ext cx="10098805" cy="248773"/>
          </a:xfrm>
          <a:prstGeom prst="rect">
            <a:avLst/>
          </a:prstGeom>
        </p:spPr>
        <p:txBody>
          <a:bodyPr/>
          <a:lstStyle>
            <a:lvl1pPr>
              <a:buNone/>
              <a:defRPr sz="1000">
                <a:solidFill>
                  <a:srgbClr val="004C7E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/>
              <a:t>Titolo Sottotitolo _ Relatore | Carica relatore (</a:t>
            </a:r>
            <a:r>
              <a:rPr lang="it-IT" dirty="0" err="1"/>
              <a:t>Verdana</a:t>
            </a:r>
            <a:r>
              <a:rPr lang="it-IT" dirty="0"/>
              <a:t> 10pt)</a:t>
            </a:r>
          </a:p>
        </p:txBody>
      </p:sp>
      <p:sp>
        <p:nvSpPr>
          <p:cNvPr id="5" name="Titolo 4">
            <a:extLst>
              <a:ext uri="{FF2B5EF4-FFF2-40B4-BE49-F238E27FC236}">
                <a16:creationId xmlns:a16="http://schemas.microsoft.com/office/drawing/2014/main" id="{D0964DA0-8367-4940-9492-6502D51FDF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1464" y="1609248"/>
            <a:ext cx="11015075" cy="94122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45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it-IT" dirty="0" err="1"/>
              <a:t>Conclusione_Verana</a:t>
            </a:r>
            <a:r>
              <a:rPr lang="it-IT" dirty="0"/>
              <a:t> </a:t>
            </a:r>
            <a:r>
              <a:rPr lang="it-IT" dirty="0" err="1"/>
              <a:t>Bold</a:t>
            </a:r>
            <a:r>
              <a:rPr lang="it-IT" dirty="0"/>
              <a:t> 45pt</a:t>
            </a:r>
          </a:p>
        </p:txBody>
      </p:sp>
    </p:spTree>
    <p:extLst>
      <p:ext uri="{BB962C8B-B14F-4D97-AF65-F5344CB8AC3E}">
        <p14:creationId xmlns:p14="http://schemas.microsoft.com/office/powerpoint/2010/main" val="27991715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76F4F37-254C-17AC-A001-7374C63E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1CC9495-044A-C2EF-520B-5A3901F8D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5E7E3A-C40F-A88C-A060-CE74A18BE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DFE114-7824-4056-9753-965FC53FA2C1}" type="datetimeFigureOut">
              <a:rPr lang="it-IT" smtClean="0"/>
              <a:t>02/07/2026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09D3A2-56AC-3B1D-DFD3-C7F5B9676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2279AF-3BE2-E513-6B7B-F9A9469B5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3D2298-E2ED-4C48-A3F2-FF81148647C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383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2.png"/><Relationship Id="rId3" Type="http://schemas.openxmlformats.org/officeDocument/2006/relationships/image" Target="../media/image80.png"/><Relationship Id="rId4" Type="http://schemas.openxmlformats.org/officeDocument/2006/relationships/image" Target="../media/image90.png"/><Relationship Id="rId5" Type="http://schemas.openxmlformats.org/officeDocument/2006/relationships/image" Target="../media/image10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0.png"/><Relationship Id="rId4" Type="http://schemas.openxmlformats.org/officeDocument/2006/relationships/image" Target="../media/image6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7.png"/><Relationship Id="rId3" Type="http://schemas.openxmlformats.org/officeDocument/2006/relationships/image" Target="../media/image35.png"/><Relationship Id="rId4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.xml"/><Relationship Id="rId3" Type="http://schemas.openxmlformats.org/officeDocument/2006/relationships/image" Target="../media/image37.png"/><Relationship Id="rId4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png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2.xml"/><Relationship Id="rId3" Type="http://schemas.openxmlformats.org/officeDocument/2006/relationships/image" Target="../media/image38.png"/><Relationship Id="rId4" Type="http://schemas.openxmlformats.org/officeDocument/2006/relationships/image" Target="../media/image4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3.png"/><Relationship Id="rId3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6.png"/><Relationship Id="rId3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3.xml"/><Relationship Id="rId3" Type="http://schemas.openxmlformats.org/officeDocument/2006/relationships/image" Target="../media/image39.png"/><Relationship Id="rId4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7.png"/><Relationship Id="rId3" Type="http://schemas.openxmlformats.org/officeDocument/2006/relationships/image" Target="../media/image41.png"/><Relationship Id="rId4" Type="http://schemas.openxmlformats.org/officeDocument/2006/relationships/image" Target="../media/image5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4.png"/><Relationship Id="rId3" Type="http://schemas.openxmlformats.org/officeDocument/2006/relationships/image" Target="../media/image5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5.png"/><Relationship Id="rId3" Type="http://schemas.openxmlformats.org/officeDocument/2006/relationships/image" Target="../media/image5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8.png"/><Relationship Id="rId3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4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>
            <a:extLst>
              <a:ext uri="{FF2B5EF4-FFF2-40B4-BE49-F238E27FC236}">
                <a16:creationId xmlns:a16="http://schemas.microsoft.com/office/drawing/2014/main" id="{55688C8B-20B5-944F-B9EB-AAB0D3AE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068" y="2330164"/>
            <a:ext cx="9794549" cy="795080"/>
          </a:xfrm>
        </p:spPr>
        <p:txBody>
          <a:bodyPr>
            <a:normAutofit fontScale="90000"/>
          </a:bodyPr>
          <a:lstStyle/>
          <a:p>
            <a:r>
              <a:rPr lang="it-IT" dirty="0" err="1"/>
              <a:t>Perceiver</a:t>
            </a:r>
            <a:r>
              <a:rPr lang="it-IT" dirty="0"/>
              <a:t> &amp; </a:t>
            </a:r>
            <a:r>
              <a:rPr lang="it-IT" dirty="0" err="1"/>
              <a:t>Perceiver</a:t>
            </a:r>
            <a:r>
              <a:rPr lang="it-IT" dirty="0"/>
              <a:t> IO</a:t>
            </a:r>
            <a:br>
              <a:rPr lang="it-IT" dirty="0"/>
            </a:br>
            <a:r>
              <a:rPr lang="it-IT" sz="3100" dirty="0" err="1"/>
              <a:t>Implementation</a:t>
            </a:r>
            <a:r>
              <a:rPr lang="it-IT" sz="3100" dirty="0"/>
              <a:t> and </a:t>
            </a:r>
            <a:r>
              <a:rPr lang="it-IT" sz="3100" dirty="0" err="1"/>
              <a:t>Experimental</a:t>
            </a:r>
            <a:r>
              <a:rPr lang="it-IT" sz="3100" dirty="0"/>
              <a:t> Analysis</a:t>
            </a:r>
            <a:endParaRPr lang="it-IT" sz="3100" b="1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454B2FB-8D54-4B76-BCB2-40DE45A935FC}"/>
              </a:ext>
            </a:extLst>
          </p:cNvPr>
          <p:cNvSpPr txBox="1"/>
          <p:nvPr/>
        </p:nvSpPr>
        <p:spPr>
          <a:xfrm>
            <a:off x="1587500" y="4572000"/>
            <a:ext cx="97917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2000" b="1">
                <a:solidFill>
                  <a:srgbClr val="FFFFFF"/>
                </a:solidFill>
              </a:rPr>
              <a:t>Francesco Gigli  ·  Corso Vignoli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CD2ACF5-C66C-49DE-8F75-36CA84C3AB17}"/>
              </a:ext>
            </a:extLst>
          </p:cNvPr>
          <p:cNvSpPr txBox="1"/>
          <p:nvPr/>
        </p:nvSpPr>
        <p:spPr>
          <a:xfrm>
            <a:off x="1587500" y="5003800"/>
            <a:ext cx="97917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it-IT" sz="1500">
                <a:solidFill>
                  <a:srgbClr val="FFFFFF"/>
                </a:solidFill>
              </a:rPr>
              <a:t>Università degli Studi di Firenze    |    Course B031278 —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25671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9DC4E6E-79B6-8C5D-AEB5-E5F6BF79FA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115568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115568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Introduction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48256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48256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Perceiver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80944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980944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Experiments: Perceiver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13632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913632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Perceiver IO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846320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846320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>
                <a:solidFill>
                  <a:srgbClr val="005293"/>
                </a:solidFill>
              </a:rPr>
              <a:t>Experiments: Perceiver IO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779008"/>
            <a:ext cx="566928" cy="566928"/>
          </a:xfrm>
          <a:prstGeom prst="ellipse">
            <a:avLst/>
          </a:prstGeom>
          <a:gradFill rotWithShape="1">
            <a:gsLst>
              <a:gs pos="0">
                <a:srgbClr val="EAF3FB"/>
              </a:gs>
              <a:gs pos="22000">
                <a:srgbClr val="6FA8D6"/>
              </a:gs>
              <a:gs pos="55000">
                <a:srgbClr val="1C5E97"/>
              </a:gs>
              <a:gs pos="100000">
                <a:srgbClr val="08294A"/>
              </a:gs>
            </a:gsLst>
            <a:path path="circle">
              <a:fillToRect l="22000" t="18000" r="78000" b="82000"/>
            </a:path>
          </a:gradFill>
          <a:ln w="6350">
            <a:solidFill>
              <a:srgbClr val="0A3A63"/>
            </a:solidFill>
          </a:ln>
          <a:effectLst>
            <a:outerShdw blurRad="40000" dist="20000" dir="5400000" rotWithShape="0">
              <a:srgbClr val="000000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5779008"/>
            <a:ext cx="9692640" cy="566928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2700" dirty="0">
                <a:solidFill>
                  <a:srgbClr val="005293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22141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335824F-9075-AE29-3CF6-10A4C6C91F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79B9830-61D5-1253-FF73-4F280D46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Problem: Modality-Specific Architectures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99989DC-1BCA-404D-8A2C-A424F24F9AC8}"/>
              </a:ext>
            </a:extLst>
          </p:cNvPr>
          <p:cNvSpPr txBox="1"/>
          <p:nvPr/>
        </p:nvSpPr>
        <p:spPr>
          <a:xfrm>
            <a:off x="7589958" y="1905000"/>
            <a:ext cx="4125234" cy="33855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 dirty="0">
                <a:solidFill>
                  <a:srgbClr val="156082"/>
                </a:solidFill>
              </a:rPr>
              <a:t>One </a:t>
            </a:r>
            <a:r>
              <a:rPr lang="it-IT" sz="1600" b="1" dirty="0" err="1">
                <a:solidFill>
                  <a:srgbClr val="156082"/>
                </a:solidFill>
              </a:rPr>
              <a:t>modality</a:t>
            </a:r>
            <a:r>
              <a:rPr lang="it-IT" sz="1600" b="1" dirty="0">
                <a:solidFill>
                  <a:srgbClr val="156082"/>
                </a:solidFill>
              </a:rPr>
              <a:t>, one </a:t>
            </a:r>
            <a:r>
              <a:rPr lang="it-IT" sz="1600" b="1" dirty="0" err="1">
                <a:solidFill>
                  <a:srgbClr val="156082"/>
                </a:solidFill>
              </a:rPr>
              <a:t>architecture</a:t>
            </a:r>
            <a:endParaRPr lang="it-IT" sz="1600" b="1" dirty="0">
              <a:solidFill>
                <a:srgbClr val="156082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3496C9D-A997-440D-A477-CCD3631D2FFE}"/>
              </a:ext>
            </a:extLst>
          </p:cNvPr>
          <p:cNvSpPr/>
          <p:nvPr/>
        </p:nvSpPr>
        <p:spPr>
          <a:xfrm>
            <a:off x="7589958" y="2286000"/>
            <a:ext cx="4125234" cy="2006600"/>
          </a:xfrm>
          <a:prstGeom prst="roundRect">
            <a:avLst/>
          </a:prstGeom>
          <a:solidFill>
            <a:srgbClr val="EAF1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47BE781-BDE9-4F6D-BF99-15505C0BAC56}"/>
              </a:ext>
            </a:extLst>
          </p:cNvPr>
          <p:cNvSpPr/>
          <p:nvPr/>
        </p:nvSpPr>
        <p:spPr>
          <a:xfrm>
            <a:off x="7618867" y="2286000"/>
            <a:ext cx="76200" cy="20066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77B1E6E-9151-41C9-8860-C0222476830B}"/>
              </a:ext>
            </a:extLst>
          </p:cNvPr>
          <p:cNvSpPr txBox="1"/>
          <p:nvPr/>
        </p:nvSpPr>
        <p:spPr>
          <a:xfrm>
            <a:off x="8044892" y="2463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 dirty="0">
                <a:solidFill>
                  <a:srgbClr val="0E2841"/>
                </a:solidFill>
              </a:rPr>
              <a:t>Images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1429FB-981B-4CCE-9EBA-712549F3A7C5}"/>
              </a:ext>
            </a:extLst>
          </p:cNvPr>
          <p:cNvSpPr txBox="1"/>
          <p:nvPr/>
        </p:nvSpPr>
        <p:spPr>
          <a:xfrm>
            <a:off x="9282543" y="2480017"/>
            <a:ext cx="2292948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dirty="0">
                <a:solidFill>
                  <a:srgbClr val="1A1A1A"/>
                </a:solidFill>
              </a:rPr>
              <a:t>→  </a:t>
            </a:r>
            <a:r>
              <a:rPr lang="it-IT" sz="1500" dirty="0" err="1">
                <a:solidFill>
                  <a:srgbClr val="1A1A1A"/>
                </a:solidFill>
              </a:rPr>
              <a:t>CNNs</a:t>
            </a:r>
            <a:endParaRPr lang="it-IT" sz="1500" dirty="0">
              <a:solidFill>
                <a:srgbClr val="1A1A1A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D0C3AD1-30A3-46A4-9ABC-317BD81D00EC}"/>
              </a:ext>
            </a:extLst>
          </p:cNvPr>
          <p:cNvSpPr txBox="1"/>
          <p:nvPr/>
        </p:nvSpPr>
        <p:spPr>
          <a:xfrm>
            <a:off x="8044892" y="29083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Text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80C3E53-A290-4590-AB07-B9A6F66C1468}"/>
              </a:ext>
            </a:extLst>
          </p:cNvPr>
          <p:cNvSpPr txBox="1"/>
          <p:nvPr/>
        </p:nvSpPr>
        <p:spPr>
          <a:xfrm>
            <a:off x="9282543" y="2924517"/>
            <a:ext cx="2292948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dirty="0">
                <a:solidFill>
                  <a:srgbClr val="1A1A1A"/>
                </a:solidFill>
              </a:rPr>
              <a:t>→  Transformers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D7263DC-37ED-4B49-950F-0306756FC5EC}"/>
              </a:ext>
            </a:extLst>
          </p:cNvPr>
          <p:cNvSpPr txBox="1"/>
          <p:nvPr/>
        </p:nvSpPr>
        <p:spPr>
          <a:xfrm>
            <a:off x="8044892" y="33528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>
                <a:solidFill>
                  <a:srgbClr val="0E2841"/>
                </a:solidFill>
              </a:rPr>
              <a:t>Audio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09A5295-4DC2-481B-AEA7-BCA8CD30DFB4}"/>
              </a:ext>
            </a:extLst>
          </p:cNvPr>
          <p:cNvSpPr txBox="1"/>
          <p:nvPr/>
        </p:nvSpPr>
        <p:spPr>
          <a:xfrm>
            <a:off x="9282544" y="3369017"/>
            <a:ext cx="2292948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dirty="0">
                <a:solidFill>
                  <a:srgbClr val="1A1A1A"/>
                </a:solidFill>
              </a:rPr>
              <a:t>→  </a:t>
            </a:r>
            <a:r>
              <a:rPr lang="it-IT" sz="1500" dirty="0" err="1">
                <a:solidFill>
                  <a:srgbClr val="1A1A1A"/>
                </a:solidFill>
              </a:rPr>
              <a:t>RNNs</a:t>
            </a:r>
            <a:r>
              <a:rPr lang="it-IT" sz="1500" dirty="0">
                <a:solidFill>
                  <a:srgbClr val="1A1A1A"/>
                </a:solidFill>
              </a:rPr>
              <a:t> / </a:t>
            </a:r>
            <a:r>
              <a:rPr lang="it-IT" sz="1500" dirty="0" err="1">
                <a:solidFill>
                  <a:srgbClr val="1A1A1A"/>
                </a:solidFill>
              </a:rPr>
              <a:t>1D</a:t>
            </a:r>
            <a:r>
              <a:rPr lang="it-IT" sz="1500" dirty="0">
                <a:solidFill>
                  <a:srgbClr val="1A1A1A"/>
                </a:solidFill>
              </a:rPr>
              <a:t>-CNN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79DC7B8-B681-47AE-BD4D-4374C6D1E3B3}"/>
              </a:ext>
            </a:extLst>
          </p:cNvPr>
          <p:cNvSpPr txBox="1"/>
          <p:nvPr/>
        </p:nvSpPr>
        <p:spPr>
          <a:xfrm>
            <a:off x="8044892" y="37973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b="1" dirty="0">
                <a:solidFill>
                  <a:srgbClr val="0E2841"/>
                </a:solidFill>
              </a:rPr>
              <a:t>Point Clouds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48B9E9E-C403-49DE-956D-21C670CB8EE5}"/>
              </a:ext>
            </a:extLst>
          </p:cNvPr>
          <p:cNvSpPr txBox="1"/>
          <p:nvPr/>
        </p:nvSpPr>
        <p:spPr>
          <a:xfrm>
            <a:off x="9282544" y="3813517"/>
            <a:ext cx="2292947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it-IT" sz="1500" dirty="0">
                <a:solidFill>
                  <a:srgbClr val="1A1A1A"/>
                </a:solidFill>
              </a:rPr>
              <a:t>→  </a:t>
            </a:r>
            <a:r>
              <a:rPr lang="it-IT" sz="1500" dirty="0" err="1">
                <a:solidFill>
                  <a:srgbClr val="1A1A1A"/>
                </a:solidFill>
              </a:rPr>
              <a:t>PointNet</a:t>
            </a:r>
            <a:endParaRPr lang="it-IT" sz="1500" dirty="0">
              <a:solidFill>
                <a:srgbClr val="1A1A1A"/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175B906-1279-4504-8FFF-FB4757B2C068}"/>
              </a:ext>
            </a:extLst>
          </p:cNvPr>
          <p:cNvSpPr txBox="1"/>
          <p:nvPr/>
        </p:nvSpPr>
        <p:spPr>
          <a:xfrm>
            <a:off x="7695066" y="4394200"/>
            <a:ext cx="4020125" cy="692497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300" i="1" dirty="0">
                <a:solidFill>
                  <a:srgbClr val="555555"/>
                </a:solidFill>
              </a:rPr>
              <a:t>Each data type is usually paired with a dedicated model and domain-specific assumptions about structure.</a:t>
            </a:r>
            <a:endParaRPr lang="it-IT" sz="1300" i="1" dirty="0">
              <a:solidFill>
                <a:srgbClr val="555555"/>
              </a:solidFill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FCA2D08E-6F3F-42A3-AB02-F36328E00D27}"/>
              </a:ext>
            </a:extLst>
          </p:cNvPr>
          <p:cNvSpPr/>
          <p:nvPr/>
        </p:nvSpPr>
        <p:spPr>
          <a:xfrm>
            <a:off x="774700" y="5334000"/>
            <a:ext cx="109855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00477AF-EB6F-4E8B-9A72-0CCBCB474D0C}"/>
              </a:ext>
            </a:extLst>
          </p:cNvPr>
          <p:cNvSpPr txBox="1"/>
          <p:nvPr/>
        </p:nvSpPr>
        <p:spPr>
          <a:xfrm>
            <a:off x="952500" y="5464517"/>
            <a:ext cx="106807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Can one architecture handle arbitrary inputs?</a:t>
            </a:r>
            <a:endParaRPr lang="it-IT" sz="1500" b="1" dirty="0">
              <a:solidFill>
                <a:srgbClr val="FFFFFF"/>
              </a:solidFill>
            </a:endParaRP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C1E313AC-613D-8635-BE29-C1A0626E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943161"/>
            <a:ext cx="3293917" cy="1415217"/>
          </a:xfrm>
          <a:prstGeom prst="rect">
            <a:avLst/>
          </a:prstGeom>
        </p:spPr>
      </p:pic>
      <p:pic>
        <p:nvPicPr>
          <p:cNvPr id="26" name="Immagine 25" descr="A Hybrid CNN and RNN Variant Model for Music Classification">
            <a:extLst>
              <a:ext uri="{FF2B5EF4-FFF2-40B4-BE49-F238E27FC236}">
                <a16:creationId xmlns:a16="http://schemas.microsoft.com/office/drawing/2014/main" id="{CEE7E67F-5AC5-6905-6829-BC989AA43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3745353"/>
            <a:ext cx="3192317" cy="1270175"/>
          </a:xfrm>
          <a:prstGeom prst="rect">
            <a:avLst/>
          </a:prstGeom>
        </p:spPr>
      </p:pic>
      <p:pic>
        <p:nvPicPr>
          <p:cNvPr id="27" name="Immagine 26" descr="PointNet">
            <a:extLst>
              <a:ext uri="{FF2B5EF4-FFF2-40B4-BE49-F238E27FC236}">
                <a16:creationId xmlns:a16="http://schemas.microsoft.com/office/drawing/2014/main" id="{E7300981-8A09-B32E-B7C4-EEDAE3614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9510" y="2665429"/>
            <a:ext cx="2933399" cy="130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34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60B6-8A61-0ACC-3893-C04F8E3F2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6AEDE14-FBF6-6923-21CC-534542AD87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98BF1B5-4E8C-A834-C284-D8DC4B128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Problem</a:t>
            </a:r>
            <a:r>
              <a:rPr lang="it-IT" dirty="0"/>
              <a:t>: Scaling </a:t>
            </a:r>
            <a:r>
              <a:rPr lang="it-IT" dirty="0" err="1"/>
              <a:t>bottleneck</a:t>
            </a:r>
            <a:endParaRPr lang="it-IT" dirty="0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B0093F10-81EB-AA6C-D247-65CE4E69C5CB}"/>
              </a:ext>
            </a:extLst>
          </p:cNvPr>
          <p:cNvSpPr/>
          <p:nvPr/>
        </p:nvSpPr>
        <p:spPr>
          <a:xfrm>
            <a:off x="774700" y="5334000"/>
            <a:ext cx="10985500" cy="584200"/>
          </a:xfrm>
          <a:prstGeom prst="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E6A49CE-B647-A0D6-5976-B46E209A795D}"/>
              </a:ext>
            </a:extLst>
          </p:cNvPr>
          <p:cNvSpPr txBox="1"/>
          <p:nvPr/>
        </p:nvSpPr>
        <p:spPr>
          <a:xfrm>
            <a:off x="952500" y="5464517"/>
            <a:ext cx="10680700" cy="323165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Can one architecture handle arbitrary inputs </a:t>
            </a:r>
            <a:r>
              <a:rPr lang="en-US" sz="1500" b="1" u="sng" dirty="0">
                <a:solidFill>
                  <a:srgbClr val="FFFFFF"/>
                </a:solidFill>
              </a:rPr>
              <a:t>without quadratic cost</a:t>
            </a:r>
            <a:r>
              <a:rPr lang="en-US" sz="1500" b="1" dirty="0">
                <a:solidFill>
                  <a:srgbClr val="FFFFFF"/>
                </a:solidFill>
              </a:rPr>
              <a:t>?</a:t>
            </a:r>
            <a:endParaRPr lang="it-IT" sz="1500" b="1" dirty="0">
              <a:solidFill>
                <a:srgbClr val="FFFFFF"/>
              </a:solidFill>
            </a:endParaRP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DCF6ED6F-8587-3229-DD18-F4F677BB5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913717"/>
            <a:ext cx="2273300" cy="2851958"/>
          </a:xfrm>
          <a:prstGeom prst="rect">
            <a:avLst/>
          </a:prstGeom>
        </p:spPr>
      </p:pic>
      <p:sp>
        <p:nvSpPr>
          <p:cNvPr id="402" name="tx"/>
          <p:cNvSpPr/>
          <p:nvPr/>
        </p:nvSpPr>
        <p:spPr>
          <a:xfrm>
            <a:off x="3892550" y="1908175"/>
            <a:ext cx="7870825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1F1F1F"/>
                </a:solidFill>
              </a:rPr>
              <a:t>A Transformer layer contains self-attention and a pointwise MLP.</a:t>
            </a:r>
          </a:p>
        </p:txBody>
      </p:sp>
      <p:sp>
        <p:nvSpPr>
          <p:cNvPr id="403" name="ic"/>
          <p:cNvSpPr/>
          <p:nvPr/>
        </p:nvSpPr>
        <p:spPr>
          <a:xfrm>
            <a:off x="3892550" y="2292350"/>
            <a:ext cx="330200" cy="3302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p:sp>
        <p:nvSpPr>
          <p:cNvPr id="404" name="ic"/>
          <p:cNvSpPr/>
          <p:nvPr/>
        </p:nvSpPr>
        <p:spPr>
          <a:xfrm>
            <a:off x="3892550" y="2698750"/>
            <a:ext cx="330200" cy="3302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lIns="0" tIns="0" rIns="0" bIns="0" anchor="ctr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5" name="tx"/>
              <p:cNvSpPr/>
              <p:nvPr/>
            </p:nvSpPr>
            <p:spPr>
              <a:xfrm>
                <a:off x="4349750" y="2292350"/>
                <a:ext cx="741045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pPr algn="l"/>
                <a:r>
                  <a:rPr lang="en-US" sz="1500" b="1" dirty="0">
                    <a:solidFill>
                      <a:srgbClr val="0E2841"/>
                    </a:solidFill>
                  </a:rPr>
                  <a:t>Self-attention:</a:t>
                </a:r>
                <a:r>
                  <a:rPr lang="en-US" sz="1500" dirty="0">
                    <a:solidFill>
                      <a:srgbClr val="1F1F1F"/>
                    </a:solidFill>
                  </a:rPr>
                  <a:t>  compares all token pairs → cost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1500" i="1" dirty="0">
                    <a:solidFill>
                      <a:srgbClr val="1F1F1F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500" b="0" i="1" dirty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i="1" dirty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it-IT" sz="1500" b="0" i="1" dirty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 i="1" dirty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·</m:t>
                    </m:r>
                    <m:r>
                      <a:rPr lang="it-IT" sz="1500" b="0" i="1" dirty="0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500" i="1" dirty="0">
                    <a:solidFill>
                      <a:srgbClr val="1F1F1F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05" name="tx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50" y="2292350"/>
                <a:ext cx="7410450" cy="330200"/>
              </a:xfrm>
              <a:prstGeom prst="rect">
                <a:avLst/>
              </a:prstGeom>
              <a:blipFill>
                <a:blip r:embed="rId3"/>
                <a:stretch>
                  <a:fillRect l="-1564" b="-20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6" name="tx"/>
              <p:cNvSpPr/>
              <p:nvPr/>
            </p:nvSpPr>
            <p:spPr>
              <a:xfrm>
                <a:off x="4349750" y="2698750"/>
                <a:ext cx="7410450" cy="33020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/>
              <a:lstStyle/>
              <a:p>
                <a:r>
                  <a:rPr lang="en-US" sz="1500" b="1" dirty="0">
                    <a:solidFill>
                      <a:srgbClr val="0E2841"/>
                    </a:solidFill>
                  </a:rPr>
                  <a:t>Pointwise MLP:</a:t>
                </a:r>
                <a:r>
                  <a:rPr lang="en-US" sz="1500" dirty="0">
                    <a:solidFill>
                      <a:srgbClr val="1F1F1F"/>
                    </a:solidFill>
                  </a:rPr>
                  <a:t>  processes each token independently → scales linearly with </a:t>
                </a:r>
                <a14:m>
                  <m:oMath xmlns:m="http://schemas.openxmlformats.org/officeDocument/2006/math">
                    <m:r>
                      <a:rPr lang="it-IT" sz="1500" b="0" i="1" dirty="0" smtClean="0">
                        <a:solidFill>
                          <a:srgbClr val="1F1F1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sz="1500" b="0" i="1" dirty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1500" i="1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sz="1500" i="1" dirty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sz="1500" i="1" dirty="0">
                  <a:solidFill>
                    <a:srgbClr val="1F1F1F"/>
                  </a:solidFill>
                </a:endParaRPr>
              </a:p>
            </p:txBody>
          </p:sp>
        </mc:Choice>
        <mc:Fallback xmlns="">
          <p:sp>
            <p:nvSpPr>
              <p:cNvPr id="406" name="tx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750" y="2698750"/>
                <a:ext cx="7410450" cy="330200"/>
              </a:xfrm>
              <a:prstGeom prst="rect">
                <a:avLst/>
              </a:prstGeom>
              <a:blipFill>
                <a:blip r:embed="rId4"/>
                <a:stretch>
                  <a:fillRect l="-1564" t="-1852" b="-203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7" name="tbl"/>
          <p:cNvGraphicFramePr/>
          <p:nvPr>
            <p:extLst>
              <p:ext uri="{D42A27DB-BD31-4B8C-83A1-F6EECF244321}">
                <p14:modId xmlns:p14="http://schemas.microsoft.com/office/powerpoint/2010/main" val="663547484"/>
              </p:ext>
            </p:extLst>
          </p:nvPr>
        </p:nvGraphicFramePr>
        <p:xfrm>
          <a:off x="3892550" y="3181350"/>
          <a:ext cx="7867650" cy="1092200"/>
        </p:xfrm>
        <a:graphic>
          <a:graphicData uri="http://schemas.openxmlformats.org/drawingml/2006/table">
            <a:tbl>
              <a:tblPr firstRow="1"/>
              <a:tblGrid>
                <a:gridCol w="55834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4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Input representation</a:t>
                      </a:r>
                    </a:p>
                  </a:txBody>
                  <a:tcPr marL="137160" marR="137160" marT="36576" marB="36576"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</a:t>
                      </a:r>
                    </a:p>
                  </a:txBody>
                  <a:tcPr marL="137160" marR="137160" marT="36576" marB="36576"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16×16 image patches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196</a:t>
                      </a:r>
                    </a:p>
                  </a:txBody>
                  <a:tcPr marL="137160" marR="137160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Raw 224×224 pixels</a:t>
                      </a:r>
                    </a:p>
                  </a:txBody>
                  <a:tcPr marL="137160" marR="137160" marT="36576" marB="36576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50,176</a:t>
                      </a:r>
                    </a:p>
                  </a:txBody>
                  <a:tcPr marL="137160" marR="137160" marT="36576" marB="36576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8" name="ic"/>
          <p:cNvSpPr/>
          <p:nvPr/>
        </p:nvSpPr>
        <p:spPr>
          <a:xfrm>
            <a:off x="3892550" y="4486275"/>
            <a:ext cx="330200" cy="330200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09" name="tx"/>
          <p:cNvSpPr/>
          <p:nvPr/>
        </p:nvSpPr>
        <p:spPr>
          <a:xfrm>
            <a:off x="4349750" y="4473575"/>
            <a:ext cx="741045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0E2841"/>
                </a:solidFill>
              </a:rPr>
              <a:t>The MLP scales linearly, but self-attention is the true bottleneck.</a:t>
            </a:r>
          </a:p>
        </p:txBody>
      </p:sp>
      <p:sp>
        <p:nvSpPr>
          <p:cNvPr id="410" name="tx"/>
          <p:cNvSpPr/>
          <p:nvPr/>
        </p:nvSpPr>
        <p:spPr>
          <a:xfrm>
            <a:off x="4349750" y="4702175"/>
            <a:ext cx="741045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>
                <a:solidFill>
                  <a:srgbClr val="1F1F1F"/>
                </a:solidFill>
              </a:rPr>
              <a:t>Raw pixels make standard attention </a:t>
            </a:r>
            <a:r>
              <a:rPr lang="en-US" sz="1400" b="1" dirty="0">
                <a:solidFill>
                  <a:srgbClr val="E97132"/>
                </a:solidFill>
              </a:rPr>
              <a:t>impractical</a:t>
            </a:r>
            <a:r>
              <a:rPr lang="en-US" sz="1400" dirty="0">
                <a:solidFill>
                  <a:srgbClr val="1F1F1F"/>
                </a:solidFill>
              </a:rPr>
              <a:t>.</a:t>
            </a:r>
          </a:p>
        </p:txBody>
      </p:sp>
      <p:pic>
        <p:nvPicPr>
          <p:cNvPr id="411" name="Graphic 411" descr="network icon for self-att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6050" y="2355850"/>
            <a:ext cx="203200" cy="203200"/>
          </a:xfrm>
          <a:prstGeom prst="rect">
            <a:avLst/>
          </a:prstGeom>
        </p:spPr>
      </p:pic>
      <p:pic>
        <p:nvPicPr>
          <p:cNvPr id="412" name="Graphic 412" descr="grid icon for pointwise MLP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6050" y="2762250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78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62AD2-29FB-07D9-3C17-999BF89A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AE76E75-F0FB-8373-B615-DD9F3F17E3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5AE0D3EC-072E-D11A-A354-65B10A8B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Perceiver</a:t>
            </a:r>
            <a:r>
              <a:rPr lang="it-IT" dirty="0"/>
              <a:t> Solution</a:t>
            </a:r>
          </a:p>
        </p:txBody>
      </p:sp>
      <p:sp>
        <p:nvSpPr>
          <p:cNvPr id="54" name="Ltitle">
            <a:extLst>
              <a:ext uri="{FF2B5EF4-FFF2-40B4-BE49-F238E27FC236}">
                <a16:creationId xmlns:a16="http://schemas.microsoft.com/office/drawing/2014/main" id="{30EC1437-6CDE-8C1A-A196-49B43B66ACA6}"/>
              </a:ext>
            </a:extLst>
          </p:cNvPr>
          <p:cNvSpPr/>
          <p:nvPr/>
        </p:nvSpPr>
        <p:spPr>
          <a:xfrm>
            <a:off x="127000" y="1740684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56082"/>
                </a:solidFill>
              </a:rPr>
              <a:t>Standard self-attention</a:t>
            </a:r>
          </a:p>
        </p:txBody>
      </p:sp>
      <p:sp>
        <p:nvSpPr>
          <p:cNvPr id="56" name="Rtitle">
            <a:extLst>
              <a:ext uri="{FF2B5EF4-FFF2-40B4-BE49-F238E27FC236}">
                <a16:creationId xmlns:a16="http://schemas.microsoft.com/office/drawing/2014/main" id="{0DD70F48-4C36-0CFB-0391-E82D5CAF13FB}"/>
              </a:ext>
            </a:extLst>
          </p:cNvPr>
          <p:cNvSpPr/>
          <p:nvPr/>
        </p:nvSpPr>
        <p:spPr>
          <a:xfrm>
            <a:off x="6172200" y="1740684"/>
            <a:ext cx="584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700" b="1" dirty="0">
                <a:solidFill>
                  <a:srgbClr val="156082"/>
                </a:solidFill>
              </a:rPr>
              <a:t>Perceiver cross-attention</a:t>
            </a:r>
          </a:p>
        </p:txBody>
      </p:sp>
      <p:sp>
        <p:nvSpPr>
          <p:cNvPr id="58" name="hl">
            <a:extLst>
              <a:ext uri="{FF2B5EF4-FFF2-40B4-BE49-F238E27FC236}">
                <a16:creationId xmlns:a16="http://schemas.microsoft.com/office/drawing/2014/main" id="{CFB004B6-6773-1961-E59F-1569F8C257D6}"/>
              </a:ext>
            </a:extLst>
          </p:cNvPr>
          <p:cNvSpPr/>
          <p:nvPr/>
        </p:nvSpPr>
        <p:spPr>
          <a:xfrm>
            <a:off x="304800" y="4868202"/>
            <a:ext cx="5588000" cy="15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hl">
            <a:extLst>
              <a:ext uri="{FF2B5EF4-FFF2-40B4-BE49-F238E27FC236}">
                <a16:creationId xmlns:a16="http://schemas.microsoft.com/office/drawing/2014/main" id="{B7EB06D7-7604-67DF-12B1-A0ACFF6AD24A}"/>
              </a:ext>
            </a:extLst>
          </p:cNvPr>
          <p:cNvSpPr/>
          <p:nvPr/>
        </p:nvSpPr>
        <p:spPr>
          <a:xfrm>
            <a:off x="6299200" y="4868202"/>
            <a:ext cx="5588000" cy="15240"/>
          </a:xfrm>
          <a:prstGeom prst="rect">
            <a:avLst/>
          </a:prstGeom>
          <a:solidFill>
            <a:srgbClr val="E2E2E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l">
            <a:extLst>
              <a:ext uri="{FF2B5EF4-FFF2-40B4-BE49-F238E27FC236}">
                <a16:creationId xmlns:a16="http://schemas.microsoft.com/office/drawing/2014/main" id="{0CC7C421-E172-9522-8696-254A5C96EBCC}"/>
              </a:ext>
            </a:extLst>
          </p:cNvPr>
          <p:cNvSpPr/>
          <p:nvPr/>
        </p:nvSpPr>
        <p:spPr>
          <a:xfrm>
            <a:off x="2794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O(M)</a:t>
            </a:r>
          </a:p>
        </p:txBody>
      </p:sp>
      <p:sp>
        <p:nvSpPr>
          <p:cNvPr id="64" name="l">
            <a:extLst>
              <a:ext uri="{FF2B5EF4-FFF2-40B4-BE49-F238E27FC236}">
                <a16:creationId xmlns:a16="http://schemas.microsoft.com/office/drawing/2014/main" id="{B2905C55-F654-837E-4934-D143C971EA6A}"/>
              </a:ext>
            </a:extLst>
          </p:cNvPr>
          <p:cNvSpPr/>
          <p:nvPr/>
        </p:nvSpPr>
        <p:spPr>
          <a:xfrm>
            <a:off x="22098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O(M²)</a:t>
            </a:r>
          </a:p>
        </p:txBody>
      </p:sp>
      <p:sp>
        <p:nvSpPr>
          <p:cNvPr id="66" name="l">
            <a:extLst>
              <a:ext uri="{FF2B5EF4-FFF2-40B4-BE49-F238E27FC236}">
                <a16:creationId xmlns:a16="http://schemas.microsoft.com/office/drawing/2014/main" id="{79D4B34A-BB13-B250-8FAE-517008CDEF99}"/>
              </a:ext>
            </a:extLst>
          </p:cNvPr>
          <p:cNvSpPr/>
          <p:nvPr/>
        </p:nvSpPr>
        <p:spPr>
          <a:xfrm>
            <a:off x="41402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O(M²)</a:t>
            </a:r>
          </a:p>
        </p:txBody>
      </p:sp>
      <p:sp>
        <p:nvSpPr>
          <p:cNvPr id="68" name="l">
            <a:extLst>
              <a:ext uri="{FF2B5EF4-FFF2-40B4-BE49-F238E27FC236}">
                <a16:creationId xmlns:a16="http://schemas.microsoft.com/office/drawing/2014/main" id="{0FDECC71-2436-FE19-1928-1F5ADA155866}"/>
              </a:ext>
            </a:extLst>
          </p:cNvPr>
          <p:cNvSpPr/>
          <p:nvPr/>
        </p:nvSpPr>
        <p:spPr>
          <a:xfrm>
            <a:off x="62738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O(N) + O(M)</a:t>
            </a:r>
          </a:p>
        </p:txBody>
      </p:sp>
      <p:sp>
        <p:nvSpPr>
          <p:cNvPr id="70" name="l">
            <a:extLst>
              <a:ext uri="{FF2B5EF4-FFF2-40B4-BE49-F238E27FC236}">
                <a16:creationId xmlns:a16="http://schemas.microsoft.com/office/drawing/2014/main" id="{E360B65F-CE18-6EB6-F7B8-334A72A232C8}"/>
              </a:ext>
            </a:extLst>
          </p:cNvPr>
          <p:cNvSpPr/>
          <p:nvPr/>
        </p:nvSpPr>
        <p:spPr>
          <a:xfrm>
            <a:off x="82042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O(MN)</a:t>
            </a:r>
          </a:p>
        </p:txBody>
      </p:sp>
      <p:sp>
        <p:nvSpPr>
          <p:cNvPr id="72" name="l">
            <a:extLst>
              <a:ext uri="{FF2B5EF4-FFF2-40B4-BE49-F238E27FC236}">
                <a16:creationId xmlns:a16="http://schemas.microsoft.com/office/drawing/2014/main" id="{A71C4BAB-1D36-D18A-3E35-BDC9256C256F}"/>
              </a:ext>
            </a:extLst>
          </p:cNvPr>
          <p:cNvSpPr/>
          <p:nvPr/>
        </p:nvSpPr>
        <p:spPr>
          <a:xfrm>
            <a:off x="10134600" y="4944402"/>
            <a:ext cx="18288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2700" rIns="25400" bIns="1270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1A1A1A"/>
                </a:solidFill>
              </a:rPr>
              <a:t>O(MN)</a:t>
            </a:r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377F4FB1-C6C3-70B1-6492-5CA0783A1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83" y="2114064"/>
            <a:ext cx="5495517" cy="2582531"/>
          </a:xfrm>
          <a:prstGeom prst="rect">
            <a:avLst/>
          </a:prstGeom>
        </p:spPr>
      </p:pic>
      <p:pic>
        <p:nvPicPr>
          <p:cNvPr id="76" name="Immagine 75">
            <a:extLst>
              <a:ext uri="{FF2B5EF4-FFF2-40B4-BE49-F238E27FC236}">
                <a16:creationId xmlns:a16="http://schemas.microsoft.com/office/drawing/2014/main" id="{0A2A3C75-E3D3-9BA9-A471-B8FBB02AD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800" y="2114064"/>
            <a:ext cx="5435600" cy="2568728"/>
          </a:xfrm>
          <a:prstGeom prst="rect">
            <a:avLst/>
          </a:prstGeom>
        </p:spPr>
      </p:pic>
      <p:sp>
        <p:nvSpPr>
          <p:cNvPr id="78" name="cmp">
            <a:extLst>
              <a:ext uri="{FF2B5EF4-FFF2-40B4-BE49-F238E27FC236}">
                <a16:creationId xmlns:a16="http://schemas.microsoft.com/office/drawing/2014/main" id="{56D4960A-621D-B99C-AAE3-C08B8562EF6F}"/>
              </a:ext>
            </a:extLst>
          </p:cNvPr>
          <p:cNvSpPr/>
          <p:nvPr/>
        </p:nvSpPr>
        <p:spPr>
          <a:xfrm>
            <a:off x="4064000" y="5468148"/>
            <a:ext cx="4064000" cy="431800"/>
          </a:xfrm>
          <a:prstGeom prst="roundRect">
            <a:avLst>
              <a:gd name="adj" fmla="val 20000"/>
            </a:avLst>
          </a:prstGeom>
          <a:solidFill>
            <a:srgbClr val="F4F6FB"/>
          </a:solidFill>
          <a:ln w="12700">
            <a:solidFill>
              <a:srgbClr val="0E284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cmpt">
            <a:extLst>
              <a:ext uri="{FF2B5EF4-FFF2-40B4-BE49-F238E27FC236}">
                <a16:creationId xmlns:a16="http://schemas.microsoft.com/office/drawing/2014/main" id="{3204D644-B32B-B51D-E006-FC8277885136}"/>
              </a:ext>
            </a:extLst>
          </p:cNvPr>
          <p:cNvSpPr/>
          <p:nvPr/>
        </p:nvSpPr>
        <p:spPr>
          <a:xfrm>
            <a:off x="4064000" y="5468148"/>
            <a:ext cx="4013200" cy="431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12700" rIns="38100" bIns="12700" anchor="ctr">
            <a:noAutofit/>
          </a:bodyPr>
          <a:lstStyle/>
          <a:p>
            <a:pPr algn="ctr"/>
            <a:r>
              <a:rPr lang="en-US" sz="1300" b="1" dirty="0">
                <a:solidFill>
                  <a:srgbClr val="0E2841"/>
                </a:solidFill>
              </a:rPr>
              <a:t>Self-attention: </a:t>
            </a:r>
            <a:r>
              <a:rPr lang="en-US" sz="1300" b="1" dirty="0">
                <a:solidFill>
                  <a:srgbClr val="E97132"/>
                </a:solidFill>
              </a:rPr>
              <a:t>O(M²)</a:t>
            </a:r>
            <a:r>
              <a:rPr lang="en-US" sz="1300" b="1" dirty="0">
                <a:solidFill>
                  <a:srgbClr val="0E2841"/>
                </a:solidFill>
              </a:rPr>
              <a:t>   →   Cross-attention: </a:t>
            </a:r>
            <a:r>
              <a:rPr lang="en-US" sz="1300" b="1" dirty="0">
                <a:solidFill>
                  <a:srgbClr val="196B24"/>
                </a:solidFill>
              </a:rPr>
              <a:t>O(MN)</a:t>
            </a:r>
          </a:p>
        </p:txBody>
      </p:sp>
    </p:spTree>
    <p:extLst>
      <p:ext uri="{BB962C8B-B14F-4D97-AF65-F5344CB8AC3E}">
        <p14:creationId xmlns:p14="http://schemas.microsoft.com/office/powerpoint/2010/main" val="152508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aptionCard">
            <a:extLst>
              <a:ext uri="{FF2B5EF4-FFF2-40B4-BE49-F238E27FC236}">
                <a16:creationId xmlns:a16="http://schemas.microsoft.com/office/drawing/2014/main" id="{CCE8295F-1E76-475F-9230-E9CC78B47DE9}"/>
              </a:ext>
            </a:extLst>
          </p:cNvPr>
          <p:cNvSpPr/>
          <p:nvPr/>
        </p:nvSpPr>
        <p:spPr>
          <a:xfrm>
            <a:off x="1905000" y="5054600"/>
            <a:ext cx="9334500" cy="1092200"/>
          </a:xfrm>
          <a:prstGeom prst="roundRect">
            <a:avLst/>
          </a:prstGeom>
          <a:solidFill>
            <a:srgbClr val="EAF1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AB284C9-D2F6-BF74-1BA3-B7ADAF521F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pic>
        <p:nvPicPr>
          <p:cNvPr id="15" name="Picture 14" descr="cross_attentio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464" y="2129996"/>
            <a:ext cx="5536983" cy="2084748"/>
          </a:xfrm>
          <a:prstGeom prst="rect">
            <a:avLst/>
          </a:prstGeom>
        </p:spPr>
      </p:pic>
      <p:sp>
        <p:nvSpPr>
          <p:cNvPr id="3" name="Titolo 3">
            <a:extLst>
              <a:ext uri="{FF2B5EF4-FFF2-40B4-BE49-F238E27FC236}">
                <a16:creationId xmlns:a16="http://schemas.microsoft.com/office/drawing/2014/main" id="{3E071C53-2FBE-5A23-CBB3-1F827BAB03E3}"/>
              </a:ext>
            </a:extLst>
          </p:cNvPr>
          <p:cNvSpPr txBox="1">
            <a:spLocks/>
          </p:cNvSpPr>
          <p:nvPr/>
        </p:nvSpPr>
        <p:spPr>
          <a:xfrm>
            <a:off x="775869" y="958052"/>
            <a:ext cx="8794143" cy="854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it-IT">
                <a:solidFill/>
              </a:rPr>
              <a:t>Cross-Attention</a:t>
            </a:r>
            <a:endParaRPr lang="it-IT" dirty="0">
              <a:solidFill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D313583-3C86-72A3-B32A-91521DA04A70}"/>
                  </a:ext>
                </a:extLst>
              </p:cNvPr>
              <p:cNvSpPr txBox="1"/>
              <p:nvPr/>
            </p:nvSpPr>
            <p:spPr>
              <a:xfrm>
                <a:off x="220980" y="1924496"/>
                <a:ext cx="5052060" cy="12659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sz="24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∈ </m:t>
                    </m:r>
                    <m:sSup>
                      <m:sSupPr>
                        <m:ctrlP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2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it-IT" sz="2400" b="0" i="1" dirty="0" smtClean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endParaRPr lang="it-IT" sz="2400" b="0" i="1" dirty="0">
                  <a:solidFill>
                    <a:srgbClr val="1A1A1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sz="2400" i="1" dirty="0">
                  <a:solidFill>
                    <a:srgbClr val="1A1A1A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dirty="0" smtClean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it-IT" sz="24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it-IT" sz="24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it-IT" sz="24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1D313583-3C86-72A3-B32A-91521DA04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" y="1924496"/>
                <a:ext cx="5052060" cy="1265924"/>
              </a:xfrm>
              <a:prstGeom prst="rect">
                <a:avLst/>
              </a:prstGeom>
              <a:blipFill>
                <a:blip r:embed="rId3"/>
                <a:stretch>
                  <a:fillRect b="-53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D733F30-C5DE-19F3-A0FC-65B90959B7E9}"/>
                  </a:ext>
                </a:extLst>
              </p:cNvPr>
              <p:cNvSpPr txBox="1"/>
              <p:nvPr/>
            </p:nvSpPr>
            <p:spPr>
              <a:xfrm>
                <a:off x="775869" y="3279320"/>
                <a:ext cx="5266792" cy="8878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𝐴𝑡𝑡𝑒𝑛𝑡𝑖𝑜𝑛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it-IT" sz="2000" b="0" i="1" u="none" strike="noStrike" baseline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t-IT" sz="2000" b="0" i="1" u="none" strike="noStrike" baseline="0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2000" b="0" i="1" u="none" strike="noStrike" baseline="0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sSup>
                                <m:sSupPr>
                                  <m:ctrlP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it-IT" sz="2000" b="0" i="1" u="none" strike="noStrike" baseline="0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it-IT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it-IT" sz="2000" b="0" i="1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it-IT" sz="2000" b="0" i="1" u="none" strike="noStrike" baseline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sz="20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it-IT" sz="2000" b="0" i="1" dirty="0" smtClean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6D733F30-C5DE-19F3-A0FC-65B90959B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869" y="3279320"/>
                <a:ext cx="5266792" cy="8878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08C2DFE5-F7D7-D202-D835-CA9EA7B16573}"/>
                  </a:ext>
                </a:extLst>
              </p:cNvPr>
              <p:cNvSpPr txBox="1"/>
              <p:nvPr/>
            </p:nvSpPr>
            <p:spPr>
              <a:xfrm>
                <a:off x="891540" y="4299865"/>
                <a:ext cx="4892726" cy="40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</a:rPr>
                      <m:t>𝐶𝑟𝑜𝑠𝑠𝐴𝑡𝑡𝑛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000" b="0" i="1" u="none" strike="noStrike" baseline="0" dirty="0" err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sz="2000" b="0" i="1" u="none" strike="noStrike" baseline="0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it-IT" sz="2000" b="0" i="0" u="none" strike="noStrike" baseline="0" dirty="0">
                    <a:latin typeface="CMSS1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2000" b="0" i="0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it-IT" sz="20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it-IT" sz="20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it-IT" sz="20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20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it-IT" sz="20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p>
                    </m:sSup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08C2DFE5-F7D7-D202-D835-CA9EA7B16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540" y="4299865"/>
                <a:ext cx="4892726" cy="408830"/>
              </a:xfrm>
              <a:prstGeom prst="rect">
                <a:avLst/>
              </a:prstGeom>
              <a:blipFill>
                <a:blip r:embed="rId5"/>
                <a:stretch>
                  <a:fillRect t="-5970" b="-253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AE93169-2342-4DC7-AB1B-E9F3E9590B12}"/>
              </a:ext>
            </a:extLst>
          </p:cNvPr>
          <p:cNvSpPr txBox="1"/>
          <p:nvPr/>
        </p:nvSpPr>
        <p:spPr>
          <a:xfrm>
            <a:off x="2184400" y="5143500"/>
            <a:ext cx="8890000" cy="950584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it-IT" sz="1600" b="1" dirty="0">
                <a:solidFill>
                  <a:srgbClr val="156082"/>
                </a:solidFill>
              </a:rPr>
              <a:t>Cross-attention</a:t>
            </a:r>
            <a:r>
              <a:rPr lang="it-IT" sz="1600" dirty="0">
                <a:solidFill>
                  <a:srgbClr val="0E2841"/>
                </a:solidFill>
              </a:rPr>
              <a:t> uses the </a:t>
            </a:r>
            <a:r>
              <a:rPr lang="it-IT" sz="1600" b="1" dirty="0">
                <a:solidFill>
                  <a:srgbClr val="156082"/>
                </a:solidFill>
              </a:rPr>
              <a:t>latent array</a:t>
            </a:r>
            <a:r>
              <a:rPr lang="it-IT" sz="1600" dirty="0">
                <a:solidFill>
                  <a:srgbClr val="0E2841"/>
                </a:solidFill>
              </a:rPr>
              <a:t> to read information from the </a:t>
            </a:r>
            <a:r>
              <a:rPr lang="it-IT" sz="1600" b="1" dirty="0">
                <a:solidFill>
                  <a:srgbClr val="156082"/>
                </a:solidFill>
              </a:rPr>
              <a:t>input sequence</a:t>
            </a:r>
            <a:r>
              <a:rPr lang="it-IT" sz="1600" dirty="0">
                <a:solidFill>
                  <a:srgbClr val="0E2841"/>
                </a:solidFill>
              </a:rPr>
              <a:t>.</a:t>
            </a:r>
            <a:br>
              <a:rPr lang="it-IT" sz="1600" dirty="0"/>
            </a:br>
            <a:r>
              <a:rPr lang="it-IT" sz="1600" dirty="0">
                <a:solidFill>
                  <a:srgbClr val="0E2841"/>
                </a:solidFill>
              </a:rPr>
              <a:t>The output (</a:t>
            </a:r>
            <a:r>
              <a:rPr lang="it-IT" sz="1600" b="1" i="1" dirty="0">
                <a:solidFill>
                  <a:srgbClr val="156082"/>
                </a:solidFill>
              </a:rPr>
              <a:t>F</a:t>
            </a:r>
            <a:r>
              <a:rPr lang="it-IT" sz="1600" dirty="0">
                <a:solidFill>
                  <a:srgbClr val="0E2841"/>
                </a:solidFill>
              </a:rPr>
              <a:t>) is a </a:t>
            </a:r>
            <a:r>
              <a:rPr lang="it-IT" sz="1600" b="1" dirty="0">
                <a:solidFill>
                  <a:srgbClr val="156082"/>
                </a:solidFill>
              </a:rPr>
              <a:t>compact latent representation</a:t>
            </a:r>
            <a:r>
              <a:rPr lang="it-IT" sz="1600" dirty="0">
                <a:solidFill>
                  <a:srgbClr val="0E2841"/>
                </a:solidFill>
              </a:rPr>
              <a:t> that will be refined by the </a:t>
            </a:r>
            <a:r>
              <a:rPr lang="it-IT" sz="1600" b="1" dirty="0">
                <a:solidFill>
                  <a:srgbClr val="156082"/>
                </a:solidFill>
              </a:rPr>
              <a:t>latent transformer</a:t>
            </a:r>
            <a:r>
              <a:rPr lang="it-IT" sz="1600" dirty="0">
                <a:solidFill>
                  <a:srgbClr val="0E284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5472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3DA5397-8707-D090-59E1-D885CD02B2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BDF8BA1-B324-5499-4714-66E9DBC1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>
                <a:solidFill/>
              </a:rPr>
              <a:t>Perceiver</a:t>
            </a:r>
            <a:r>
              <a:rPr lang="it-IT" dirty="0">
                <a:solidFill/>
              </a:rPr>
              <a:t> Architecture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62A95C9-1734-4270-AA51-724D13E24622}"/>
              </a:ext>
            </a:extLst>
          </p:cNvPr>
          <p:cNvSpPr txBox="1"/>
          <p:nvPr/>
        </p:nvSpPr>
        <p:spPr>
          <a:xfrm>
            <a:off x="868680" y="4617720"/>
            <a:ext cx="512064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Encode and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E0B5638-D561-478B-9939-BBA3CCA8461B}"/>
                  </a:ext>
                </a:extLst>
              </p:cNvPr>
              <p:cNvSpPr txBox="1"/>
              <p:nvPr/>
            </p:nvSpPr>
            <p:spPr>
              <a:xfrm>
                <a:off x="868681" y="4983480"/>
                <a:ext cx="4505178" cy="1170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r>
                  <a:rPr lang="en-US" sz="1400" dirty="0">
                    <a:solidFill>
                      <a:srgbClr val="1A1A1A"/>
                    </a:solidFill>
                  </a:rPr>
                  <a:t>•  </a:t>
                </a:r>
                <a14:m>
                  <m:oMath xmlns:m="http://schemas.openxmlformats.org/officeDocument/2006/math"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the M input tokens →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Keys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) &amp;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Values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1400" b="0" i="0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sz="1400" b="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400" dirty="0">
                  <a:solidFill>
                    <a:srgbClr val="1A1A1A"/>
                  </a:solidFill>
                </a:endParaRP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N learned latents, N ≪ M → </a:t>
                </a:r>
                <a:r>
                  <a:rPr lang="en-US" sz="1400" b="1" dirty="0">
                    <a:solidFill>
                      <a:srgbClr val="1A1A1A"/>
                    </a:solidFill>
                  </a:rPr>
                  <a:t>Queries</a:t>
                </a:r>
                <a:r>
                  <a:rPr lang="en-US" sz="1400" dirty="0">
                    <a:solidFill>
                      <a:srgbClr val="1A1A1A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)</a:t>
                </a:r>
              </a:p>
              <a:p>
                <a:pPr algn="l"/>
                <a:r>
                  <a:rPr lang="en-US" sz="1400" dirty="0">
                    <a:solidFill>
                      <a:srgbClr val="1A1A1A"/>
                    </a:solidFill>
                  </a:rPr>
                  <a:t>  </a:t>
                </a:r>
              </a:p>
              <a:p>
                <a:pPr algn="l"/>
                <a:endParaRPr lang="en-US" sz="1400" dirty="0">
                  <a:solidFill>
                    <a:srgbClr val="1A1A1A"/>
                  </a:solidFill>
                </a:endParaRPr>
              </a:p>
              <a:p>
                <a:pPr algn="l"/>
                <a:r>
                  <a:rPr lang="en-US" sz="1400" dirty="0">
                    <a:solidFill>
                      <a:srgbClr val="1A1A1A"/>
                    </a:solidFill>
                  </a:rPr>
                  <a:t>Cost O(M²) → O(MN): ≈100× less  (N=512, M=50,176)</a:t>
                </a: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DE0B5638-D561-478B-9939-BBA3CCA8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1" y="4983480"/>
                <a:ext cx="4505178" cy="1170192"/>
              </a:xfrm>
              <a:prstGeom prst="rect">
                <a:avLst/>
              </a:prstGeom>
              <a:blipFill>
                <a:blip r:embed="rId2"/>
                <a:stretch>
                  <a:fillRect l="-406" t="-2094" b="-47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32D197A-3222-45FA-B18E-AD60C02D2C4F}"/>
              </a:ext>
            </a:extLst>
          </p:cNvPr>
          <p:cNvSpPr txBox="1"/>
          <p:nvPr/>
        </p:nvSpPr>
        <p:spPr>
          <a:xfrm>
            <a:off x="6400800" y="4617720"/>
            <a:ext cx="512064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Latent core and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9199AF9-D49A-E7E7-FA39-B58A38AFB16C}"/>
                  </a:ext>
                </a:extLst>
              </p:cNvPr>
              <p:cNvSpPr txBox="1"/>
              <p:nvPr/>
            </p:nvSpPr>
            <p:spPr>
              <a:xfrm>
                <a:off x="6394470" y="4983480"/>
                <a:ext cx="4505178" cy="1211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 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refined latent representations</a:t>
                </a: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4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acc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average of N latent vectors</a:t>
                </a:r>
              </a:p>
              <a:p>
                <a:r>
                  <a:rPr lang="en-US" sz="1400" dirty="0">
                    <a:solidFill>
                      <a:srgbClr val="1A1A1A"/>
                    </a:solidFill>
                  </a:rPr>
                  <a:t>•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A1A1A"/>
                            </a:solidFill>
                          </a:rPr>
                          <m:t>ℝ</m:t>
                        </m:r>
                      </m:e>
                      <m:sup>
                        <m:r>
                          <a:rPr lang="it-IT" sz="1400" b="0" i="1" dirty="0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it-IT" sz="14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A1A1A"/>
                    </a:solidFill>
                  </a:rPr>
                  <a:t>: output logits for K classes</a:t>
                </a:r>
              </a:p>
              <a:p>
                <a:endParaRPr lang="en-US" sz="1400" dirty="0">
                  <a:solidFill>
                    <a:srgbClr val="1A1A1A"/>
                  </a:solidFill>
                </a:endParaRPr>
              </a:p>
              <a:p>
                <a:r>
                  <a:rPr lang="it-IT" sz="1400" dirty="0"/>
                  <a:t>Cost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it-IT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sz="1400" dirty="0"/>
                  <a:t> with </a:t>
                </a:r>
                <a14:m>
                  <m:oMath xmlns:m="http://schemas.openxmlformats.org/officeDocument/2006/math">
                    <m:r>
                      <a:rPr lang="it-IT" sz="1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sz="1400">
                        <a:latin typeface="Cambria Math" panose="02040503050406030204" pitchFamily="18" charset="0"/>
                      </a:rPr>
                      <m:t>≪</m:t>
                    </m:r>
                    <m:r>
                      <a:rPr lang="it-IT" sz="1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sz="1400" dirty="0">
                  <a:solidFill>
                    <a:srgbClr val="1A1A1A"/>
                  </a:solidFill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F9199AF9-D49A-E7E7-FA39-B58A38AFB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470" y="4983480"/>
                <a:ext cx="4505178" cy="1211998"/>
              </a:xfrm>
              <a:prstGeom prst="rect">
                <a:avLst/>
              </a:prstGeom>
              <a:blipFill>
                <a:blip r:embed="rId4"/>
                <a:stretch>
                  <a:fillRect l="-406" t="-1010" b="-40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3670A3B8-3F13-7D62-5BB5-C8046E4A15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584" y="1683981"/>
            <a:ext cx="8757472" cy="29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41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3C65412-2859-171C-3C20-1D3B89565A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7A38048-B695-18C9-6A44-449215211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solidFill/>
              </a:rPr>
              <a:t>Fourier Positional </a:t>
            </a:r>
            <a:r>
              <a:rPr lang="it-IT" dirty="0" err="1">
                <a:solidFill/>
              </a:rPr>
              <a:t>Encoding</a:t>
            </a:r>
            <a:endParaRPr lang="it-IT" dirty="0">
              <a:solidFill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91994A3-D852-474E-B8D4-BC04596D1B57}"/>
              </a:ext>
            </a:extLst>
          </p:cNvPr>
          <p:cNvSpPr txBox="1"/>
          <p:nvPr/>
        </p:nvSpPr>
        <p:spPr>
          <a:xfrm>
            <a:off x="914400" y="1828800"/>
            <a:ext cx="10515600" cy="584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The Perceiver sees a flat array and attention is permutation-invariant, so position must be encoded into each input token.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54E4EB7-0E37-4100-955B-765CEF8F660B}"/>
              </a:ext>
            </a:extLst>
          </p:cNvPr>
          <p:cNvSpPr txBox="1"/>
          <p:nvPr/>
        </p:nvSpPr>
        <p:spPr>
          <a:xfrm>
            <a:off x="863600" y="4775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General recipe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9D2B990-4501-46EF-930C-DD470FE6DE42}"/>
              </a:ext>
            </a:extLst>
          </p:cNvPr>
          <p:cNvSpPr txBox="1"/>
          <p:nvPr/>
        </p:nvSpPr>
        <p:spPr>
          <a:xfrm>
            <a:off x="863600" y="5080000"/>
            <a:ext cx="5334000" cy="149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Domain coordinates: images (u, v), point clouds (x, y, z), text index t</a:t>
            </a:r>
            <a:endParaRPr lang="it-IT" sz="1400" dirty="0">
              <a:solidFill>
                <a:srgbClr val="1A1A1A"/>
              </a:solidFill>
            </a:endParaRPr>
          </a:p>
          <a:p>
            <a:r>
              <a:rPr sz="1400" b="0">
                <a:solidFill>
                  <a:srgbClr val="1A1A1A"/>
                </a:solidFill>
              </a:rPr>
              <a:t>•  Sin/cos bands up to the Nyquist frequency — above it points alias and blur</a:t>
            </a:r>
          </a:p>
          <a:p>
            <a:r>
              <a:rPr sz="1400" b="0">
                <a:solidFill>
                  <a:srgbClr val="1A1A1A"/>
                </a:solidFill>
              </a:rPr>
              <a:t>•  Sample the spectrum densely: more bands help (vs NeRF’s few)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25E1D2E-BBA7-411C-8019-254D25AD3CB8}"/>
              </a:ext>
            </a:extLst>
          </p:cNvPr>
          <p:cNvSpPr txBox="1"/>
          <p:nvPr/>
        </p:nvSpPr>
        <p:spPr>
          <a:xfrm>
            <a:off x="6451600" y="4775200"/>
            <a:ext cx="49784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 dirty="0">
                <a:solidFill>
                  <a:srgbClr val="156082"/>
                </a:solidFill>
              </a:rPr>
              <a:t>Input </a:t>
            </a:r>
            <a:r>
              <a:rPr lang="it-IT" sz="1600" b="1" dirty="0" err="1">
                <a:solidFill>
                  <a:srgbClr val="156082"/>
                </a:solidFill>
              </a:rPr>
              <a:t>seen</a:t>
            </a:r>
            <a:r>
              <a:rPr lang="it-IT" sz="1600" b="1" dirty="0">
                <a:solidFill>
                  <a:srgbClr val="156082"/>
                </a:solidFill>
              </a:rPr>
              <a:t> by </a:t>
            </a:r>
            <a:r>
              <a:rPr lang="it-IT" sz="1600" b="1" dirty="0" err="1">
                <a:solidFill>
                  <a:srgbClr val="156082"/>
                </a:solidFill>
              </a:rPr>
              <a:t>attention</a:t>
            </a:r>
            <a:endParaRPr lang="it-IT" sz="1600" b="1" dirty="0">
              <a:solidFill>
                <a:srgbClr val="156082"/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3803066-301F-43CB-A0FB-EC1E79F80B97}"/>
              </a:ext>
            </a:extLst>
          </p:cNvPr>
          <p:cNvSpPr txBox="1"/>
          <p:nvPr/>
        </p:nvSpPr>
        <p:spPr>
          <a:xfrm>
            <a:off x="6451600" y="5080000"/>
            <a:ext cx="4978400" cy="1498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array stays flat; each token is enriched before projection</a:t>
            </a:r>
            <a:endParaRPr lang="it-IT" sz="1400">
              <a:solidFill>
                <a:srgbClr val="1A1A1A"/>
              </a:solidFill>
            </a:endParaRPr>
          </a:p>
          <a:p>
            <a:r>
              <a:rPr sz="1400" b="0">
                <a:solidFill>
                  <a:srgbClr val="1A1A1A"/>
                </a:solidFill>
              </a:rPr>
              <a:t>•  Position is concatenated to content, not added as in language</a:t>
            </a:r>
          </a:p>
          <a:p>
            <a:r>
              <a:rPr sz="1400" b="0">
                <a:solidFill>
                  <a:srgbClr val="1A1A1A"/>
                </a:solidFill>
              </a:rPr>
              <a:t>•  Concatenation works better when content is dense (vision)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97E6839D-BD9A-4D5A-BBDA-979C4079D970}"/>
                  </a:ext>
                </a:extLst>
              </p:cNvPr>
              <p:cNvSpPr txBox="1"/>
              <p:nvPr/>
            </p:nvSpPr>
            <p:spPr>
              <a:xfrm>
                <a:off x="914400" y="4267200"/>
                <a:ext cx="10363200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∥ </m:t>
                        </m:r>
                        <m:r>
                          <a:rPr lang="en-US" sz="1600" i="1" dirty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d>
                          <m:dPr>
                            <m:ctrlPr>
                              <a:rPr lang="en-US" sz="1600" i="1" dirty="0">
                                <a:solidFill>
                                  <a:srgbClr val="1A1A1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1A1A1A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sz="1500" dirty="0">
                    <a:solidFill>
                      <a:srgbClr val="555555"/>
                    </a:solidFill>
                    <a:latin typeface="Aptos"/>
                  </a:rPr>
                  <a:t>   —  content ∥ Fourier position code</a:t>
                </a: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97E6839D-BD9A-4D5A-BBDA-979C4079D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267200"/>
                <a:ext cx="10363200" cy="4318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fourier_bands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340864"/>
            <a:ext cx="4937760" cy="19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77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F95F253-AD08-B1BC-C8F1-1AFCA85819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>
                <a:solidFill>
                  <a:schemeClr val="bg1"/>
                </a:solidFill>
              </a:rPr>
              <a:t>F. Gigli  C. Vignoli     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&amp; </a:t>
            </a:r>
            <a:r>
              <a:rPr lang="it-IT" dirty="0" err="1">
                <a:solidFill>
                  <a:schemeClr val="bg1"/>
                </a:solidFill>
              </a:rPr>
              <a:t>Perceiver</a:t>
            </a:r>
            <a:r>
              <a:rPr lang="it-IT" dirty="0">
                <a:solidFill>
                  <a:schemeClr val="bg1"/>
                </a:solidFill>
              </a:rPr>
              <a:t>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B432D1C-3C63-9873-57EA-E7E0BC4BD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Latent Transformer &amp; Weight Sharing</a:t>
            </a:r>
          </a:p>
        </p:txBody>
      </p:sp>
      <p:sp>
        <p:nvSpPr>
          <p:cNvPr id="16" name="KeyBanner 7"/>
          <p:cNvSpPr/>
          <p:nvPr/>
        </p:nvSpPr>
        <p:spPr>
          <a:xfrm>
            <a:off x="774700" y="1854200"/>
            <a:ext cx="10985500" cy="5334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21634F-694A-41EF-959E-F1B29382EAFA}"/>
              </a:ext>
            </a:extLst>
          </p:cNvPr>
          <p:cNvSpPr txBox="1"/>
          <p:nvPr/>
        </p:nvSpPr>
        <p:spPr>
          <a:xfrm>
            <a:off x="924560" y="1924050"/>
            <a:ext cx="10684000" cy="384048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</a:rPr>
              <a:t>Once information is in the latent array, depth is spent by reusing the same processor on a compact state.</a:t>
            </a:r>
            <a:endParaRPr lang="it-IT" sz="1500" b="1">
              <a:solidFill>
                <a:srgbClr val="FFFFFF"/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71123A-266C-4E35-A59A-B09A1106E346}"/>
              </a:ext>
            </a:extLst>
          </p:cNvPr>
          <p:cNvSpPr txBox="1"/>
          <p:nvPr/>
        </p:nvSpPr>
        <p:spPr>
          <a:xfrm>
            <a:off x="868680" y="4343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Weight sharing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F5A7DAE-5256-42D6-A4C4-8D8978F43A9F}"/>
              </a:ext>
            </a:extLst>
          </p:cNvPr>
          <p:cNvSpPr txBox="1"/>
          <p:nvPr/>
        </p:nvSpPr>
        <p:spPr>
          <a:xfrm>
            <a:off x="868680" y="47091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:r>
              <a:rPr lang="en-US" sz="1500" b="0" dirty="0">
                <a:solidFill>
                  <a:srgbClr val="1A1A1A"/>
                </a:solidFill>
              </a:rPr>
              <a:t xml:space="preserve">•  The same Latent Transformer block </a:t>
            </a:r>
            <a14:m>
              <m:oMath>
                <m:sSub>
                  <m:sSubPr>
                    <m:ctrlP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𝜃</m:t>
                    </m:r>
                  </m:sub>
                </m:sSub>
              </m:oMath>
            </a14:m>
            <a:r>
              <a:rPr lang="en-US" sz="1500" b="0" dirty="0">
                <a:solidFill>
                  <a:srgbClr val="1A1A1A"/>
                </a:solidFill>
              </a:rPr>
              <a:t xml:space="preserve"> is reused at every repeat, sharing parameters </a:t>
            </a:r>
            <a14:m>
              <m:oMath>
                <m:r>
                  <a:rPr lang="en-US" sz="1500" b="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𝜃</m:t>
                </m:r>
              </m:oMath>
            </a14:m>
          </a:p>
          <a:p xmlns:a14="http://schemas.microsoft.com/office/drawing/2010/main" xmlns:m="http://schemas.openxmlformats.org/officeDocument/2006/math">
            <a:r>
              <a:rPr lang="en-US" sz="1500" b="0" dirty="0">
                <a:solidFill>
                  <a:srgbClr val="1A1A1A"/>
                </a:solidFill>
              </a:rPr>
              <a:t xml:space="preserve">•  Unrolling depth behaves like an RNN over the latent state:  </a:t>
            </a:r>
            <a14:m>
              <m:oMath>
                <m:sSup>
                  <m:sSupPr>
                    <m:ctrlP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𝑍</m:t>
                    </m:r>
                  </m:e>
                  <m:sup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(</m:t>
                    </m:r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+</m:t>
                    </m:r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1</m:t>
                    </m:r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)</m:t>
                    </m:r>
                  </m:sup>
                </m:sSup>
                <m:r>
                  <a:rPr lang="en-US" sz="1500" b="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=</m:t>
                </m:r>
                <m:sSub>
                  <m:sSubPr>
                    <m:ctrlP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𝐵</m:t>
                    </m:r>
                  </m:e>
                  <m:sub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𝜃</m:t>
                    </m:r>
                  </m:sub>
                </m:sSub>
                <m:r>
                  <a:rPr lang="en-US" sz="1500" b="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(</m:t>
                </m:r>
                <m:sSup>
                  <m:sSupPr>
                    <m:ctrlP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𝑍</m:t>
                    </m:r>
                  </m:e>
                  <m:sup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(</m:t>
                    </m:r>
                    <m:r>
                      <a:rPr lang="en-US" sz="1500" b="0" i="1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500" b="0" i="0" dirty="0">
                        <a:solidFill>
                          <a:srgbClr val="1A1A1A"/>
                        </a:solidFill>
                        <a:latin typeface="Cambria Math" panose="02040503050406030204" pitchFamily="18" charset="0"/>
                      </a:rPr>
                      <m:t xml:space="preserve">)</m:t>
                    </m:r>
                  </m:sup>
                </m:sSup>
                <m:r>
                  <a:rPr lang="en-US" sz="1500" b="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)</m:t>
                </m:r>
              </m:oMath>
            </a14:m>
          </a:p>
          <a:p>
            <a:r>
              <a:rPr sz="1500" b="0">
                <a:solidFill>
                  <a:srgbClr val="1A1A1A"/>
                </a:solidFill>
              </a:rPr>
              <a:t>•  Most useful in low-data regimes (e.g. ImageNet), where it curbs overfitting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78338DD-FC96-4B3F-AF9E-6DFE9A00BFA6}"/>
              </a:ext>
            </a:extLst>
          </p:cNvPr>
          <p:cNvSpPr txBox="1"/>
          <p:nvPr/>
        </p:nvSpPr>
        <p:spPr>
          <a:xfrm>
            <a:off x="6400800" y="4343400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it-IT" sz="1600" b="1">
                <a:solidFill>
                  <a:srgbClr val="156082"/>
                </a:solidFill>
              </a:rPr>
              <a:t>Why it matters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A5C1AD0-BE07-44BF-97E2-8F55DE020722}"/>
              </a:ext>
            </a:extLst>
          </p:cNvPr>
          <p:cNvSpPr txBox="1"/>
          <p:nvPr/>
        </p:nvSpPr>
        <p:spPr>
          <a:xfrm>
            <a:off x="6400800" y="47091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Iterative refinement without a new processor at each step</a:t>
            </a:r>
            <a:endParaRPr lang="it-IT" sz="1500">
              <a:solidFill>
                <a:srgbClr val="1A1A1A"/>
              </a:solidFill>
            </a:endParaRPr>
          </a:p>
          <a:p>
            <a:r>
              <a:rPr sz="1500" b="0">
                <a:solidFill>
                  <a:srgbClr val="1A1A1A"/>
                </a:solidFill>
              </a:rPr>
              <a:t>•  Parameter count stays fixed as depth grows</a:t>
            </a:r>
          </a:p>
          <a:p>
            <a:r>
              <a:rPr sz="1500" b="0">
                <a:solidFill>
                  <a:srgbClr val="1A1A1A"/>
                </a:solidFill>
              </a:rPr>
              <a:t>•  Computation stays in the compact N-slot latent space</a:t>
            </a:r>
          </a:p>
          <a:p>
            <a:r>
              <a:rPr sz="1500" b="0">
                <a:solidFill>
                  <a:srgbClr val="1A1A1A"/>
                </a:solidFill>
              </a:rPr>
              <a:t>•  Optional repeated cross-attends re-read the input — powerful but heavy, no longer the default</a:t>
            </a:r>
          </a:p>
        </p:txBody>
      </p:sp>
      <p:pic>
        <p:nvPicPr>
          <p:cNvPr id="15" name="Picture 14" descr="perceiver_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14600"/>
            <a:ext cx="10607040" cy="165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07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37563DE8-9242-7939-9436-10C840B558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3FE1A6BA-1900-F573-4A43-044EEB963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Original Perceiver Output: Pooling Classifier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 cx="5577840" cy="1005840">
                    <a16:creationId xmlns:a16="http://schemas.microsoft.com/office/drawing/2014/main" id="{87841B81-67E7-49B1-A6B0-3D613CABC973}"/>
                  </a:ext>
                </a:extLst>
              </p:cNvPr>
              <p:cNvSpPr txBox="1"/>
              <p:nvPr/>
            </p:nvSpPr>
            <p:spPr>
              <a:xfrm>
                <a:off x="3291840" y="2578608"/>
                <a:ext cx="5577840" cy="1005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3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Encoder</m:t>
                      </m:r>
                      <m:d>
                        <m:d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3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logits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𝑐𝑙𝑠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 cx="5577840" cy="1005840">
                    <a16:creationId xmlns:a16="http://schemas.microsoft.com/office/drawing/2014/main" id="{87841B81-67E7-49B1-A6B0-3D613CABC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40" y="2578608"/>
                <a:ext cx="5577840" cy="1005840"/>
              </a:xfrm>
              <a:prstGeom prst="rect">
                <a:avLst/>
              </a:prstGeom>
              <a:blipFill>
                <a:blip r:embed="rId2"/>
                <a:stretch>
                  <a:fillRect t="-52414" b="-937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original Perceiver has exactly one way out: average the latents, then project. That fixes the output to a single label.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pooling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51709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The N latent vectors are averaged into one, so the output size no longer depends on the input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That single vector is projected to the class logits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It suits classification and nothing else: there is no way to ask for a mask or a 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8251" y="3977639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Where the FFN and sharing sit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8251" y="4343400"/>
            <a:ext cx="51709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Each latent block is pre-norm attention, a residual, an FFN, then another residual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FFN adds the non-linearity once attention has mixed the slots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Weight sharing reuses the same processor at every iteration; only the first cross-attention keeps its own weights</a:t>
            </a:r>
          </a:p>
        </p:txBody>
      </p:sp>
    </p:spTree>
    <p:extLst>
      <p:ext uri="{BB962C8B-B14F-4D97-AF65-F5344CB8AC3E}">
        <p14:creationId xmlns:p14="http://schemas.microsoft.com/office/powerpoint/2010/main" val="2698505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D5EE0EF-8FA8-A1E0-CE72-A5D0FAB7E6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5E95E30-C2CB-3F1B-3C59-D53D36B4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Computational Complexity Analysis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CEC940F0-86E4-42C7-9E81-31A1C6D41D45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10981944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4500">
                  <a:extLst>
                    <a:ext uri="{9D8B030D-6E8A-4147-A177-3AD203B41FA5}">
                      <a16:colId xmlns:a16="http://schemas.microsoft.com/office/drawing/2014/main" val="2533191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757985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491593092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5673714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Self-Attn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Cross-Attn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6412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Standard Transformer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 xmlns:a14="http://schemas.microsoft.com/office/drawing/2010/main" xmlns:m="http://schemas.openxmlformats.org/officeDocument/2006/math">
                      <a:pPr algn="ctr"/>
                      <a14:m>
                        <m:oMath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p>
                            <m:sSupPr>
                              <m:ctrlP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350" i="0" dirty="0"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oMath>
                      </a14:m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 xmlns:a14="http://schemas.microsoft.com/office/drawing/2010/main" xmlns:m="http://schemas.openxmlformats.org/officeDocument/2006/math">
                      <a:pPr algn="ctr"/>
                      <a14:m>
                        <m:oMath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p>
                            <m:sSupPr>
                              <m:ctrlP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sz="1350" i="0" dirty="0"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oMath>
                      </a14:m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5347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1350" b="1"/>
                        <a:t>Perceiver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 xmlns:a14="http://schemas.microsoft.com/office/drawing/2010/main" xmlns:m="http://schemas.openxmlformats.org/officeDocument/2006/math">
                      <a:pPr algn="ctr"/>
                      <a14:m>
                        <m:oMath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sSup>
                            <m:sSupPr>
                              <m:ctrlP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350" i="0" dirty="0"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oMath>
                      </a14:m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 xmlns:a14="http://schemas.microsoft.com/office/drawing/2010/main" xmlns:m="http://schemas.openxmlformats.org/officeDocument/2006/math">
                      <a:pPr algn="ctr"/>
                      <a14:m>
                        <m:oMath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(</m:t>
                          </m:r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𝑀𝑁𝑑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oMath>
                      </a14:m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 xmlns:a14="http://schemas.microsoft.com/office/drawing/2010/main" xmlns:m="http://schemas.openxmlformats.org/officeDocument/2006/math">
                      <a:pPr algn="ctr"/>
                      <a14:m>
                        <m:oMath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((</m:t>
                          </m:r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𝑀𝑁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p>
                            <m:sSupPr>
                              <m:ctrlP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sz="1350" i="0" dirty="0"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  <m:r>
                            <a:rPr lang="en-US" sz="135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350" i="0" dirty="0">
                              <a:latin typeface="Cambria Math" panose="02040503050406030204" pitchFamily="18" charset="0"/>
                            </a:rPr>
                            <m:t xml:space="preserve">)</m:t>
                          </m:r>
                        </m:oMath>
                      </a14:m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57149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488377A-5869-45CA-82A5-D9D2D862DB21}"/>
              </a:ext>
            </a:extLst>
          </p:cNvPr>
          <p:cNvSpPr txBox="1"/>
          <p:nvPr/>
        </p:nvSpPr>
        <p:spPr>
          <a:xfrm>
            <a:off x="868680" y="4681728"/>
            <a:ext cx="5029200" cy="14097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14:m>
              <m:oMath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𝑀</m:t>
                </m:r>
              </m:oMath>
            </a14:m>
            <a:r>
              <a:rPr lang="en-US" sz="1350" dirty="0">
                <a:solidFill>
                  <a:srgbClr val="1A1A1A"/>
                </a:solidFill>
              </a:rPr>
              <a:t xml:space="preserve"> — number of input elements</a:t>
            </a:r>
            <a:br/>
            <a14:m>
              <m:oMath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𝑁</m:t>
                </m:r>
              </m:oMath>
            </a14:m>
            <a:r>
              <a:rPr lang="en-US" sz="1350" dirty="0">
                <a:solidFill>
                  <a:srgbClr val="1A1A1A"/>
                </a:solidFill>
              </a:rPr>
              <a:t xml:space="preserve"> — number of latent slots  (</a:t>
            </a:r>
            <a14:m>
              <m:oMath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𝑁</m:t>
                </m:r>
                <m:r>
                  <a:rPr lang="en-US" sz="1350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≪</m:t>
                </m:r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𝑀</m:t>
                </m:r>
              </m:oMath>
            </a14:m>
            <a:r>
              <a:rPr lang="en-US" sz="1350" dirty="0">
                <a:solidFill>
                  <a:srgbClr val="1A1A1A"/>
                </a:solidFill>
              </a:rPr>
              <a:t xml:space="preserve">)</a:t>
            </a:r>
            <a:br/>
            <a14:m>
              <m:oMath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𝐿</m:t>
                </m:r>
              </m:oMath>
            </a14:m>
            <a:r>
              <a:rPr lang="en-US" sz="1350" dirty="0">
                <a:solidFill>
                  <a:srgbClr val="1A1A1A"/>
                </a:solidFill>
              </a:rPr>
              <a:t xml:space="preserve"> — number of latent processing layers</a:t>
            </a:r>
            <a:br/>
            <a14:m>
              <m:oMath>
                <m:r>
                  <a:rPr lang="en-US" sz="1350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𝑑</m:t>
                </m:r>
              </m:oMath>
            </a14:m>
            <a:r>
              <a:rPr lang="en-US" sz="1350" dirty="0">
                <a:solidFill>
                  <a:srgbClr val="1A1A1A"/>
                </a:solidFill>
              </a:rPr>
              <a:t xml:space="preserve"> — hidden channel 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A Transformer pays for every pair of input tokens. The Perceiver pays M·N per input read, then works on a fixed number of latents.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1596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Symbols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1596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buys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681728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Only cross-attention reads the input: O(MN) per read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Every latent block stays inside the N latent slots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With N fixed, depth stops depending on how long the input is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Only the reads grow with M; the latent blocks do not</a:t>
            </a:r>
          </a:p>
        </p:txBody>
      </p:sp>
    </p:spTree>
    <p:extLst>
      <p:ext uri="{BB962C8B-B14F-4D97-AF65-F5344CB8AC3E}">
        <p14:creationId xmlns:p14="http://schemas.microsoft.com/office/powerpoint/2010/main" val="3078838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8A1222AE-D4F1-6542-3C59-876E7FE08D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2108832-038B-CA39-F643-56BEBACD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GELU Activation &amp; LAMB Optimizer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 cx="4937760" cy="475488">
                    <a16:creationId xmlns:a16="http://schemas.microsoft.com/office/drawing/2014/main" id="{D06411D3-C684-47A4-90CD-C1174A4BCCD5}"/>
                  </a:ext>
                </a:extLst>
              </p:cNvPr>
              <p:cNvSpPr txBox="1"/>
              <p:nvPr/>
            </p:nvSpPr>
            <p:spPr>
              <a:xfrm>
                <a:off x="868680" y="2999232"/>
                <a:ext cx="4937760" cy="475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3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GELU</m:t>
                      </m:r>
                      <m:d>
                        <m:d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1.702</m:t>
                          </m:r>
                          <m: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 cx="4937760" cy="475488">
                    <a16:creationId xmlns:a16="http://schemas.microsoft.com/office/drawing/2014/main" id="{D06411D3-C684-47A4-90CD-C1174A4BC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999232"/>
                <a:ext cx="4937760" cy="4754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 cx="4937760" cy="475488">
                    <a16:creationId xmlns:a16="http://schemas.microsoft.com/office/drawing/2014/main" id="{4097E138-F3BD-4C4A-913F-CF9D2F9BD17D}"/>
                  </a:ext>
                </a:extLst>
              </p:cNvPr>
              <p:cNvSpPr txBox="1"/>
              <p:nvPr/>
            </p:nvSpPr>
            <p:spPr>
              <a:xfrm>
                <a:off x="6400800" y="2999232"/>
                <a:ext cx="4937760" cy="4754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ctr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3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skw"/>
                          <m:ctrlPr>
                            <a:rPr lang="en-US" sz="13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û</m:t>
                              </m:r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en-US" sz="13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 cx="4937760" cy="475488">
                    <a16:creationId xmlns:a16="http://schemas.microsoft.com/office/drawing/2014/main" id="{4097E138-F3BD-4C4A-913F-CF9D2F9BD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999232"/>
                <a:ext cx="4937760" cy="475488"/>
              </a:xfrm>
              <a:prstGeom prst="rect">
                <a:avLst/>
              </a:prstGeom>
              <a:blipFill>
                <a:blip r:embed="rId3"/>
                <a:stretch>
                  <a:fillRect t="-190476" b="-27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Two choices inherited from the paper: a smooth activation, and an optimiser built for batches far larger than 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5786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GELU — Gaussian Error Linear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786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LAMB — Layer-wise Adaptive Moments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639312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A smooth activation, standard across Transformers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It lets a small negative gradient keep flowing instead of clipping it to 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39312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A per-layer trust ratio rescales each update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It is what keeps very large batches from diverging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46320"/>
            <a:ext cx="10881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LAMB here, and what it cost 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120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The paper found LAMB easier to optimise than SGD, the usual choice for CNNs on ImageNet; it does not test Adam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Latent init scale 1.0 collapses our run to 52.08%; in the paper (LAMB too) it costs about 1 point: cause not isolated</a:t>
            </a:r>
          </a:p>
        </p:txBody>
      </p:sp>
    </p:spTree>
    <p:extLst>
      <p:ext uri="{BB962C8B-B14F-4D97-AF65-F5344CB8AC3E}">
        <p14:creationId xmlns:p14="http://schemas.microsoft.com/office/powerpoint/2010/main" val="129468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B6C5130-7381-342E-5503-746FBC4C35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40C3C92-4410-B488-BCA8-DBAA8B65C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Implementation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DDF49AA-D4E1-4D81-9101-C962353B5CF3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10981944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877833826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3694912139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3326885752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Aspect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Paper implementation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Project code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404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Core 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Cross-attention into learned latents, latent self-attention, FFN, 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Same modules; weight sharing exposed as an ablation switch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49315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Model scale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Large runs: latents up to 2048×512 (IO flow), 201M-param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CIFAR-10 96×384; ModelNet40 / text 128×512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4288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Data setting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ImageNet, ModelNet40, large language pretraining corpora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CIFAR-10, ModelNet40, WikiText-103 byte-MLM, GLUE fine-tuning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75938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Training budget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Distributed accelerators, batches 512–8192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Single-GPU, batches 32–64, LAMB retained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51709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lang="it-IT" sz="1300" b="1"/>
                        <a:t>Practical additions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Minimal regularization in the reference setup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Validation split carved from train, fixed seed, attention-map extraction, declarative run registry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1901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mechanism is the paper's; scale, budget and a few choices (MLP 4×) differ.</a:t>
            </a:r>
          </a:p>
        </p:txBody>
      </p:sp>
    </p:spTree>
    <p:extLst>
      <p:ext uri="{BB962C8B-B14F-4D97-AF65-F5344CB8AC3E}">
        <p14:creationId xmlns:p14="http://schemas.microsoft.com/office/powerpoint/2010/main" val="2376115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7814846D-3C69-FBAE-BA41-62863F0FEA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322A58C-833F-AE54-1F85-A46BA5C94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Differences from the Paper</a:t>
            </a:r>
            <a:endParaRPr lang="it-IT"/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AB861FC7-FE95-4252-846D-39EA7375CAF0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14600"/>
          <a:ext cx="10981944" cy="3174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399680194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3852848313"/>
                    </a:ext>
                  </a:extLst>
                </a:gridCol>
                <a:gridCol w="4508500">
                  <a:extLst>
                    <a:ext uri="{9D8B030D-6E8A-4147-A177-3AD203B41FA5}">
                      <a16:colId xmlns:a16="http://schemas.microsoft.com/office/drawing/2014/main" val="386895830"/>
                    </a:ext>
                  </a:extLst>
                </a:gridCol>
              </a:tblGrid>
              <a:tr h="453571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Choice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Original paper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37611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Input tokenization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Raw pixels, no patching (M = 50,176)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Raw pixels, no patching (CIFAR-10, M = 1,024)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89923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Latent array N × 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512 × 1024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96 × 384 (CIFAR-10); 128 × 512 (ModelNet40, text)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462970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Cross-attend iterations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4 (CIFAR-10); 2 (ModelNet40); 1 (text)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344139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Positional encoding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Fourier, K = 64 bands/axis (ImageNet: 258 dims; ModelNet40 too)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CIFAR-10 identical (258 dims); ModelNet40 and text: K = 6 (42 per point, 270 per byte)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911983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Weight sharing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On by default (shared across 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Exposed as an ablation switch (on/off)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907815"/>
                  </a:ext>
                </a:extLst>
              </a:tr>
              <a:tr h="453571">
                <a:tc>
                  <a:txBody>
                    <a:bodyPr/>
                    <a:lstStyle/>
                    <a:p>
                      <a:r>
                        <a:rPr lang="it-IT" sz="1300" b="1"/>
                        <a:t>Parameters, MLP width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44.9M (ImageNet); MLP 1× (hidden = D)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10.2M (CIFAR-10) · 23.3M (ModelNet40) · 18.9M (IO text); MLP 4×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9506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Most differences from the paper follow from one GPU instead of a TPU pod. The mechanism itself is untouched.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5870448"/>
            <a:ext cx="10689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</a:rPr>
              <a:t>Not from the budget: MLP 4× (paper 1×); ModelNet40 scale and shift undone by normalisation (the paper jitters each point); single-byte masking, the paper whole words.</a:t>
            </a:r>
          </a:p>
        </p:txBody>
      </p:sp>
    </p:spTree>
    <p:extLst>
      <p:ext uri="{BB962C8B-B14F-4D97-AF65-F5344CB8AC3E}">
        <p14:creationId xmlns:p14="http://schemas.microsoft.com/office/powerpoint/2010/main" val="3049060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94183F1-C67E-EF95-2B94-D1E940AC46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7B49388-9D86-F260-6908-789925E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Experimental Setup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840AAA2-A9A3-4E7A-B931-3AA7BD0A11F2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4754880" cy="356616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369928727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653341468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101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Latent array (N × D)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96 × 384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47165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Cross-attn stages (T)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4, interleaved, shared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9933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Transformer blocks (L)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4 (shared)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79323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Attention heads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1 cross  ·  8 self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296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Input tokens (M)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1,024 raw pixels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80466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Dropout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0.0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1722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Optimizer / LR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LAMB  ·  0.004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74783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LR schedule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MultiStep [84, 102, 114]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201466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Batch size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64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02642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Epochs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120  (no early stopping)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18443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r>
                        <a:rPr lang="it-IT" sz="1200"/>
                        <a:t>Total parameters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10.18M</a:t>
                      </a:r>
                    </a:p>
                  </a:txBody>
                  <a:tcPr marT="26459" marB="26459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089898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Goal — validate the Perceiver on raw pixels: one token per pixel, no patching, no convolutional assumptions.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7860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we varied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926079"/>
            <a:ext cx="5852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Positional encoding: Fourier, learned, or none at all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How many cross-attends, and where they sit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Weight sharing and the latent transformer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Fourier bands, maximum frequency, latent init scale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And three identical runs, to measure the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40740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How the data reaches the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754880"/>
            <a:ext cx="5852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A 32×32 image becomes 1,024 tokens, one per pixel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Fourier encoding adds 258 features: each token carries 261 numbers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Augmentation is RandAugment alone, two ops at magnitude 9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5,000 training images are held out as the validation split</a:t>
            </a:r>
          </a:p>
        </p:txBody>
      </p:sp>
    </p:spTree>
    <p:extLst>
      <p:ext uri="{BB962C8B-B14F-4D97-AF65-F5344CB8AC3E}">
        <p14:creationId xmlns:p14="http://schemas.microsoft.com/office/powerpoint/2010/main" val="198529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253DDD4-E22F-6313-24C2-759FA11596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3B59942-C31B-8534-735E-31EC29FE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CIFAR-10: Ablation Accuracy</a:t>
            </a:r>
          </a:p>
        </p:txBody>
      </p:sp>
      <p:pic>
        <p:nvPicPr>
          <p:cNvPr id="21" name="Picture 20" descr="cifar10_ablation_cor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777" y="2737386"/>
            <a:ext cx="5123421" cy="324860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Twenty-four runs on CIFAR-10. The best reaches 72.91%, the baseline 71.63% — a 1.28-point gap, inside the noise.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257860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moved the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20" y="2926079"/>
            <a:ext cx="43891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Removing the positional encoding: −39.27 points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Latent init scale at 1.0: −19.55, an unstable run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Sixteen bands: −9.05, a collapsed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4453127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did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800599"/>
            <a:ext cx="438912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One cross-attend instead of four gains 1.28 points, inside the 2.78-point band, with 4 latent blocks instead of 16: in our code depth grows with 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Every figure comes from logs/&lt;run&gt;/results.json, at the epoch chosen on validation</a:t>
            </a:r>
          </a:p>
        </p:txBody>
      </p:sp>
    </p:spTree>
    <p:extLst>
      <p:ext uri="{BB962C8B-B14F-4D97-AF65-F5344CB8AC3E}">
        <p14:creationId xmlns:p14="http://schemas.microsoft.com/office/powerpoint/2010/main" val="3022032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18E301CB-0925-2767-2648-640E05CF1D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8285F9B-6F24-6E49-3B72-A687E0E4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Ablation Matrix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29255FBF-0035-4772-9F65-5F22DE67CA57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6903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600">
                  <a:extLst>
                    <a:ext uri="{9D8B030D-6E8A-4147-A177-3AD203B41FA5}">
                      <a16:colId xmlns:a16="http://schemas.microsoft.com/office/drawing/2014/main" val="55784313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168936333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10698134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178657087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51907346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2087376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Run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Params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vs e01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78499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e08_T1_interleaved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T = 1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8.65M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72.91%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+1.28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inside band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061334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e26_maxfreq_64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f_max 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10.18M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72.41%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+0.78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inside band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9817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e01_baseline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— reference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10.18M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71.63%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13270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e16_no_weight_sharing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 sharing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31.46M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69.46%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-2.17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inside band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927622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e02_permuted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permuted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10.18M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68.95%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-2.68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inside band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85224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/>
                        <a:t>e24_bands_16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16 bands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9.63M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62.58%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-9.05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/>
                        <a:t>collapsed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8344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rgbClr val="E74C3C"/>
                          </a:solidFill>
                        </a:rPr>
                        <a:t>e28_init_scale_1p0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init scale 1.0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10.18M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52.08%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-19.55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>
                          <a:solidFill>
                            <a:srgbClr val="E74C3C"/>
                          </a:solidFill>
                        </a:rPr>
                        <a:t>collapsed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640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it-IT" sz="1200">
                          <a:solidFill>
                            <a:srgbClr val="E74C3C"/>
                          </a:solidFill>
                        </a:rPr>
                        <a:t>e29_no_pe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no 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9.51M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32.36%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/>
                        <a:t>-39.27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00" b="1">
                          <a:solidFill>
                            <a:srgbClr val="E74C3C"/>
                          </a:solidFill>
                        </a:rPr>
                        <a:t>real effect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06407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Ranked by accuracy, with the verdict computed against the noise band — not decided by eye.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578608"/>
            <a:ext cx="38039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Position is everything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926079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Removing the encoding costs 39.27 points, the largest effect measured by a wide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904487"/>
            <a:ext cx="38039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Capacity is not the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4251959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Tripling the parameters to 31.46M loses 2.17 points, inside the band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5230368"/>
            <a:ext cx="38039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Order carries nothing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577840"/>
            <a:ext cx="380390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A fixed permutation costs 2.68 points, also inside the band</a:t>
            </a:r>
          </a:p>
        </p:txBody>
      </p:sp>
    </p:spTree>
    <p:extLst>
      <p:ext uri="{BB962C8B-B14F-4D97-AF65-F5344CB8AC3E}">
        <p14:creationId xmlns:p14="http://schemas.microsoft.com/office/powerpoint/2010/main" val="2385006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89D7EB2-83FC-5494-B9B8-93DDF9827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9D65309-BC08-ADBE-CFAA-76F91D59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960120"/>
            <a:ext cx="8796528" cy="850392"/>
          </a:xfrm>
        </p:spPr>
        <p:txBody>
          <a:bodyPr/>
          <a:lstStyle/>
          <a:p>
            <a:r>
              <a:rPr lang="it-IT">
                <a:solidFill/>
              </a:rPr>
              <a:t>CIFAR-10: Weight Sharing Trade-off</a:t>
            </a:r>
          </a:p>
        </p:txBody>
      </p:sp>
      <p:pic>
        <p:nvPicPr>
          <p:cNvPr id="12" name="Picture 11" descr="weight_sharing_tradeoff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210" y="2560320"/>
            <a:ext cx="3226003" cy="192024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Dropping weight sharing triples the parameter count and buys nothing measurable.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trade-off, in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Shared, the baseline: 10.18M parameters, 71.63%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Not shared: 31.46M parameters, 69.46% — 2.17 points lower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Without the latent transformer at T=12: 18.29M, 67.05%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Three times the parameters do not buy a point, and the difference sits inside the 2.78-point noise band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Capacity is not what limits this model at CIFAR-10 scale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Sharing saves weights, yet e16 also ran on the same GPU at batch 64</a:t>
            </a:r>
          </a:p>
        </p:txBody>
      </p:sp>
    </p:spTree>
    <p:extLst>
      <p:ext uri="{BB962C8B-B14F-4D97-AF65-F5344CB8AC3E}">
        <p14:creationId xmlns:p14="http://schemas.microsoft.com/office/powerpoint/2010/main" val="3706570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7D1EDE7-C2E0-5FFF-7E86-35DCAE53D6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040F292-891D-635F-FB5D-B76AF9E7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Fixed-Permutation Test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94BEE631-BBA4-40CB-ADA7-DB7E0B29CEE3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289259593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53424304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89894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Fourier PE, natural order (e01)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71.63%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80501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Fourier PE, permuted (e02)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68.95%</a:t>
                      </a:r>
                    </a:p>
                  </a:txBody>
                  <a:tcPr anchor="ctr">
                    <a:solidFill>
                      <a:srgbClr val="DC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399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Learned PE, natural order (e03)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71.07%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3474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Learned PE, permuted (e04)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69.87%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43474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Train and evaluate on pixels shuffled by one fixed permutation σ — the same σ throughout.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7860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we 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926079"/>
            <a:ext cx="5486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Shuffling costs 2.68 points with Fourier features, 1.20 with a learned table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Both sit inside the 2.78-point band, so neither is a measurable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453127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control that turns it into a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800599"/>
            <a:ext cx="54864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Remove the encoding instead and accuracy collapses to 32.36%: a loss of 39.27 points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So position does reach the model — through the encoding, never through the grid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learned-PE runs use one cross-attend, as in the paper: with 8 it was unstable</a:t>
            </a:r>
          </a:p>
        </p:txBody>
      </p:sp>
    </p:spTree>
    <p:extLst>
      <p:ext uri="{BB962C8B-B14F-4D97-AF65-F5344CB8AC3E}">
        <p14:creationId xmlns:p14="http://schemas.microsoft.com/office/powerpoint/2010/main" val="667801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0615590-F725-8171-1A5D-4E0B5F2994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92D76022-1439-FF6E-EF50-BB885A2BD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The Noise Band: What a Number Does on Its Own</a:t>
            </a:r>
          </a:p>
        </p:txBody>
      </p:sp>
      <p:pic>
        <p:nvPicPr>
          <p:cNvPr id="18" name="Picture 17" descr="noise_band_cor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986" y="2560320"/>
            <a:ext cx="4050450" cy="192023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Three runs that differ in seed and validation split land 2.78 points apart. Read every other comparison against that.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three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Seed 42 gives 71.63%, seed 2 gives 70.97%, seed 1 gives 68.85%: the reference is the luckiest of the three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seed also moves the validation split; test set unchanged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rule this 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A gap below 2.78 points cannot be told apart from variance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Twelve of the 21 CIFAR-10 ablations clear the band, ten measured from the three-seed mean (70.48%); the rest are reported as inconclusive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It cost two runs and changed the status of the CIFAR-10 runs</a:t>
            </a:r>
          </a:p>
        </p:txBody>
      </p:sp>
    </p:spTree>
    <p:extLst>
      <p:ext uri="{BB962C8B-B14F-4D97-AF65-F5344CB8AC3E}">
        <p14:creationId xmlns:p14="http://schemas.microsoft.com/office/powerpoint/2010/main" val="2669542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71E17C0-FA5B-19E3-B812-3F078F539A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370F5EA-2F90-AB60-78D2-BEC8EB83D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ModelNet40: Setup &amp; Results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074D5D02-1A74-4EFD-8FCF-AA4EB7105F48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4937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0">
                  <a:extLst>
                    <a:ext uri="{9D8B030D-6E8A-4147-A177-3AD203B41FA5}">
                      <a16:colId xmlns:a16="http://schemas.microsoft.com/office/drawing/2014/main" val="1737125068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64955949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Hyperparameter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53029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Latent array (N × 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128 × 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26381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Cross-attn stages (T)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83408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Transformer blocks (L)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6 (shared)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75048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Points per object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2,048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08935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Optimizer / 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LAMB  ·  0.001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71928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Epochs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120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80362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Batch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47107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it-IT" sz="1300"/>
                        <a:t>Total parameters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/>
                        <a:t>23.29M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47107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same architecture, fed 2,048 points in 3D instead of pixels, with its own configuration (table).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578608"/>
            <a:ext cx="5715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changed, and what did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926079"/>
            <a:ext cx="5715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The encoder is untouched: cross-attention into latents, a shared latent transformer, mean pooling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Fourier encoding becomes 3D over (x, y, z), with 6 bands per axis (the paper uses 64)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Nothing in the architecture knows it is looking at geometry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453127"/>
            <a:ext cx="5715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800599"/>
            <a:ext cx="571500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87.36% against the paper's 85.7%, epoch picked on test as in the paper; 86.43% at the last epoch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Different configuration (6 bands, batch 32, stepped lr) and no noise band: the point is generality</a:t>
            </a:r>
          </a:p>
        </p:txBody>
      </p:sp>
    </p:spTree>
    <p:extLst>
      <p:ext uri="{BB962C8B-B14F-4D97-AF65-F5344CB8AC3E}">
        <p14:creationId xmlns:p14="http://schemas.microsoft.com/office/powerpoint/2010/main" val="41113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5917EC8-564E-215C-942F-AF895CB711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BE50393-C91B-40C7-E512-7247374C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ModelNet40: Augmentation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Rotation costs 13.29 points — the positional encoding again. Scale and translation never reach the network.</a:t>
            </a:r>
          </a:p>
        </p:txBody>
      </p:sp>
      <p:pic>
        <p:nvPicPr>
          <p:cNvPr id="12" name="Picture 11" descr="modelnet40_cor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572" y="2560320"/>
            <a:ext cx="3287280" cy="1920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three runs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Scale only: 87.36%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Plus translation: 87.20%, the same data as the first run: 0.16 is noise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Plus rotation: 74.07%, a loss of 13.29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rotation is different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ModelNet40 objects are probably stored upright (not verified)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Random rotation destroys that alignment, and the 3D Fourier encoding of the coordinates with it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Scale and translation move the whole cloud, and the re-centring undoes them; the paper jitters each point</a:t>
            </a:r>
          </a:p>
        </p:txBody>
      </p:sp>
    </p:spTree>
    <p:extLst>
      <p:ext uri="{BB962C8B-B14F-4D97-AF65-F5344CB8AC3E}">
        <p14:creationId xmlns:p14="http://schemas.microsoft.com/office/powerpoint/2010/main" val="1124111434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91C2E0B-F6F2-ECD0-DD28-21B3DEDA4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81048D9-DB95-C151-2E93-3F6C1DD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CIFAR-10: The Reference That Is Not a Perceiver</a:t>
            </a:r>
          </a:p>
        </p:txBody>
      </p:sp>
      <p:pic>
        <p:nvPicPr>
          <p:cNvPr id="22" name="Picture 21" descr="cnn_baseline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34" y="2636604"/>
            <a:ext cx="3014955" cy="17676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Neither Perceiver paper benchmarks CIFAR-10, so we trained the reference ourselves: a ResNet-18, same split and epochs, own SGD recipe.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ResNet-18 reaches 93.61%; the Perceiver baseline reaches 71.63%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That is 21.98 points, with 11.2M parameters against 10.2M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the gap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On ImageNet the paper edges ResNet-50 by 0.4 (4.5 over ResNet-50 with Fourier features)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It claimed generality at comparable accuracy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Here prior plus recipe cost 22 points; at ImageNet scale the prior stops paying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E644E18-CCB2-C2AD-9746-E8A288A002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B75DF537-2678-9BAD-F039-41828B77E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Perceiver IO: Structured Outputs</a:t>
            </a:r>
          </a:p>
        </p:txBody>
      </p:sp>
      <p:pic>
        <p:nvPicPr>
          <p:cNvPr id="24" name="Picture 23" descr="perceiverio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333" y="2578608"/>
            <a:ext cx="6861758" cy="20116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Perceiver IO keeps the same latent bottleneck and replaces the exit: instead of pooling, you ask the latents a question.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changes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original Perceiver emits one pooled vector, so one global label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Perceiver IO emits whatever shape the query array has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output size stops being an architectural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stays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encoder is the same: cross-attention into N latents, then a shared latent transformer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decoder costs one cross-attention layer, nothing more</a:t>
            </a:r>
          </a:p>
        </p:txBody>
      </p:sp>
    </p:spTree>
    <p:extLst>
      <p:ext uri="{BB962C8B-B14F-4D97-AF65-F5344CB8AC3E}">
        <p14:creationId xmlns:p14="http://schemas.microsoft.com/office/powerpoint/2010/main" val="28240574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BFF886F-7887-8610-A768-E96DB178EA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FD4D849B-68AD-F0B0-0D9C-CBDAA9914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/>
              </a:rPr>
              <a:t>Perceiver IO Decoder with Output Queries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 cx="4663440" cy="1737360">
                    <a16:creationId xmlns:a16="http://schemas.microsoft.com/office/drawing/2014/main" id="{70372291-78A1-45AC-8C5F-BF0F391F5BFA}"/>
                  </a:ext>
                </a:extLst>
              </p:cNvPr>
              <p:cNvSpPr txBox="1"/>
              <p:nvPr/>
            </p:nvSpPr>
            <p:spPr>
              <a:xfrm>
                <a:off x="6903720" y="2651760"/>
                <a:ext cx="4663440" cy="1737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Overflow="overflow" vert="horz" wrap="square" rtlCol="0" anchor="t" anchorCtr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5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OutputQuery</m:t>
                      </m:r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5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Latent</m:t>
                      </m:r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5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Latent</m:t>
                      </m:r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5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Output</m:t>
                      </m:r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500" i="0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500" i="1" dirty="0">
                                  <a:solidFill>
                                    <a:srgbClr val="1A1A1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𝑑𝑒𝑐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𝑑𝑒𝑐</m:t>
                                  </m:r>
                                </m:sub>
                                <m:sup>
                                  <m: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b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500" i="1" dirty="0">
                                      <a:solidFill>
                                        <a:srgbClr val="1A1A1A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1500" i="1" dirty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500" i="1" dirty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sz="1500" i="1" dirty="0">
                                          <a:solidFill>
                                            <a:srgbClr val="1A1A1A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b>
                        <m:sSub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marL="457200" indent="0"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00" i="1" dirty="0">
                          <a:solidFill>
                            <a:srgbClr val="1A1A1A"/>
                          </a:solidFill>
                          <a:latin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𝑂</m:t>
                          </m:r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500" i="1" dirty="0">
                              <a:solidFill>
                                <a:srgbClr val="1A1A1A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p>
                    </m:oMath>
                  </m:oMathPara>
                </a14:m>
                <a:endParaRPr/>
              </a:p>
              <a:p xmlns:m="http://schemas.openxmlformats.org/officeDocument/2006/math">
                <a:pPr algn="l"/>
                <a:r>
                  <a:rPr lang="en-US" sz="1100" dirty="0">
                    <a:solidFill>
                      <a:srgbClr val="555555"/>
                    </a:solidFill>
                  </a:rPr>
                  <a:t xml:space="preserve">(a task head then maps </a:t>
                </a:r>
                <a14:m>
                  <m:oMath>
                    <m:r>
                      <a:rPr lang="en-US" sz="110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1100" i="0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 xml:space="preserve">×</m:t>
                    </m:r>
                    <m:r>
                      <a:rPr lang="en-US" sz="1100" i="1" dirty="0">
                        <a:solidFill>
                          <a:srgbClr val="555555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100" dirty="0">
                    <a:solidFill>
                      <a:srgbClr val="555555"/>
                    </a:solidFill>
                  </a:rPr>
                  <a:t xml:space="preserve"> → output logits)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 cx="4663440" cy="1737360">
                    <a16:creationId xmlns:a16="http://schemas.microsoft.com/office/drawing/2014/main" id="{70372291-78A1-45AC-8C5F-BF0F391F5B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3720" y="2651760"/>
                <a:ext cx="4663440" cy="17373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perceiver_io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39563"/>
            <a:ext cx="5760720" cy="147945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decoder is one cross-attention layer: the queries come from the task, the keys and values from the latents.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93792"/>
            <a:ext cx="51709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The number of output queries O depends only on the task — not on N, not on M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One cross-attention layer is enough, and there is no self-attention among the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1" y="48463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that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8251" y="5193792"/>
            <a:ext cx="51709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The output shape becomes a design choice instead of an architectural constraint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Adding a task means adding queries, not building another model</a:t>
            </a:r>
          </a:p>
        </p:txBody>
      </p:sp>
    </p:spTree>
    <p:extLst>
      <p:ext uri="{BB962C8B-B14F-4D97-AF65-F5344CB8AC3E}">
        <p14:creationId xmlns:p14="http://schemas.microsoft.com/office/powerpoint/2010/main" val="298515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2862408-EDA8-E13B-45BB-772B8EED2E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8EEAD83-2658-89AE-32BD-2A8A0379C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Output Query Design per Task</a:t>
            </a:r>
            <a:endParaRPr lang="it-IT"/>
          </a:p>
        </p:txBody>
      </p:sp>
      <p:sp>
        <p:nvSpPr>
          <p:cNvPr id="26" name="Rectangle 25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3ADB92-D973-4F91-872E-F8E213B744F9}"/>
              </a:ext>
            </a:extLst>
          </p:cNvPr>
          <p:cNvSpPr txBox="1"/>
          <p:nvPr/>
        </p:nvSpPr>
        <p:spPr>
          <a:xfrm>
            <a:off x="923544" y="1920239"/>
            <a:ext cx="10680192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:r>
              <a:rPr lang="en-US" sz="1500" b="1" dirty="0">
                <a:solidFill>
                  <a:srgbClr val="FFFFFF"/>
                </a:solidFill>
              </a:rPr>
              <a:t xml:space="preserve">All heads read the same final latent array  </a:t>
            </a:r>
            <a14:m>
              <m:oMath>
                <m:sSup>
                  <m:sSupPr>
                    <m:ctrlP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𝑍</m:t>
                    </m:r>
                  </m:e>
                  <m:sup>
                    <m:r>
                      <a:rPr lang="en-US" sz="1500" b="1" i="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 xml:space="preserve">(</m:t>
                    </m:r>
                    <m: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500" b="1" i="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 xml:space="preserve">)</m:t>
                    </m:r>
                  </m:sup>
                </m:sSup>
                <m:r>
                  <a:rPr lang="en-US" sz="1500" b="1" i="0" dirty="0">
                    <a:solidFill>
                      <a:srgbClr val="FFFFFF"/>
                    </a:solidFill>
                    <a:latin typeface="Cambria Math" panose="02040503050406030204" pitchFamily="18" charset="0"/>
                  </a:rPr>
                  <m:t xml:space="preserve">∈</m:t>
                </m:r>
                <m:sSup>
                  <m:sSupPr>
                    <m:ctrlP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500" b="1" dirty="0">
                        <a:solidFill>
                          <a:srgbClr val="FFFFFF"/>
                        </a:solidFill>
                      </a:rPr>
                      <m:t xml:space="preserve">ℝ</m:t>
                    </m:r>
                  </m:e>
                  <m:sup>
                    <m: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500" b="1" i="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 xml:space="preserve">×</m:t>
                    </m:r>
                    <m:r>
                      <a:rPr lang="en-US" sz="15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sup>
                </m:sSup>
              </m:oMath>
            </a14:m>
            <a:r>
              <a:rPr lang="en-US" sz="1500" b="1" dirty="0">
                <a:solidFill>
                  <a:srgbClr val="FFFFFF"/>
                </a:solidFill>
              </a:rPr>
              <a:t xml:space="preserve">  via decoder cross-attention.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2EA2AB5-4FD4-4150-BD8A-09C1ACEF387E}"/>
              </a:ext>
            </a:extLst>
          </p:cNvPr>
          <p:cNvSpPr txBox="1"/>
          <p:nvPr/>
        </p:nvSpPr>
        <p:spPr>
          <a:xfrm>
            <a:off x="868680" y="3246120"/>
            <a:ext cx="347472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14:m>
              <m:oMath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𝑂</m:t>
                </m:r>
                <m:r>
                  <a:rPr lang="en-US" sz="1700" b="1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=</m:t>
                </m:r>
                <m:r>
                  <a:rPr lang="en-US" sz="1700" b="1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1</m:t>
                </m:r>
              </m:oMath>
            </a14:m>
            <a:r>
              <a:rPr lang="en-US" sz="1700" b="1" dirty="0">
                <a:solidFill>
                  <a:srgbClr val="1A1A1A"/>
                </a:solidFill>
              </a:rPr>
              <a:t xml:space="preserve">​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33FBD0E-0277-4861-82FC-EC795DD1CFAF}"/>
              </a:ext>
            </a:extLst>
          </p:cNvPr>
          <p:cNvSpPr txBox="1"/>
          <p:nvPr/>
        </p:nvSpPr>
        <p:spPr>
          <a:xfrm>
            <a:off x="4608575" y="3246120"/>
            <a:ext cx="347472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14:m>
              <m:oMath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𝑂</m:t>
                </m:r>
                <m:r>
                  <a:rPr lang="en-US" sz="1700" b="1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=</m:t>
                </m:r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𝐻</m:t>
                </m:r>
                <m:r>
                  <a:rPr lang="en-US" sz="1700" b="1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×</m:t>
                </m:r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𝑊</m:t>
                </m:r>
              </m:oMath>
            </a14:m>
            <a:r>
              <a:rPr lang="en-US" sz="1700" b="1" dirty="0">
                <a:solidFill>
                  <a:srgbClr val="1A1A1A"/>
                </a:solidFill>
              </a:rPr>
              <a:t xml:space="preserve">​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3BE41D2-C4D1-4C67-8FFA-F5C023D963BB}"/>
              </a:ext>
            </a:extLst>
          </p:cNvPr>
          <p:cNvSpPr txBox="1"/>
          <p:nvPr/>
        </p:nvSpPr>
        <p:spPr>
          <a:xfrm>
            <a:off x="8348471" y="3246120"/>
            <a:ext cx="347472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spAutoFit/>
          </a:bodyPr>
          <a:lstStyle/>
          <a:p xmlns:a14="http://schemas.microsoft.com/office/drawing/2010/main" xmlns:m="http://schemas.openxmlformats.org/officeDocument/2006/math">
            <a:pPr algn="l"/>
            <a14:m>
              <m:oMath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𝑂</m:t>
                </m:r>
                <m:r>
                  <a:rPr lang="en-US" sz="1700" b="1" i="0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 xml:space="preserve">=</m:t>
                </m:r>
                <m:r>
                  <a:rPr lang="en-US" sz="1700" b="1" i="1" dirty="0">
                    <a:solidFill>
                      <a:srgbClr val="1A1A1A"/>
                    </a:solidFill>
                    <a:latin typeface="Cambria Math" panose="02040503050406030204" pitchFamily="18" charset="0"/>
                  </a:rPr>
                  <m:t>𝑀</m:t>
                </m:r>
              </m:oMath>
            </a14:m>
            <a:r>
              <a:rPr lang="en-US" sz="1700" b="1" dirty="0">
                <a:solidFill>
                  <a:srgbClr val="1A1A1A"/>
                </a:solidFill>
              </a:rPr>
              <a:t xml:space="preserve">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931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→  class logits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One learned query produces a single global prediction.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08575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Dense 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08575" y="3931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→  dense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5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The output shape is controlled directly by the query array.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1" y="2788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Masked 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93192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</a:rPr>
              <a:t>→  token logits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43484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One query per byte position; the loss is scored only where the input was masked.</a:t>
            </a:r>
          </a:p>
        </p:txBody>
      </p:sp>
    </p:spTree>
    <p:extLst>
      <p:ext uri="{BB962C8B-B14F-4D97-AF65-F5344CB8AC3E}">
        <p14:creationId xmlns:p14="http://schemas.microsoft.com/office/powerpoint/2010/main" val="2901848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46113AA-1921-31D7-A79E-3E162A5F48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BF74E2A-A5CA-3F8C-E230-990D58AB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CIFAR-10: Perceiver vs Perceiver IO</a:t>
            </a:r>
          </a:p>
        </p:txBody>
      </p:sp>
      <p:pic>
        <p:nvPicPr>
          <p:cNvPr id="18" name="Picture 17" descr="perceiver_vs_io_cor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0382" y="2560320"/>
            <a:ext cx="3555660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On a single label out of ten, our 2.78-point band cannot separate the query decoder from mean pooling.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the decoder does differently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output query is a learned aggregation instead of a fixed average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It cross-attends to the latents, so it can weight them unequally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is worth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71.79% vs 71.63% (+0.16, in band), but the recipe changed too: cosine at 1e-3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And it costs 12.05M parameters against 10.18M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decoder earns its place on the MLM and on dense outputs, not on this task</a:t>
            </a:r>
          </a:p>
        </p:txBody>
      </p:sp>
    </p:spTree>
    <p:extLst>
      <p:ext uri="{BB962C8B-B14F-4D97-AF65-F5344CB8AC3E}">
        <p14:creationId xmlns:p14="http://schemas.microsoft.com/office/powerpoint/2010/main" val="104186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58A42D3-961D-2448-A843-6C242D399F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CDA8FD9-E06F-5DC1-5A7C-56DE6329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/>
              </a:rPr>
              <a:t>WikiText-103: Masked Language Model Pre-training</a:t>
            </a:r>
            <a:endParaRPr lang="it-IT"/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6FA40D7C-BD1A-436D-B84A-6E6F2DF4F539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78608"/>
          <a:ext cx="4754880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154982464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97418034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5301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Tokenization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Byte-level UTF-8, no tokenizer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61390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Vocabulary size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256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412486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Sequence length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512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004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Masking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15% of single bytes (paper: words)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5075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Latent array (N × D)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128 × 512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37645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/>
                        <a:t>Model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/>
                        <a:t>Perceiver IO, 18.87M params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225036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Epochs / batch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10 / 32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216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Masked-byte accuracy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86.68%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2167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Lookup of the two neighbours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42.96%   (no network)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921679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Pre-train a language encoder with no tokenizer at all: the input is the raw UTF-8 byte stream.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578608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bytes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926079"/>
            <a:ext cx="5852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No BPE or WordPiece vocabulary to build, and nothing language-specific in the input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vocabulary is fixed at 256 — every byte value there is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price is length: the same text takes about four times more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4453127"/>
            <a:ext cx="58521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task, and 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4800599"/>
            <a:ext cx="585216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15% of the byte positions are masked, with one output query per position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decoder predicts the original byte, one of 256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86.68% correct: 44 points above a lookup of the two neighbouring bytes, 68 above always answering a space</a:t>
            </a:r>
          </a:p>
        </p:txBody>
      </p:sp>
    </p:spTree>
    <p:extLst>
      <p:ext uri="{BB962C8B-B14F-4D97-AF65-F5344CB8AC3E}">
        <p14:creationId xmlns:p14="http://schemas.microsoft.com/office/powerpoint/2010/main" val="2963087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2774BB0-407F-DF37-EB60-E99B953E955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0D85781-325F-6D19-A334-1297198C9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GLUE: Fine-tuning on 8 Tasks</a:t>
            </a:r>
            <a:endParaRPr lang="it-IT"/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same encoder, the same weights, one query swapped. Eight tasks, eight fine-tunings.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How the fine-tuning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1709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The encoder is loaded from the MLM checkpoint; if it is missing the code stops instead of pretending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The query array is replaced by a single classification query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LAMB at 5 × 10⁻⁴ with a cosine schedule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The epoch budget follows task size: 3 epochs for 393k examples, 30 for 2.5k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The input stays byte-level at sequence 512, identical to pre-training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8251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eight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251" y="3063240"/>
            <a:ext cx="517093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Single sentence — CoLA judges grammatical acceptability, SST-2 sentiment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Similarity — MRPC and QQP ask whether two sentences mean the same, STS-B by how much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Inference — MNLI, QNLI and RTE ask whether one sentence follows from another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Each probes a different ability, and the architecture never changes</a:t>
            </a:r>
          </a:p>
        </p:txBody>
      </p:sp>
    </p:spTree>
    <p:extLst>
      <p:ext uri="{BB962C8B-B14F-4D97-AF65-F5344CB8AC3E}">
        <p14:creationId xmlns:p14="http://schemas.microsoft.com/office/powerpoint/2010/main" val="215013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91C2E0B-F6F2-ECD0-DD28-21B3DEDA4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81048D9-DB95-C151-2E93-3F6C1DD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GLUE: Per-Task Results</a:t>
            </a:r>
          </a:p>
        </p:txBody>
      </p:sp>
      <p:pic>
        <p:nvPicPr>
          <p:cNvPr id="23" name="Picture 22" descr="glue_8task_corr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689" y="2560320"/>
            <a:ext cx="3251045" cy="1920239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The mean is 71.13 against the paper's 81.0; with CoLA in Matthews, as in the paper, it is 62.49.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the runs say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QQP is the strongest at 84.66%, RTE the weakest at 56.68%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CoLA scores exactly the majority-class count, 721 of 1,043; MRPC beats its majority by nine examples out of 408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So the mean rests on six tasks, not 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the level sits below the paper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18.9M parameters pre-trained on WikiText-103, against 201M on Wikipedia and C4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Byte-level input, with no subword tokenizer to lean on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STS-B is reported as Pearson × 100, as in the paper</a:t>
            </a:r>
          </a:p>
        </p:txBody>
      </p:sp>
    </p:spTree>
    <p:extLst>
      <p:ext uri="{BB962C8B-B14F-4D97-AF65-F5344CB8AC3E}">
        <p14:creationId xmlns:p14="http://schemas.microsoft.com/office/powerpoint/2010/main" val="2527793755"/>
      </p:ext>
    </p:extLst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91C2E0B-F6F2-ECD0-DD28-21B3DEDA4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81048D9-DB95-C151-2E93-3F6C1DD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GLUE: What the Pre-training Is Worth</a:t>
            </a:r>
          </a:p>
        </p:txBody>
      </p:sp>
      <p:pic>
        <p:nvPicPr>
          <p:cNvPr id="22" name="Picture 21" descr="pretraining_value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39" y="2560320"/>
            <a:ext cx="2752344" cy="192024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Two tasks fine-tuned twice — once from the MLM checkpoint, once from random weights. Everything else identical.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Why only two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A fine-tuned 80% means nothing on its own: the task might be solvable at 80% from scratch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One large and one small task — SST-2 has 67,000 examples, RTE has 2,500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the controls 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SST-2 goes from 59.75% to 80.73%, a gain of 20.98 points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RTE goes from 52.71% to 56.68%, a gain of 3.97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RTE from scratch is the majority class (52.71%): not learned well either way; one run each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91C2E0B-F6F2-ECD0-DD28-21B3DEDA4F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681048D9-DB95-C151-2E93-3F6C1DD6D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GLUE Multitask: One Model, Eight Output Queries</a:t>
            </a:r>
          </a:p>
        </p:txBody>
      </p:sp>
      <p:pic>
        <p:nvPicPr>
          <p:cNvPr id="22" name="Picture 21" descr="multitask_glue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793" y="2640837"/>
            <a:ext cx="3822837" cy="175920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One model with eight output queries against eight separate fine-tunings — the comparison from Table 2 of the IO paper.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agrees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paper measures 81.8 against 81.0, a gain of 0.8; here 74.05 against 71.13, a gain of 2.92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gain sits on the small tasks (STS-B +16.9, RTE +7.6, MRPC +6.1); SST-2, QQP, MNLI lose 1.9–3.6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Same sign, one run per task, no noise band; with CoLA in Matthews, 16 points below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Caveats, both ways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The multitask model picks one epoch for all eight tasks; the separate models pick eight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Ahead on one run per task; CoLA at the majority class in both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A ninth task costs one query and one linear head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45E198C5-CA0D-9DAF-24FF-124115CC37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CB224D50-ABBF-1528-BA06-FFABB9663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Convergence: Representative Checkpoints</a:t>
            </a:r>
          </a:p>
        </p:txBody>
      </p:sp>
      <p:pic>
        <p:nvPicPr>
          <p:cNvPr id="16" name="Picture 15" descr="convergence_epochs_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564" y="2560320"/>
            <a:ext cx="3761295" cy="19202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No early stopping: every run trains its full schedule and reports its best epoch (validation; test on ModelNet40).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When each run peaks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SST-2 fine-tuning peaks at epoch 7 of 10; the MLM at its last, 10 of 10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Image training uses almost the whole 120-epoch schedule: the Perceiver at 92, ModelNet at 94, the ResNet at 117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an early peak actually means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It is a collapse, not fast convergence: e28 peaks at epoch 9 and never recovers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e23 peaks at 42 with 67.74% on validation and ends the run at 22.54%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The reported number still comes from the checkpoint chosen on validation, but the instability has to be declared</a:t>
            </a:r>
          </a:p>
        </p:txBody>
      </p:sp>
    </p:spTree>
    <p:extLst>
      <p:ext uri="{BB962C8B-B14F-4D97-AF65-F5344CB8AC3E}">
        <p14:creationId xmlns:p14="http://schemas.microsoft.com/office/powerpoint/2010/main" val="27125397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F12CA6BA-465E-E295-1F15-669EA25DB4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>
                <a:solidFill/>
              </a:rPr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AB1A5D0-AADA-37EF-6277-79D5257D5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>
                <a:solidFill/>
              </a:rPr>
              <a:t>Attention Maps: Where the Latents Look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With coordinates the latents pick locations; without, they can only pick colours.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Fourier PE (e01, 71.63%)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22392"/>
            <a:ext cx="51709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One image: each latent picks a few pixels; latents overlap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Mean entropy 5.84 bits over 1,024 pixels (uniform: 10 bits)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251" y="50749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No PE (e29, 32.36%)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8251" y="5422392"/>
            <a:ext cx="517093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Same-colour pixels are indistinguishable: attention follows colour boundaries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9.83 bits, 98% of uniform — spread over the whole image</a:t>
            </a:r>
          </a:p>
        </p:txBody>
      </p:sp>
      <p:pic>
        <p:nvPicPr>
          <p:cNvPr id="27" name="Picture 26" descr="attention_maps_v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5724" y="2487168"/>
            <a:ext cx="6844975" cy="248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28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25F54950-7CF0-06C3-96B1-ED9164116C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A2108F7-314D-1824-8CD9-4F78E84A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Comprehensive Results Summary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102192B3-A04B-4EED-B05A-DF04824287A0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42032"/>
          <a:ext cx="10981944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334131408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5078419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3704878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6998881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5284623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Modality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Best result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00" b="1">
                          <a:solidFill>
                            <a:srgbClr val="FFFFFF"/>
                          </a:solidFill>
                        </a:rPr>
                        <a:t>Runs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13287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Images (CIFAR-10)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72.91% (in band)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93.61% ResNet-18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38875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Images (CIFAR-10)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71.79%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0838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Point clouds (ModelNet40)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87.36%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85.7% paper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36257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Text (WikiText-103)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86.68% MLM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42.96% lookup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79253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it-IT" sz="1250"/>
                        <a:t>NLU (GLUE, 8 tasks)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50"/>
                        <a:t>Perceiver 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 b="1"/>
                        <a:t>71.13 / 62.49 MCC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81.0 paper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25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18694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Forty-two runs, all completed. Every number below traces to a log, a results.json or the papers.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is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93792"/>
            <a:ext cx="51709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ModelNet40 above the paper: +1.66 (last epoch +0.73)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Byte-level MLM: 86.68%, 44 above a neighbour lookup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Multitask 74.05 vs 71.13 separate: one run each, no noise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251" y="484632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The scope of the campaign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8251" y="5193792"/>
            <a:ext cx="517093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42 runs in a declarative registry, all of them completed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Three modalities: 2D images, 3D point clouds, raw bytes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55 tests passing, and a 2.78-point noise band measured before any comparison was read</a:t>
            </a:r>
          </a:p>
        </p:txBody>
      </p:sp>
    </p:spTree>
    <p:extLst>
      <p:ext uri="{BB962C8B-B14F-4D97-AF65-F5344CB8AC3E}">
        <p14:creationId xmlns:p14="http://schemas.microsoft.com/office/powerpoint/2010/main" val="3305740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A3601A0-4E24-3414-F516-03ACE8AD2B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A1231F62-D219-DC1E-6DC7-9EE88FE1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Gap vs Original Papers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C9266D29-616A-4D2E-B8D4-0EE66E98CC13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606040"/>
          <a:ext cx="533095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39384221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1311985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4062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Original paper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85.70%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1045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This implementation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87.36%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64755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C0392B"/>
                          </a:solidFill>
                        </a:rPr>
                        <a:t>Difference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27AE60"/>
                          </a:solidFill>
                        </a:rPr>
                        <a:t>+1.66 pp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338869"/>
                  </a:ext>
                </a:extLst>
              </a:tr>
            </a:tbl>
          </a:graphicData>
        </a:graphic>
      </p:graphicFrame>
      <p:graphicFrame>
        <p:nvGraphicFramePr>
          <p:cNvPr id="11" name="Tabella 10">
            <a:extLst>
              <a:ext uri="{FF2B5EF4-FFF2-40B4-BE49-F238E27FC236}">
                <a16:creationId xmlns:a16="http://schemas.microsoft.com/office/drawing/2014/main" id="{A3A6EC7A-A1FA-446D-96BD-F44EB2E285B4}"/>
              </a:ext>
            </a:extLst>
          </p:cNvPr>
          <p:cNvGraphicFramePr>
            <a:graphicFrameLocks noGrp="1"/>
          </p:cNvGraphicFramePr>
          <p:nvPr/>
        </p:nvGraphicFramePr>
        <p:xfrm>
          <a:off x="6428232" y="2606040"/>
          <a:ext cx="533095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7356346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674302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24585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ResNet-18, own recipe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93.61%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76044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/>
                        <a:t>This Perceiver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/>
                        <a:t>71.63%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3852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C0392B"/>
                          </a:solidFill>
                        </a:rPr>
                        <a:t>Difference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350" b="1">
                          <a:solidFill>
                            <a:srgbClr val="E74C3C"/>
                          </a:solidFill>
                        </a:rPr>
                        <a:t>-21.98 pp</a:t>
                      </a:r>
                    </a:p>
                  </a:txBody>
                  <a:tcPr anchor="ctr"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95016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Point clouds: above the paper's number. Images: a CNN with its own recipe is 22 points ahead.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ModelNet40 — point clouds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73752"/>
            <a:ext cx="51709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85.70% in the paper, 87.36% here: 1.66 points above, 0.73 at the last epoch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Epoch picked on test, as in the paper; other config, no noise band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8251" y="45262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CIFAR-10 —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8251" y="4873752"/>
            <a:ext cx="517093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A1A1A"/>
                </a:solidFill>
              </a:rPr>
              <a:t>•  93.61% for a ResNet-18 with its own SGD recipe, 71.63% for the Perceiver: 21.98 below</a:t>
            </a:r>
          </a:p>
          <a:p>
            <a:pPr algn="l"/>
            <a:r>
              <a:rPr sz="1450" b="0">
                <a:solidFill>
                  <a:srgbClr val="1A1A1A"/>
                </a:solidFill>
              </a:rPr>
              <a:t>•  The paper does not benchmark CIFAR-10, so the reference had to be measured rather than quoted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5943600"/>
            <a:ext cx="10689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</a:rPr>
              <a:t>On ImageNet the paper edges ResNet-50 by 0.4 points (4.5 over its Fourier-feature version); data scale is not varied here.</a:t>
            </a:r>
          </a:p>
        </p:txBody>
      </p:sp>
    </p:spTree>
    <p:extLst>
      <p:ext uri="{BB962C8B-B14F-4D97-AF65-F5344CB8AC3E}">
        <p14:creationId xmlns:p14="http://schemas.microsoft.com/office/powerpoint/2010/main" val="3433977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EE95C5C0-4720-568B-2048-636E6BE56C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1DEDD7E1-3771-814A-3551-3076A71C8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Hardware Limitations &amp; Design Choices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60884B7C-F6B8-453C-A570-6D1437CD458D}"/>
              </a:ext>
            </a:extLst>
          </p:cNvPr>
          <p:cNvGraphicFramePr>
            <a:graphicFrameLocks noGrp="1"/>
          </p:cNvGraphicFramePr>
          <p:nvPr/>
        </p:nvGraphicFramePr>
        <p:xfrm>
          <a:off x="777240" y="2542032"/>
          <a:ext cx="10981944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322263798"/>
                    </a:ext>
                  </a:extLst>
                </a:gridCol>
                <a:gridCol w="4318000">
                  <a:extLst>
                    <a:ext uri="{9D8B030D-6E8A-4147-A177-3AD203B41FA5}">
                      <a16:colId xmlns:a16="http://schemas.microsoft.com/office/drawing/2014/main" val="3837676831"/>
                    </a:ext>
                  </a:extLst>
                </a:gridCol>
                <a:gridCol w="4394200">
                  <a:extLst>
                    <a:ext uri="{9D8B030D-6E8A-4147-A177-3AD203B41FA5}">
                      <a16:colId xmlns:a16="http://schemas.microsoft.com/office/drawing/2014/main" val="416967976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Papers (DeepMind)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50" b="1">
                          <a:solidFill>
                            <a:srgbClr val="FFFFFF"/>
                          </a:solidFill>
                        </a:rPr>
                        <a:t>This project</a:t>
                      </a:r>
                    </a:p>
                  </a:txBody>
                  <a:tcPr anchor="ctr"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30198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Hardware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TPUs (Perceiver: not stated; IO: 64–256)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1 NVIDIA RTX 3080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70554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Batch size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512–8192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32–64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59708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Latents (N)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512 (ImageNet), 2048 (IO flow)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96 (images)  ·  128 (point clouds, 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93022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Model size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44.9M (Perceiver), 201M (IO text)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10.2–23.3M params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5349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lang="it-IT" sz="1300" b="1"/>
                        <a:t>Pre-training corpus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Wikipedia + C4 (201M-param 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300"/>
                        <a:t>WikiText-103 (18.9M-param IO)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54135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Every limitation below is one GPU instead of a TPU pod. The mechanism is the paper's; the budget is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cost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Init scale 1.0 collapses our run; in the paper (LAMB too) it costs ~1 point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Fewer latents mean less representational capacity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9 of 21 CIFAR-10 ablations sit inside the band (11 vs seed mean)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GLUE, CoLA in Matthews: 62.49 against the paper's 81.0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251" y="4590288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we did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8251" y="4937760"/>
            <a:ext cx="5170932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</a:rPr>
              <a:t>•  Weight sharing: unsharing (3× weights) gained nothing measurable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Three seed replicas, to measure the noise before reading any effect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An epoch budget scaled per task size on GLUE, from 3 to 30</a:t>
            </a:r>
          </a:p>
          <a:p>
            <a:pPr algn="l"/>
            <a:r>
              <a:rPr sz="1400" b="0">
                <a:solidFill>
                  <a:srgbClr val="1A1A1A"/>
                </a:solidFill>
              </a:rPr>
              <a:t>•  A convolutional baseline, so the numbers can be read at all</a:t>
            </a:r>
          </a:p>
        </p:txBody>
      </p:sp>
    </p:spTree>
    <p:extLst>
      <p:ext uri="{BB962C8B-B14F-4D97-AF65-F5344CB8AC3E}">
        <p14:creationId xmlns:p14="http://schemas.microsoft.com/office/powerpoint/2010/main" val="23572540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6C5A678F-2425-CDE8-2419-E91F978217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E0670635-9074-C54C-B8CE-FFCD9479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Possible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What we would do next, in rough order of how much it would move the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31114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31114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More latents (N = 256+) with gradient checkpointing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Multi-scale cross-attention, coarse to fine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Relative position encodings such as RoPE or ALiBi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A deeper decoder for structured outputs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8465" y="2697480"/>
            <a:ext cx="231114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8465" y="3063240"/>
            <a:ext cx="231114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Larger effective batches via gradient accumulation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More seeds per ablation, for a better noise estimate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Longer schedules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Stronger augmentation: CutMix, MixUp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8251" y="2697480"/>
            <a:ext cx="231114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Data and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8251" y="3063240"/>
            <a:ext cx="231114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ImageNet pre-training for vision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Longer byte-level pre-training: more epochs, larger corpus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Joint multi-modal training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An audio modality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038" y="2697480"/>
            <a:ext cx="231114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8038" y="3063240"/>
            <a:ext cx="2311146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</a:rPr>
              <a:t>•  Layer-wise attention probing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Clustering the latent space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A systematic hyperparameter search</a:t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•  A comparison with Linformer and Performer</a:t>
            </a:r>
          </a:p>
        </p:txBody>
      </p:sp>
    </p:spTree>
    <p:extLst>
      <p:ext uri="{BB962C8B-B14F-4D97-AF65-F5344CB8AC3E}">
        <p14:creationId xmlns:p14="http://schemas.microsoft.com/office/powerpoint/2010/main" val="3546467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52B9279D-4ACB-8491-98C0-785A9D16F3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410E4ED2-9FC6-962C-82D9-70B7E1C7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Empirical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Everything measured; only CIFAR-10 has a noise band.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1709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One architecture across images, point clouds and raw bytes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ModelNet40 above the paper: 87.36% against 85.7%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The byte-level MLM works: 86.68%, 44 points above a neighbour lookup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Pre-training transfers: SST-2 from 59.75% to 80.73%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Multitask 74.05 vs 71.13: same sign as the paper, no noise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8251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did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251" y="3063240"/>
            <a:ext cx="51709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A ResNet-18, own SGD recipe, reaches 93.61% against 71.63%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The latent init scale destabilises training: at 1.0 the run collapses to 52.08%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CoLA is the majority class; MRPC beats it by 9 of 408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Byte-level input means very long sequences for the same text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Nine of the 21 CIFAR-10 ablations are indistinguishable from noise, eleven against the seed mean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5852160"/>
            <a:ext cx="10689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</a:rPr>
              <a:t>Removing the positional encoding is the largest effect measured: 71.63% to 32.36%. Permuting the pixels costs 2.68 points, inside the band. Position enters through the encoding, not the grid.</a:t>
            </a:r>
          </a:p>
        </p:txBody>
      </p:sp>
    </p:spTree>
    <p:extLst>
      <p:ext uri="{BB962C8B-B14F-4D97-AF65-F5344CB8AC3E}">
        <p14:creationId xmlns:p14="http://schemas.microsoft.com/office/powerpoint/2010/main" val="1992517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D1FD264E-F91E-A55D-CBAB-F785673D9D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/>
              <a:t>F. Gigli  C. Vignoli      Perceiver &amp; Perceiver IO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0C0E7B07-24B0-E0E9-E8F8-A86F4CD55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56231"/>
            <a:ext cx="10981944" cy="53035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23544" y="1920239"/>
            <a:ext cx="10680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What the architecture gives, and what it still costs at this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gives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51709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One architecture for images, point clouds and text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Complexity linear (by construction, not measured)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Weight sharing: unsharing (3× weights) gained nothing measurable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No CNN or RNN assumptions about the domain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Output queries: a new task costs one query and one linear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8251" y="2697480"/>
            <a:ext cx="517093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082"/>
                </a:solidFill>
              </a:rPr>
              <a:t>What it costs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8251" y="3063240"/>
            <a:ext cx="5170932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</a:rPr>
              <a:t>•  At this scale prior plus recipe are worth 21.98 points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Everything depends on the positional encoding: 39.27 points without it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GLUE: 62.49 with CoLA in Matthews vs 81.0, at a tenth of the parameters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Init scale 1.0 collapses training (paper: ~1 point)</a:t>
            </a:r>
          </a:p>
          <a:p>
            <a:pPr algn="l"/>
            <a:r>
              <a:rPr sz="1500" b="0">
                <a:solidFill>
                  <a:srgbClr val="1A1A1A"/>
                </a:solidFill>
              </a:rPr>
              <a:t>•  Half the image ablations cannot be told apart from noise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5852160"/>
            <a:ext cx="1068933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1A1A1A"/>
                </a:solidFill>
              </a:rPr>
              <a:t>The Perceiver's advantage is not accuracy but having no domain prior. At CIFAR-10 scale prior plus recipe are worth 22 points; on ImageNet the paper shows the prior stops paying.</a:t>
            </a:r>
          </a:p>
        </p:txBody>
      </p:sp>
    </p:spTree>
    <p:extLst>
      <p:ext uri="{BB962C8B-B14F-4D97-AF65-F5344CB8AC3E}">
        <p14:creationId xmlns:p14="http://schemas.microsoft.com/office/powerpoint/2010/main" val="1631315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ABC80FAA-9435-E04B-A7B3-D175AA5155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it-IT"/>
              <a:t>Questions?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60CD1E0-52F9-E149-A57F-714D455359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/>
              <a:t>Francesco Gigli  ·  Corso Vignoli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7FBA6F7-C967-CF4D-AD7D-FC03901314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/>
              <a:t>Università degli Studi di Firenze  ·  Course B031278 — Deep Learning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8EB8E93C-7698-414F-97DD-BFDA414291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Code and reproduction instructions shared with the course</a:t>
            </a:r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5D5C45F-1F83-9949-83E6-E9AFC97601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itolo 7">
            <a:extLst>
              <a:ext uri="{FF2B5EF4-FFF2-40B4-BE49-F238E27FC236}">
                <a16:creationId xmlns:a16="http://schemas.microsoft.com/office/drawing/2014/main" id="{D4EA38DD-12F7-FB4B-8A7D-28D03E1D2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Thank you!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22811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7AD2D38-0527-42EB-9BAB-BEF4CE8ED520}">
  <we:reference id="wa200010725" version="1.0.0.1" store="it-IT" storeType="OMEX"/>
  <we:alternateReferences>
    <we:reference id="wa200010725" version="1.0.0.1" store="wa200010725" storeType="OMEX"/>
  </we:alternateReferences>
  <we:properties>
    <we:property name="claude.fileId" value="&quot;194ebe41-69a4-4857-8ce7-85066af63d6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11963</TotalTime>
  <Words>3694</Words>
  <Application>Microsoft Office PowerPoint</Application>
  <PresentationFormat>Widescreen</PresentationFormat>
  <Paragraphs>600</Paragraphs>
  <Slides>38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CMSS10</vt:lpstr>
      <vt:lpstr>Courier New</vt:lpstr>
      <vt:lpstr>Verdana</vt:lpstr>
      <vt:lpstr>Tema di Office</vt:lpstr>
      <vt:lpstr>Perceiver &amp; Perceiver IO Implementation and Experimental Analysis</vt:lpstr>
      <vt:lpstr>Presentazione standard di PowerPoint</vt:lpstr>
      <vt:lpstr>The Problem: Modality-Specific Architectures</vt:lpstr>
      <vt:lpstr>The Problem: Scaling bottleneck</vt:lpstr>
      <vt:lpstr>The Perceiver Solution</vt:lpstr>
      <vt:lpstr>Presentazione standard di PowerPoint</vt:lpstr>
      <vt:lpstr>Perceiver Architecture</vt:lpstr>
      <vt:lpstr>Fourier Positional Encoding</vt:lpstr>
      <vt:lpstr>Latent Transformer &amp; Weight Sharing</vt:lpstr>
      <vt:lpstr>Original Perceiver Output: Pooling Classifier</vt:lpstr>
      <vt:lpstr>Computational Complexity Analysis</vt:lpstr>
      <vt:lpstr>GELU Activation &amp; LAMB Optimizer</vt:lpstr>
      <vt:lpstr>Implementation</vt:lpstr>
      <vt:lpstr>Implementation Differences from the Paper</vt:lpstr>
      <vt:lpstr>CIFAR-10: Experimental Setup</vt:lpstr>
      <vt:lpstr>CIFAR-10: Ablation Accuracy</vt:lpstr>
      <vt:lpstr>CIFAR-10: Ablation Matrix</vt:lpstr>
      <vt:lpstr>CIFAR-10: Weight Sharing Trade-off</vt:lpstr>
      <vt:lpstr>CIFAR-10: Fixed-Permutation Test</vt:lpstr>
      <vt:lpstr>CIFAR-10: Best Perceiver Configuration</vt:lpstr>
      <vt:lpstr>ModelNet40: Setup &amp; Results</vt:lpstr>
      <vt:lpstr>ModelNet40: Augmentation Effects</vt:lpstr>
      <vt:lpstr>Perceiver IO: Structured Outputs</vt:lpstr>
      <vt:lpstr>Perceiver IO Decoder with Output Queries</vt:lpstr>
      <vt:lpstr>Output Query Design per Task</vt:lpstr>
      <vt:lpstr>CIFAR-10: Perceiver vs Perceiver IO</vt:lpstr>
      <vt:lpstr>WikiText-103: Masked Language Model Pre-training</vt:lpstr>
      <vt:lpstr>GLUE: Fine-tuning on 8 Tasks</vt:lpstr>
      <vt:lpstr>GLUE: Per-Task Results</vt:lpstr>
      <vt:lpstr>Convergence: Representative Checkpoints</vt:lpstr>
      <vt:lpstr>Attention Maps Analysis</vt:lpstr>
      <vt:lpstr>Comprehensive Results Summary</vt:lpstr>
      <vt:lpstr>Gap vs Original Papers</vt:lpstr>
      <vt:lpstr>Hardware Limitations &amp; Design Choices</vt:lpstr>
      <vt:lpstr>Possible Improvements</vt:lpstr>
      <vt:lpstr>Empirical Summary</vt:lpstr>
      <vt:lpstr>Conclusions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Francesco Gigli</dc:creator>
  <cp:lastModifiedBy>Francesco Gigli</cp:lastModifiedBy>
  <cp:revision>5</cp:revision>
  <dcterms:created xsi:type="dcterms:W3CDTF">2026-06-15T08:59:35Z</dcterms:created>
  <dcterms:modified xsi:type="dcterms:W3CDTF">2026-07-10T10:19:40Z</dcterms:modified>
</cp:coreProperties>
</file>