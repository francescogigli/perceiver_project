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60" r:id="rId2"/>
    <p:sldId id="275" r:id="rId3"/>
    <p:sldId id="276" r:id="rId4"/>
    <p:sldId id="274" r:id="rId5"/>
    <p:sldId id="314" r:id="rId6"/>
    <p:sldId id="316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9" r:id="rId17"/>
    <p:sldId id="290" r:id="rId18"/>
    <p:sldId id="291" r:id="rId19"/>
    <p:sldId id="292" r:id="rId20"/>
    <p:sldId id="294" r:id="rId21"/>
    <p:sldId id="295" r:id="rId22"/>
    <p:sldId id="297" r:id="rId23"/>
    <p:sldId id="298" r:id="rId24"/>
    <p:sldId id="299" r:id="rId25"/>
    <p:sldId id="300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262" r:id="rId3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02E61-26DD-4A1E-8E6A-E2067667E5F7}" v="365" dt="2026-06-17T14:04:10.1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1320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Gigli" userId="f89a709f7a6bca5b" providerId="LiveId" clId="{C4A6562D-4991-4ACE-B1F8-42E496B0C622}"/>
    <pc:docChg chg="undo custSel addSld delSld modSld sldOrd">
      <pc:chgData name="Francesco Gigli" userId="f89a709f7a6bca5b" providerId="LiveId" clId="{C4A6562D-4991-4ACE-B1F8-42E496B0C622}" dt="2026-06-17T14:04:29.041" v="625" actId="1076"/>
      <pc:docMkLst>
        <pc:docMk/>
      </pc:docMkLst>
      <pc:sldChg chg="modSp mod">
        <pc:chgData name="Francesco Gigli" userId="f89a709f7a6bca5b" providerId="LiveId" clId="{C4A6562D-4991-4ACE-B1F8-42E496B0C622}" dt="2026-06-17T09:59:45.004" v="41" actId="20577"/>
        <pc:sldMkLst>
          <pc:docMk/>
          <pc:sldMk cId="2822460831" sldId="274"/>
        </pc:sldMkLst>
        <pc:spChg chg="mod">
          <ac:chgData name="Francesco Gigli" userId="f89a709f7a6bca5b" providerId="LiveId" clId="{C4A6562D-4991-4ACE-B1F8-42E496B0C622}" dt="2026-06-17T09:58:12.903" v="16" actId="122"/>
          <ac:spMkLst>
            <pc:docMk/>
            <pc:sldMk cId="2822460831" sldId="274"/>
            <ac:spMk id="6" creationId="{5AB8ABBA-40B6-4D36-B018-87DDA51CCC25}"/>
          </ac:spMkLst>
        </pc:spChg>
        <pc:spChg chg="mod">
          <ac:chgData name="Francesco Gigli" userId="f89a709f7a6bca5b" providerId="LiveId" clId="{C4A6562D-4991-4ACE-B1F8-42E496B0C622}" dt="2026-06-17T09:59:45.004" v="41" actId="20577"/>
          <ac:spMkLst>
            <pc:docMk/>
            <pc:sldMk cId="2822460831" sldId="274"/>
            <ac:spMk id="21" creationId="{0A3F5B99-B1A5-4C0A-873A-5F1D33741EDE}"/>
          </ac:spMkLst>
        </pc:spChg>
      </pc:sldChg>
      <pc:sldChg chg="modSp mod">
        <pc:chgData name="Francesco Gigli" userId="f89a709f7a6bca5b" providerId="LiveId" clId="{C4A6562D-4991-4ACE-B1F8-42E496B0C622}" dt="2026-06-17T09:57:19.443" v="7" actId="122"/>
        <pc:sldMkLst>
          <pc:docMk/>
          <pc:sldMk cId="1215343669" sldId="276"/>
        </pc:sldMkLst>
        <pc:spChg chg="mod">
          <ac:chgData name="Francesco Gigli" userId="f89a709f7a6bca5b" providerId="LiveId" clId="{C4A6562D-4991-4ACE-B1F8-42E496B0C622}" dt="2026-06-17T09:56:27.355" v="0" actId="14100"/>
          <ac:spMkLst>
            <pc:docMk/>
            <pc:sldMk cId="1215343669" sldId="276"/>
            <ac:spMk id="18" creationId="{31310673-6690-4268-8F77-A92AB08AA31C}"/>
          </ac:spMkLst>
        </pc:spChg>
        <pc:spChg chg="mod">
          <ac:chgData name="Francesco Gigli" userId="f89a709f7a6bca5b" providerId="LiveId" clId="{C4A6562D-4991-4ACE-B1F8-42E496B0C622}" dt="2026-06-17T09:56:37.262" v="2" actId="1076"/>
          <ac:spMkLst>
            <pc:docMk/>
            <pc:sldMk cId="1215343669" sldId="276"/>
            <ac:spMk id="21" creationId="{A65B67BC-D358-4F83-A36E-E5EBCD28604D}"/>
          </ac:spMkLst>
        </pc:spChg>
        <pc:spChg chg="mod">
          <ac:chgData name="Francesco Gigli" userId="f89a709f7a6bca5b" providerId="LiveId" clId="{C4A6562D-4991-4ACE-B1F8-42E496B0C622}" dt="2026-06-17T09:57:19.443" v="7" actId="122"/>
          <ac:spMkLst>
            <pc:docMk/>
            <pc:sldMk cId="1215343669" sldId="276"/>
            <ac:spMk id="23" creationId="{C00477AF-EB6F-4E8B-9A72-0CCBCB474D0C}"/>
          </ac:spMkLst>
        </pc:spChg>
        <pc:graphicFrameChg chg="mod">
          <ac:chgData name="Francesco Gigli" userId="f89a709f7a6bca5b" providerId="LiveId" clId="{C4A6562D-4991-4ACE-B1F8-42E496B0C622}" dt="2026-06-17T09:56:32.974" v="1" actId="1076"/>
          <ac:graphicFrameMkLst>
            <pc:docMk/>
            <pc:sldMk cId="1215343669" sldId="276"/>
            <ac:graphicFrameMk id="20" creationId="{4F55156B-D676-419B-9AE8-C8D0CAB89D42}"/>
          </ac:graphicFrameMkLst>
        </pc:graphicFrameChg>
      </pc:sldChg>
      <pc:sldChg chg="modSp del mod">
        <pc:chgData name="Francesco Gigli" userId="f89a709f7a6bca5b" providerId="LiveId" clId="{C4A6562D-4991-4ACE-B1F8-42E496B0C622}" dt="2026-06-17T10:22:27.740" v="124"/>
        <pc:sldMkLst>
          <pc:docMk/>
          <pc:sldMk cId="1885203948" sldId="277"/>
        </pc:sldMkLst>
        <pc:spChg chg="mod">
          <ac:chgData name="Francesco Gigli" userId="f89a709f7a6bca5b" providerId="LiveId" clId="{C4A6562D-4991-4ACE-B1F8-42E496B0C622}" dt="2026-06-17T10:10:42.180" v="118" actId="6549"/>
          <ac:spMkLst>
            <pc:docMk/>
            <pc:sldMk cId="1885203948" sldId="277"/>
            <ac:spMk id="15" creationId="{DE0B5638-D561-478B-9939-BBA3CCA8461B}"/>
          </ac:spMkLst>
        </pc:spChg>
        <pc:spChg chg="mod">
          <ac:chgData name="Francesco Gigli" userId="f89a709f7a6bca5b" providerId="LiveId" clId="{C4A6562D-4991-4ACE-B1F8-42E496B0C622}" dt="2026-06-17T10:16:19.328" v="122" actId="26606"/>
          <ac:spMkLst>
            <pc:docMk/>
            <pc:sldMk cId="1885203948" sldId="277"/>
            <ac:spMk id="19" creationId="{928B1386-7C56-4396-90C3-C262E153F542}"/>
          </ac:spMkLst>
        </pc:spChg>
      </pc:sldChg>
      <pc:sldChg chg="modSp del mod">
        <pc:chgData name="Francesco Gigli" userId="f89a709f7a6bca5b" providerId="LiveId" clId="{C4A6562D-4991-4ACE-B1F8-42E496B0C622}" dt="2026-06-17T10:35:35.510" v="235"/>
        <pc:sldMkLst>
          <pc:docMk/>
          <pc:sldMk cId="1689492528" sldId="278"/>
        </pc:sldMkLst>
        <pc:spChg chg="mod">
          <ac:chgData name="Francesco Gigli" userId="f89a709f7a6bca5b" providerId="LiveId" clId="{C4A6562D-4991-4ACE-B1F8-42E496B0C622}" dt="2026-06-17T10:32:46.062" v="233" actId="20577"/>
          <ac:spMkLst>
            <pc:docMk/>
            <pc:sldMk cId="1689492528" sldId="278"/>
            <ac:spMk id="4" creationId="{AF55789B-9BF9-EE56-1F69-73DC287BAA39}"/>
          </ac:spMkLst>
        </pc:spChg>
      </pc:sldChg>
      <pc:sldChg chg="addSp delSp modSp add mod">
        <pc:chgData name="Francesco Gigli" userId="f89a709f7a6bca5b" providerId="LiveId" clId="{C4A6562D-4991-4ACE-B1F8-42E496B0C622}" dt="2026-06-17T10:32:22.118" v="232" actId="20577"/>
        <pc:sldMkLst>
          <pc:docMk/>
          <pc:sldMk cId="2854741937" sldId="314"/>
        </pc:sldMkLst>
        <pc:spChg chg="add del mod">
          <ac:chgData name="Francesco Gigli" userId="f89a709f7a6bca5b" providerId="LiveId" clId="{C4A6562D-4991-4ACE-B1F8-42E496B0C622}" dt="2026-06-17T10:26:33.551" v="180" actId="478"/>
          <ac:spMkLst>
            <pc:docMk/>
            <pc:sldMk cId="2854741937" sldId="314"/>
            <ac:spMk id="5" creationId="{5EAFA84A-D186-A4B1-9643-A8F00304DF74}"/>
          </ac:spMkLst>
        </pc:spChg>
        <pc:spChg chg="add mod">
          <ac:chgData name="Francesco Gigli" userId="f89a709f7a6bca5b" providerId="LiveId" clId="{C4A6562D-4991-4ACE-B1F8-42E496B0C622}" dt="2026-06-17T10:32:21.059" v="231" actId="20577"/>
          <ac:spMkLst>
            <pc:docMk/>
            <pc:sldMk cId="2854741937" sldId="314"/>
            <ac:spMk id="7" creationId="{F9199AF9-D49A-E7E7-FA39-B58A38AFB16C}"/>
          </ac:spMkLst>
        </pc:spChg>
        <pc:spChg chg="mod">
          <ac:chgData name="Francesco Gigli" userId="f89a709f7a6bca5b" providerId="LiveId" clId="{C4A6562D-4991-4ACE-B1F8-42E496B0C622}" dt="2026-06-17T10:32:22.118" v="232" actId="20577"/>
          <ac:spMkLst>
            <pc:docMk/>
            <pc:sldMk cId="2854741937" sldId="314"/>
            <ac:spMk id="15" creationId="{DE0B5638-D561-478B-9939-BBA3CCA8461B}"/>
          </ac:spMkLst>
        </pc:spChg>
        <pc:spChg chg="del mod">
          <ac:chgData name="Francesco Gigli" userId="f89a709f7a6bca5b" providerId="LiveId" clId="{C4A6562D-4991-4ACE-B1F8-42E496B0C622}" dt="2026-06-17T10:26:29.547" v="179" actId="478"/>
          <ac:spMkLst>
            <pc:docMk/>
            <pc:sldMk cId="2854741937" sldId="314"/>
            <ac:spMk id="19" creationId="{928B1386-7C56-4396-90C3-C262E153F542}"/>
          </ac:spMkLst>
        </pc:spChg>
        <pc:cxnChg chg="add del">
          <ac:chgData name="Francesco Gigli" userId="f89a709f7a6bca5b" providerId="LiveId" clId="{C4A6562D-4991-4ACE-B1F8-42E496B0C622}" dt="2026-06-17T10:28:54.141" v="213" actId="478"/>
          <ac:cxnSpMkLst>
            <pc:docMk/>
            <pc:sldMk cId="2854741937" sldId="314"/>
            <ac:cxnSpMk id="9" creationId="{0055CE90-2039-D757-8981-67EACB2753A1}"/>
          </ac:cxnSpMkLst>
        </pc:cxnChg>
      </pc:sldChg>
      <pc:sldChg chg="addSp delSp modSp add del mod">
        <pc:chgData name="Francesco Gigli" userId="f89a709f7a6bca5b" providerId="LiveId" clId="{C4A6562D-4991-4ACE-B1F8-42E496B0C622}" dt="2026-06-17T11:12:12.194" v="599"/>
        <pc:sldMkLst>
          <pc:docMk/>
          <pc:sldMk cId="859083845" sldId="315"/>
        </pc:sldMkLst>
        <pc:spChg chg="add mod">
          <ac:chgData name="Francesco Gigli" userId="f89a709f7a6bca5b" providerId="LiveId" clId="{C4A6562D-4991-4ACE-B1F8-42E496B0C622}" dt="2026-06-17T10:44:11.025" v="305"/>
          <ac:spMkLst>
            <pc:docMk/>
            <pc:sldMk cId="859083845" sldId="315"/>
            <ac:spMk id="3" creationId="{3E071C53-2FBE-5A23-CBB3-1F827BAB03E3}"/>
          </ac:spMkLst>
        </pc:spChg>
        <pc:spChg chg="del mod">
          <ac:chgData name="Francesco Gigli" userId="f89a709f7a6bca5b" providerId="LiveId" clId="{C4A6562D-4991-4ACE-B1F8-42E496B0C622}" dt="2026-06-17T10:44:15.102" v="306" actId="478"/>
          <ac:spMkLst>
            <pc:docMk/>
            <pc:sldMk cId="859083845" sldId="315"/>
            <ac:spMk id="4" creationId="{AF55789B-9BF9-EE56-1F69-73DC287BAA39}"/>
          </ac:spMkLst>
        </pc:spChg>
        <pc:spChg chg="add del mod">
          <ac:chgData name="Francesco Gigli" userId="f89a709f7a6bca5b" providerId="LiveId" clId="{C4A6562D-4991-4ACE-B1F8-42E496B0C622}" dt="2026-06-17T10:44:18.223" v="307" actId="478"/>
          <ac:spMkLst>
            <pc:docMk/>
            <pc:sldMk cId="859083845" sldId="315"/>
            <ac:spMk id="6" creationId="{FF78574D-E9A4-8EB6-B5E2-9EFAF50B9083}"/>
          </ac:spMkLst>
        </pc:spChg>
        <pc:spChg chg="del mod">
          <ac:chgData name="Francesco Gigli" userId="f89a709f7a6bca5b" providerId="LiveId" clId="{C4A6562D-4991-4ACE-B1F8-42E496B0C622}" dt="2026-06-17T10:43:21.969" v="298" actId="478"/>
          <ac:spMkLst>
            <pc:docMk/>
            <pc:sldMk cId="859083845" sldId="315"/>
            <ac:spMk id="7" creationId="{9C15DF79-25D4-4756-B6BA-D4D0AF6B9D92}"/>
          </ac:spMkLst>
        </pc:spChg>
        <pc:spChg chg="del mod">
          <ac:chgData name="Francesco Gigli" userId="f89a709f7a6bca5b" providerId="LiveId" clId="{C4A6562D-4991-4ACE-B1F8-42E496B0C622}" dt="2026-06-17T10:44:28.544" v="311" actId="478"/>
          <ac:spMkLst>
            <pc:docMk/>
            <pc:sldMk cId="859083845" sldId="315"/>
            <ac:spMk id="8" creationId="{1B2C04AC-CE18-4694-B71A-2CA6A020421C}"/>
          </ac:spMkLst>
        </pc:spChg>
        <pc:spChg chg="add del mod">
          <ac:chgData name="Francesco Gigli" userId="f89a709f7a6bca5b" providerId="LiveId" clId="{C4A6562D-4991-4ACE-B1F8-42E496B0C622}" dt="2026-06-17T10:49:20.939" v="403" actId="478"/>
          <ac:spMkLst>
            <pc:docMk/>
            <pc:sldMk cId="859083845" sldId="315"/>
            <ac:spMk id="10" creationId="{C263780A-81D9-0019-7CA3-23181E660A98}"/>
          </ac:spMkLst>
        </pc:spChg>
        <pc:spChg chg="del mod">
          <ac:chgData name="Francesco Gigli" userId="f89a709f7a6bca5b" providerId="LiveId" clId="{C4A6562D-4991-4ACE-B1F8-42E496B0C622}" dt="2026-06-17T10:42:29.181" v="288" actId="478"/>
          <ac:spMkLst>
            <pc:docMk/>
            <pc:sldMk cId="859083845" sldId="315"/>
            <ac:spMk id="11" creationId="{76DF2C60-1ABA-4673-95EC-F22B0B5FA743}"/>
          </ac:spMkLst>
        </pc:spChg>
        <pc:spChg chg="del mod">
          <ac:chgData name="Francesco Gigli" userId="f89a709f7a6bca5b" providerId="LiveId" clId="{C4A6562D-4991-4ACE-B1F8-42E496B0C622}" dt="2026-06-17T10:42:27.082" v="287" actId="478"/>
          <ac:spMkLst>
            <pc:docMk/>
            <pc:sldMk cId="859083845" sldId="315"/>
            <ac:spMk id="12" creationId="{CCEF4C1E-CB6A-4BC6-B1FC-87F2DC8C87BF}"/>
          </ac:spMkLst>
        </pc:spChg>
        <pc:spChg chg="add del mod ord">
          <ac:chgData name="Francesco Gigli" userId="f89a709f7a6bca5b" providerId="LiveId" clId="{C4A6562D-4991-4ACE-B1F8-42E496B0C622}" dt="2026-06-17T11:11:58.313" v="596"/>
          <ac:spMkLst>
            <pc:docMk/>
            <pc:sldMk cId="859083845" sldId="315"/>
            <ac:spMk id="14" creationId="{0AE93169-2342-4DC7-AB1B-E9F3E9590B12}"/>
          </ac:spMkLst>
        </pc:spChg>
        <pc:spChg chg="add mod">
          <ac:chgData name="Francesco Gigli" userId="f89a709f7a6bca5b" providerId="LiveId" clId="{C4A6562D-4991-4ACE-B1F8-42E496B0C622}" dt="2026-06-17T10:49:12.590" v="402" actId="20577"/>
          <ac:spMkLst>
            <pc:docMk/>
            <pc:sldMk cId="859083845" sldId="315"/>
            <ac:spMk id="16" creationId="{1D313583-3C86-72A3-B32A-91521DA04A70}"/>
          </ac:spMkLst>
        </pc:spChg>
        <pc:spChg chg="add del">
          <ac:chgData name="Francesco Gigli" userId="f89a709f7a6bca5b" providerId="LiveId" clId="{C4A6562D-4991-4ACE-B1F8-42E496B0C622}" dt="2026-06-17T10:47:11.696" v="362" actId="22"/>
          <ac:spMkLst>
            <pc:docMk/>
            <pc:sldMk cId="859083845" sldId="315"/>
            <ac:spMk id="18" creationId="{7B481BA8-8F48-BAF9-403D-ACFA6D0090CE}"/>
          </ac:spMkLst>
        </pc:spChg>
        <pc:spChg chg="add mod">
          <ac:chgData name="Francesco Gigli" userId="f89a709f7a6bca5b" providerId="LiveId" clId="{C4A6562D-4991-4ACE-B1F8-42E496B0C622}" dt="2026-06-17T11:06:50.168" v="576" actId="1076"/>
          <ac:spMkLst>
            <pc:docMk/>
            <pc:sldMk cId="859083845" sldId="315"/>
            <ac:spMk id="20" creationId="{6D733F30-C5DE-19F3-A0FC-65B90959B7E9}"/>
          </ac:spMkLst>
        </pc:spChg>
        <pc:spChg chg="add mod">
          <ac:chgData name="Francesco Gigli" userId="f89a709f7a6bca5b" providerId="LiveId" clId="{C4A6562D-4991-4ACE-B1F8-42E496B0C622}" dt="2026-06-17T11:06:50.365" v="577" actId="1076"/>
          <ac:spMkLst>
            <pc:docMk/>
            <pc:sldMk cId="859083845" sldId="315"/>
            <ac:spMk id="22" creationId="{08C2DFE5-F7D7-D202-D835-CA9EA7B16573}"/>
          </ac:spMkLst>
        </pc:spChg>
        <pc:spChg chg="add mod ord">
          <ac:chgData name="Francesco Gigli" userId="f89a709f7a6bca5b" providerId="LiveId" clId="{C4A6562D-4991-4ACE-B1F8-42E496B0C622}" dt="2026-06-17T11:11:47.281" v="590"/>
          <ac:spMkLst>
            <pc:docMk/>
            <pc:sldMk cId="859083845" sldId="315"/>
            <ac:spMk id="23" creationId="{CCE8295F-1E76-475F-9230-E9CC78B47DE9}"/>
          </ac:spMkLst>
        </pc:spChg>
        <pc:spChg chg="add del mod ord">
          <ac:chgData name="Francesco Gigli" userId="f89a709f7a6bca5b" providerId="LiveId" clId="{C4A6562D-4991-4ACE-B1F8-42E496B0C622}" dt="2026-06-17T11:11:59.499" v="597" actId="478"/>
          <ac:spMkLst>
            <pc:docMk/>
            <pc:sldMk cId="859083845" sldId="315"/>
            <ac:spMk id="24" creationId="{5977204E-68D4-4562-9D9E-4EFD5FD8BAA3}"/>
          </ac:spMkLst>
        </pc:spChg>
        <pc:picChg chg="mod">
          <ac:chgData name="Francesco Gigli" userId="f89a709f7a6bca5b" providerId="LiveId" clId="{C4A6562D-4991-4ACE-B1F8-42E496B0C622}" dt="2026-06-17T11:06:49.893" v="575" actId="14100"/>
          <ac:picMkLst>
            <pc:docMk/>
            <pc:sldMk cId="859083845" sldId="315"/>
            <ac:picMk id="15" creationId="{00000000-0000-0000-0000-000000000000}"/>
          </ac:picMkLst>
        </pc:picChg>
      </pc:sldChg>
      <pc:sldChg chg="modSp add del ord">
        <pc:chgData name="Francesco Gigli" userId="f89a709f7a6bca5b" providerId="LiveId" clId="{C4A6562D-4991-4ACE-B1F8-42E496B0C622}" dt="2026-06-17T10:44:20.497" v="308" actId="47"/>
        <pc:sldMkLst>
          <pc:docMk/>
          <pc:sldMk cId="2108943199" sldId="316"/>
        </pc:sldMkLst>
        <pc:spChg chg="mod">
          <ac:chgData name="Francesco Gigli" userId="f89a709f7a6bca5b" providerId="LiveId" clId="{C4A6562D-4991-4ACE-B1F8-42E496B0C622}" dt="2026-06-17T10:44:05.101" v="304"/>
          <ac:spMkLst>
            <pc:docMk/>
            <pc:sldMk cId="2108943199" sldId="316"/>
            <ac:spMk id="4" creationId="{9DFCB378-1364-4BF2-5840-8FB1D44E782C}"/>
          </ac:spMkLst>
        </pc:spChg>
      </pc:sldChg>
      <pc:sldChg chg="modSp add mod">
        <pc:chgData name="Francesco Gigli" userId="f89a709f7a6bca5b" providerId="LiveId" clId="{C4A6562D-4991-4ACE-B1F8-42E496B0C622}" dt="2026-06-17T14:04:29.041" v="625" actId="1076"/>
        <pc:sldMkLst>
          <pc:docMk/>
          <pc:sldMk cId="3665472281" sldId="316"/>
        </pc:sldMkLst>
        <pc:spChg chg="mod">
          <ac:chgData name="Francesco Gigli" userId="f89a709f7a6bca5b" providerId="LiveId" clId="{C4A6562D-4991-4ACE-B1F8-42E496B0C622}" dt="2026-06-17T14:04:15.890" v="623" actId="1076"/>
          <ac:spMkLst>
            <pc:docMk/>
            <pc:sldMk cId="3665472281" sldId="316"/>
            <ac:spMk id="16" creationId="{1D313583-3C86-72A3-B32A-91521DA04A70}"/>
          </ac:spMkLst>
        </pc:spChg>
        <pc:spChg chg="mod">
          <ac:chgData name="Francesco Gigli" userId="f89a709f7a6bca5b" providerId="LiveId" clId="{C4A6562D-4991-4ACE-B1F8-42E496B0C622}" dt="2026-06-17T14:04:19.641" v="624" actId="1076"/>
          <ac:spMkLst>
            <pc:docMk/>
            <pc:sldMk cId="3665472281" sldId="316"/>
            <ac:spMk id="20" creationId="{6D733F30-C5DE-19F3-A0FC-65B90959B7E9}"/>
          </ac:spMkLst>
        </pc:spChg>
        <pc:spChg chg="mod">
          <ac:chgData name="Francesco Gigli" userId="f89a709f7a6bca5b" providerId="LiveId" clId="{C4A6562D-4991-4ACE-B1F8-42E496B0C622}" dt="2026-06-17T14:04:29.041" v="625" actId="1076"/>
          <ac:spMkLst>
            <pc:docMk/>
            <pc:sldMk cId="3665472281" sldId="316"/>
            <ac:spMk id="22" creationId="{08C2DFE5-F7D7-D202-D835-CA9EA7B16573}"/>
          </ac:spMkLst>
        </pc:spChg>
        <pc:picChg chg="mod">
          <ac:chgData name="Francesco Gigli" userId="f89a709f7a6bca5b" providerId="LiveId" clId="{C4A6562D-4991-4ACE-B1F8-42E496B0C622}" dt="2026-06-17T14:04:02.703" v="621" actId="1076"/>
          <ac:picMkLst>
            <pc:docMk/>
            <pc:sldMk cId="3665472281" sldId="316"/>
            <ac:picMk id="15" creationId="{00000000-0000-0000-0000-000000000000}"/>
          </ac:picMkLst>
        </pc:pic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it-IT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Accuracy by configuration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Accuracy</c:v>
          </c:tx>
          <c:invertIfNegative val="1"/>
          <c:dPt>
            <c:idx val="0"/>
            <c:invertIfNegative val="0"/>
            <c:bubble3D val="0"/>
            <c:spPr>
              <a:solidFill>
                <a:srgbClr val="9DB8C6"/>
              </a:solidFill>
            </c:spPr>
            <c:extLst>
              <c:ext xmlns:c16="http://schemas.microsoft.com/office/drawing/2014/chart" uri="{C3380CC4-5D6E-409C-BE32-E72D297353CC}">
                <c16:uniqueId val="{00000001-F2C5-4761-AB16-2F17FDFB64A6}"/>
              </c:ext>
            </c:extLst>
          </c:dPt>
          <c:dPt>
            <c:idx val="1"/>
            <c:invertIfNegative val="0"/>
            <c:bubble3D val="0"/>
            <c:spPr>
              <a:solidFill>
                <a:srgbClr val="196B24"/>
              </a:solidFill>
            </c:spPr>
            <c:extLst>
              <c:ext xmlns:c16="http://schemas.microsoft.com/office/drawing/2014/chart" uri="{C3380CC4-5D6E-409C-BE32-E72D297353CC}">
                <c16:uniqueId val="{00000003-F2C5-4761-AB16-2F17FDFB64A6}"/>
              </c:ext>
            </c:extLst>
          </c:dPt>
          <c:dPt>
            <c:idx val="2"/>
            <c:invertIfNegative val="0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5-F2C5-4761-AB16-2F17FDFB64A6}"/>
              </c:ext>
            </c:extLst>
          </c:dPt>
          <c:dPt>
            <c:idx val="3"/>
            <c:invertIfNegative val="0"/>
            <c:bubble3D val="0"/>
            <c:spPr>
              <a:solidFill>
                <a:srgbClr val="9DB8C6"/>
              </a:solidFill>
            </c:spPr>
            <c:extLst>
              <c:ext xmlns:c16="http://schemas.microsoft.com/office/drawing/2014/chart" uri="{C3380CC4-5D6E-409C-BE32-E72D297353CC}">
                <c16:uniqueId val="{00000007-F2C5-4761-AB16-2F17FDFB64A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/>
                      <a:t>69.69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2C5-4761-AB16-2F17FDFB64A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1"/>
                      <a:t>78.12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2C5-4761-AB16-2F17FDFB64A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1"/>
                      <a:t>77.60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2C5-4761-AB16-2F17FDFB64A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1"/>
                      <a:t>73.85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2C5-4761-AB16-2F17FDFB64A6}"/>
                </c:ext>
              </c:extLst>
            </c:dLbl>
            <c:numFmt formatCode="0.00" sourceLinked="0"/>
            <c:spPr>
              <a:noFill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Baseline</c:v>
              </c:pt>
              <c:pt idx="1">
                <c:v>Fourier perm</c:v>
              </c:pt>
              <c:pt idx="2">
                <c:v>Learned perm</c:v>
              </c:pt>
              <c:pt idx="3">
                <c:v>No WS</c:v>
              </c:pt>
            </c:strLit>
          </c:cat>
          <c:val>
            <c:numLit>
              <c:formatCode>General</c:formatCode>
              <c:ptCount val="4"/>
              <c:pt idx="0">
                <c:v>69.69</c:v>
              </c:pt>
              <c:pt idx="1">
                <c:v>78.12</c:v>
              </c:pt>
              <c:pt idx="2">
                <c:v>77.599999999999994</c:v>
              </c:pt>
              <c:pt idx="3">
                <c:v>73.849999999999994</c:v>
              </c:pt>
            </c:numLit>
          </c:val>
          <c:extLst>
            <c:ext xmlns:c16="http://schemas.microsoft.com/office/drawing/2014/chart" uri="{C3380CC4-5D6E-409C-BE32-E72D297353CC}">
              <c16:uniqueId val="{00000008-F2C5-4761-AB16-2F17FDFB64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80"/>
          <c:min val="6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it-IT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Accuracy by augmentation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Accuracy</c:v>
          </c:tx>
          <c:invertIfNegative val="1"/>
          <c:dPt>
            <c:idx val="0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1-9826-45E1-990A-6A130EE3FBD2}"/>
              </c:ext>
            </c:extLst>
          </c:dPt>
          <c:dPt>
            <c:idx val="1"/>
            <c:invertIfNegative val="1"/>
            <c:bubble3D val="0"/>
            <c:spPr>
              <a:solidFill>
                <a:srgbClr val="0F9ED5"/>
              </a:solidFill>
            </c:spPr>
            <c:extLst>
              <c:ext xmlns:c16="http://schemas.microsoft.com/office/drawing/2014/chart" uri="{C3380CC4-5D6E-409C-BE32-E72D297353CC}">
                <c16:uniqueId val="{00000003-9826-45E1-990A-6A130EE3FBD2}"/>
              </c:ext>
            </c:extLst>
          </c:dPt>
          <c:dPt>
            <c:idx val="2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5-9826-45E1-990A-6A130EE3FBD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/>
                      <a:t>84.24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826-45E1-990A-6A130EE3FBD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1"/>
                      <a:t>83.67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826-45E1-990A-6A130EE3FBD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1"/>
                      <a:t>83.14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826-45E1-990A-6A130EE3FBD2}"/>
                </c:ext>
              </c:extLst>
            </c:dLbl>
            <c:numFmt formatCode="0.00" sourceLinked="0"/>
            <c:spPr>
              <a:noFill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Scale</c:v>
              </c:pt>
              <c:pt idx="1">
                <c:v>+ Translation</c:v>
              </c:pt>
              <c:pt idx="2">
                <c:v>+ Rotation</c:v>
              </c:pt>
            </c:strLit>
          </c:cat>
          <c:val>
            <c:numLit>
              <c:formatCode>General</c:formatCode>
              <c:ptCount val="3"/>
              <c:pt idx="0">
                <c:v>84.24</c:v>
              </c:pt>
              <c:pt idx="1">
                <c:v>83.67</c:v>
              </c:pt>
              <c:pt idx="2">
                <c:v>83.14</c:v>
              </c:pt>
            </c:numLit>
          </c:val>
          <c:extLst>
            <c:ext xmlns:c16="http://schemas.microsoft.com/office/drawing/2014/chart" uri="{C3380CC4-5D6E-409C-BE32-E72D297353CC}">
              <c16:uniqueId val="{00000006-9826-45E1-990A-6A130EE3F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86"/>
          <c:min val="8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it-IT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CIFAR-10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Accuracy</c:v>
          </c:tx>
          <c:invertIfNegative val="1"/>
          <c:dPt>
            <c:idx val="0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1-921E-4B39-9B6A-5CC4383FD930}"/>
              </c:ext>
            </c:extLst>
          </c:dPt>
          <c:dPt>
            <c:idx val="1"/>
            <c:invertIfNegative val="1"/>
            <c:bubble3D val="0"/>
            <c:spPr>
              <a:solidFill>
                <a:srgbClr val="196B24"/>
              </a:solidFill>
            </c:spPr>
            <c:extLst>
              <c:ext xmlns:c16="http://schemas.microsoft.com/office/drawing/2014/chart" uri="{C3380CC4-5D6E-409C-BE32-E72D297353CC}">
                <c16:uniqueId val="{00000003-921E-4B39-9B6A-5CC4383FD93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/>
                      <a:t>78.12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21E-4B39-9B6A-5CC4383FD93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1"/>
                      <a:t>78.20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21E-4B39-9B6A-5CC4383FD930}"/>
                </c:ext>
              </c:extLst>
            </c:dLbl>
            <c:numFmt formatCode="0.00" sourceLinked="0"/>
            <c:spPr>
              <a:noFill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Best Perceiver</c:v>
              </c:pt>
              <c:pt idx="1">
                <c:v>Perceiver IO</c:v>
              </c:pt>
            </c:strLit>
          </c:cat>
          <c:val>
            <c:numLit>
              <c:formatCode>General</c:formatCode>
              <c:ptCount val="2"/>
              <c:pt idx="0">
                <c:v>78.12</c:v>
              </c:pt>
              <c:pt idx="1">
                <c:v>78.2</c:v>
              </c:pt>
            </c:numLit>
          </c:val>
          <c:extLst>
            <c:ext xmlns:c16="http://schemas.microsoft.com/office/drawing/2014/chart" uri="{C3380CC4-5D6E-409C-BE32-E72D297353CC}">
              <c16:uniqueId val="{00000004-921E-4B39-9B6A-5CC4383FD9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79"/>
          <c:min val="77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  <c:majorUnit val="1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1425F-F4CF-4288-A706-0B2217E5AD63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3DA05-E672-4CEF-B475-4A5D6C27B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564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latinLnBrk="0"/>
            <a:endParaRPr lang="it-IT" sz="1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7D7B2-511C-5746-97D1-507EEDB38854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3110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7D7B2-511C-5746-97D1-507EEDB38854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6620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C781C4-B577-A127-8A3D-16E1CE377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D3DA16C-22B6-1D03-F512-379958E08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AE8F10-64F1-6384-0F18-296CA2BCA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30C313-F1F4-98CA-82BC-84551304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F92A44-6B0E-71EA-CB3A-B5E359AA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7174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95519D-5BC0-9ABF-DB6A-26E9B0FE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200BA4-C6F8-5729-92DD-7A0968DBF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16A5C7E-6F76-8980-2CBC-18E422D1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88F5A6-ED23-BBC4-617D-0DFD1B3B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516E22-1E6E-517E-E7B5-DB8A9CB5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496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4DAA80-2284-9B75-846B-1346331F5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7B3CF5B-D866-5D3A-011B-D485BF836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5F11FF-5B0A-48BB-060F-4B9867DE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926F39-CF9F-6342-3F26-9484E492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BB825C-F44F-775E-ADC6-3EB02926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168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E4F4EB-0D3F-D504-C61E-7C8E17A09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C4D7DD-0260-3BD2-A298-0CDBCED6B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49253D8-E0F8-D579-432D-A96691ACD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59DC75-765B-E7EA-146D-42319DC99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15416A-0AF9-D0F4-6679-AE7C2DC76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5ADB72-008B-0ADE-436E-6955C5C1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27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AE8958-2A6C-ECB7-C43F-9054311B7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ADE126-BCE2-71A1-28C8-EA0C49EC5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70061AB-4022-1209-3C39-AD95BC805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4921737-8045-F2E3-974E-C25CECABA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61C50C8-1944-836C-5527-26F074CC2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D520CF4-2292-4671-2CF9-9788349E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573B1B2-FAB1-4C38-91D4-9147DED4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2B77629-0E7E-8F2E-F8D9-380B1B597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950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D76EC7-C343-E7BF-DBDC-2FD02506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C579CA5-1A46-BDDE-EE4B-7454063E4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F02A437-4EB3-97E9-45E5-4ED4AD6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88D24E-F1B2-8948-9866-A0D8C498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839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2E3E440-BD9D-6A66-7879-7C395BFAC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BB3621C-0226-62D0-0E1A-1F37C7BB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EBB9B97-640B-3F18-0BDD-66113E712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4207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BAEA89-A143-5D22-9DE9-76DCC0C7F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56D109-ABC7-7181-A2B9-F7B57E134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77317CB-43E1-8462-CE71-0FAC2A0CF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BD35213-79DC-39CE-01C3-EF4F9A7E2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5715372-C64C-0A2B-8F0F-A573FFAA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B46A8D8-1875-E6A9-08F0-36D5CBD7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600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2C5FB2-2884-2CF9-E8C9-44139647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DA297E7-3523-1B19-8068-60D3DE9E7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847F6A8-D70F-1067-9E63-CD306909A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A4F0A40-6FAA-8FA0-AFA0-9F8CA007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3D3D02D-7A78-4C69-F688-086FE0AA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B1FBC6-7BD6-6AFE-F958-89D6CEC3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568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2F9B13-56E8-ED69-3D4C-5D9C57247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AC65D95-E899-D2B5-01FB-73F941C28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95C9A5-B075-ADCC-176C-941544CB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0D4656A-091E-E50E-5D91-9A9FA5EB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E11B30-5016-1525-A53D-13537AE4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833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9B89BEA-CBEE-B976-2750-F572405DF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B3ECB6F-F6AF-320D-20AA-975008D60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28B9B1-8211-F958-AB67-36E86D02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104F41-B033-72B9-73B9-64BD5ECA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BF746E-0DED-BBB4-9AC3-5B159528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3320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pertin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fondo diapositiva" descr="Università degli Studi di Firenze. &#10;&#10;Sfondo blu istituzionale con Salomone e logo di ateneo.">
            <a:extLst>
              <a:ext uri="{FF2B5EF4-FFF2-40B4-BE49-F238E27FC236}">
                <a16:creationId xmlns:a16="http://schemas.microsoft.com/office/drawing/2014/main" id="{F200A84E-7986-C941-8FF7-A4CA8D08C6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olo relazione">
            <a:extLst>
              <a:ext uri="{FF2B5EF4-FFF2-40B4-BE49-F238E27FC236}">
                <a16:creationId xmlns:a16="http://schemas.microsoft.com/office/drawing/2014/main" id="{05BBF5B6-31C4-4BDC-A474-09BF69D00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9068" y="2330164"/>
            <a:ext cx="10515600" cy="795080"/>
          </a:xfrm>
          <a:prstGeom prst="rect">
            <a:avLst/>
          </a:prstGeom>
        </p:spPr>
        <p:txBody>
          <a:bodyPr/>
          <a:lstStyle>
            <a:lvl1pPr>
              <a:defRPr sz="50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it-IT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Titolo_Verdana</a:t>
            </a:r>
            <a:r>
              <a:rPr lang="it-IT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Bold</a:t>
            </a:r>
            <a:r>
              <a:rPr lang="it-IT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50pt</a:t>
            </a:r>
          </a:p>
        </p:txBody>
      </p:sp>
      <p:sp>
        <p:nvSpPr>
          <p:cNvPr id="9" name="Sottotitolo relazione">
            <a:extLst>
              <a:ext uri="{FF2B5EF4-FFF2-40B4-BE49-F238E27FC236}">
                <a16:creationId xmlns:a16="http://schemas.microsoft.com/office/drawing/2014/main" id="{475FD1B4-BD36-4041-A9C9-DAF49CEB8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89068" y="3247578"/>
            <a:ext cx="10515600" cy="795079"/>
          </a:xfrm>
          <a:prstGeom prst="rect">
            <a:avLst/>
          </a:prstGeom>
        </p:spPr>
        <p:txBody>
          <a:bodyPr/>
          <a:lstStyle>
            <a:lvl1pPr marL="7938" indent="0">
              <a:buNone/>
              <a:tabLst/>
              <a:defRPr sz="4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Sottotitolo_Verdana</a:t>
            </a:r>
            <a:r>
              <a:rPr lang="it-IT" dirty="0"/>
              <a:t> 40pt</a:t>
            </a:r>
          </a:p>
        </p:txBody>
      </p:sp>
      <p:sp>
        <p:nvSpPr>
          <p:cNvPr id="11" name="Nome e cognome relatore">
            <a:extLst>
              <a:ext uri="{FF2B5EF4-FFF2-40B4-BE49-F238E27FC236}">
                <a16:creationId xmlns:a16="http://schemas.microsoft.com/office/drawing/2014/main" id="{FDB9FF1D-DAE9-4957-B599-C6B8B209B8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9619" y="4433563"/>
            <a:ext cx="6994887" cy="376437"/>
          </a:xfrm>
          <a:prstGeom prst="rect">
            <a:avLst/>
          </a:prstGeom>
        </p:spPr>
        <p:txBody>
          <a:bodyPr>
            <a:noAutofit/>
          </a:bodyPr>
          <a:lstStyle>
            <a:lvl1pPr marL="7938" indent="0">
              <a:buNone/>
              <a:tabLst/>
              <a:defRPr sz="25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Relatore_Verdana</a:t>
            </a:r>
            <a:r>
              <a:rPr lang="it-IT" dirty="0"/>
              <a:t> 25pt</a:t>
            </a:r>
          </a:p>
        </p:txBody>
      </p:sp>
      <p:sp>
        <p:nvSpPr>
          <p:cNvPr id="13" name="Ruolo relatore">
            <a:extLst>
              <a:ext uri="{FF2B5EF4-FFF2-40B4-BE49-F238E27FC236}">
                <a16:creationId xmlns:a16="http://schemas.microsoft.com/office/drawing/2014/main" id="{1BDCF4A3-46D7-4603-8D04-616F017FC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9617" y="4915518"/>
            <a:ext cx="7295512" cy="304988"/>
          </a:xfrm>
          <a:prstGeom prst="rect">
            <a:avLst/>
          </a:prstGeom>
        </p:spPr>
        <p:txBody>
          <a:bodyPr>
            <a:noAutofit/>
          </a:bodyPr>
          <a:lstStyle>
            <a:lvl1pPr marL="7938" indent="0">
              <a:buNone/>
              <a:tabLst/>
              <a:defRPr sz="1800" i="0" u="none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Ruolo </a:t>
            </a:r>
            <a:r>
              <a:rPr lang="it-IT" dirty="0" err="1"/>
              <a:t>relatore_Verdana</a:t>
            </a:r>
            <a:r>
              <a:rPr lang="it-IT" dirty="0"/>
              <a:t> 18pt</a:t>
            </a:r>
          </a:p>
        </p:txBody>
      </p:sp>
    </p:spTree>
    <p:extLst>
      <p:ext uri="{BB962C8B-B14F-4D97-AF65-F5344CB8AC3E}">
        <p14:creationId xmlns:p14="http://schemas.microsoft.com/office/powerpoint/2010/main" val="3276876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na_solo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fondo diapositiva" descr="Sfondo bianco con logo dell'Università degli Studi di Firenze e Salomone.">
            <a:extLst>
              <a:ext uri="{FF2B5EF4-FFF2-40B4-BE49-F238E27FC236}">
                <a16:creationId xmlns:a16="http://schemas.microsoft.com/office/drawing/2014/main" id="{AAF2BE35-58D0-BA41-B3DA-597B679ADF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Dati generali relazione">
            <a:extLst>
              <a:ext uri="{FF2B5EF4-FFF2-40B4-BE49-F238E27FC236}">
                <a16:creationId xmlns:a16="http://schemas.microsoft.com/office/drawing/2014/main" id="{37D8B424-C818-4FA2-9F43-383AC97ADC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777" y="6607580"/>
            <a:ext cx="10120335" cy="250425"/>
          </a:xfrm>
          <a:prstGeom prst="rect">
            <a:avLst/>
          </a:prstGeom>
        </p:spPr>
        <p:txBody>
          <a:bodyPr/>
          <a:lstStyle>
            <a:lvl1pPr>
              <a:buNone/>
              <a:defRPr sz="1100" b="0" i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it-IT" dirty="0"/>
              <a:t>Titolo Sottotitolo _ Relatore | Carica relatore (</a:t>
            </a:r>
            <a:r>
              <a:rPr lang="it-IT" dirty="0" err="1"/>
              <a:t>Verdana</a:t>
            </a:r>
            <a:r>
              <a:rPr lang="it-IT" dirty="0"/>
              <a:t> 11pt)</a:t>
            </a:r>
          </a:p>
        </p:txBody>
      </p:sp>
      <p:sp>
        <p:nvSpPr>
          <p:cNvPr id="7" name="Numero slide">
            <a:extLst>
              <a:ext uri="{FF2B5EF4-FFF2-40B4-BE49-F238E27FC236}">
                <a16:creationId xmlns:a16="http://schemas.microsoft.com/office/drawing/2014/main" id="{FA9D60FB-E0F4-46D2-B15D-4CAD34B259A1}"/>
              </a:ext>
            </a:extLst>
          </p:cNvPr>
          <p:cNvSpPr txBox="1"/>
          <p:nvPr userDrawn="1"/>
        </p:nvSpPr>
        <p:spPr>
          <a:xfrm>
            <a:off x="10399004" y="6598099"/>
            <a:ext cx="135876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fld id="{5ED436A0-D5FC-479D-9D1C-A714A6CDB9F8}" type="slidenum">
              <a:rPr lang="it-IT" sz="1100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‹N›</a:t>
            </a:fld>
            <a:endParaRPr lang="it-IT" sz="1100" b="1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sto diapositiva">
            <a:extLst>
              <a:ext uri="{FF2B5EF4-FFF2-40B4-BE49-F238E27FC236}">
                <a16:creationId xmlns:a16="http://schemas.microsoft.com/office/drawing/2014/main" id="{344E0AE5-EDEF-46FF-879E-9278F8E8B0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5868" y="1822125"/>
            <a:ext cx="10981895" cy="4470050"/>
          </a:xfrm>
          <a:prstGeom prst="rect">
            <a:avLst/>
          </a:prstGeom>
        </p:spPr>
        <p:txBody>
          <a:bodyPr/>
          <a:lstStyle>
            <a:lvl1pPr marL="7938" indent="0">
              <a:lnSpc>
                <a:spcPct val="150000"/>
              </a:lnSpc>
              <a:buFont typeface="Courier New" panose="02070309020205020404" pitchFamily="49" charset="0"/>
              <a:buNone/>
              <a:tabLst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Titolo diapositiva">
            <a:extLst>
              <a:ext uri="{FF2B5EF4-FFF2-40B4-BE49-F238E27FC236}">
                <a16:creationId xmlns:a16="http://schemas.microsoft.com/office/drawing/2014/main" id="{B1A728D7-4BF7-BE41-A0AF-2F9CA93A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869" y="958052"/>
            <a:ext cx="8794143" cy="854592"/>
          </a:xfrm>
          <a:prstGeom prst="rect">
            <a:avLst/>
          </a:prstGeom>
        </p:spPr>
        <p:txBody>
          <a:bodyPr/>
          <a:lstStyle>
            <a:lvl1pPr>
              <a:defRPr sz="22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235246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ocopertin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fondo diapositiva" descr="Università degli Studi di Firenze. &#10;&#10;Sfondo blu istituzionale con Salomone e logo di ateneo.">
            <a:extLst>
              <a:ext uri="{FF2B5EF4-FFF2-40B4-BE49-F238E27FC236}">
                <a16:creationId xmlns:a16="http://schemas.microsoft.com/office/drawing/2014/main" id="{C21DE938-9907-D441-A2A2-6628A3D98A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itolo conclusione">
            <a:extLst>
              <a:ext uri="{FF2B5EF4-FFF2-40B4-BE49-F238E27FC236}">
                <a16:creationId xmlns:a16="http://schemas.microsoft.com/office/drawing/2014/main" id="{C061A7DF-BBC8-4D30-A08B-77CC494834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1464" y="3155637"/>
            <a:ext cx="11015133" cy="477707"/>
          </a:xfrm>
          <a:prstGeom prst="rect">
            <a:avLst/>
          </a:prstGeom>
        </p:spPr>
        <p:txBody>
          <a:bodyPr/>
          <a:lstStyle>
            <a:lvl1pPr marL="7938" indent="0">
              <a:buNone/>
              <a:tabLst/>
              <a:defRPr sz="3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Titolo_Verdana</a:t>
            </a:r>
            <a:r>
              <a:rPr lang="it-IT" dirty="0"/>
              <a:t> </a:t>
            </a:r>
            <a:r>
              <a:rPr lang="it-IT" dirty="0" err="1"/>
              <a:t>Bold</a:t>
            </a:r>
            <a:r>
              <a:rPr lang="it-IT" dirty="0"/>
              <a:t> 30pt</a:t>
            </a:r>
          </a:p>
        </p:txBody>
      </p:sp>
      <p:sp>
        <p:nvSpPr>
          <p:cNvPr id="19" name="Sottotitolo conclusione">
            <a:extLst>
              <a:ext uri="{FF2B5EF4-FFF2-40B4-BE49-F238E27FC236}">
                <a16:creationId xmlns:a16="http://schemas.microsoft.com/office/drawing/2014/main" id="{4F0ABCB7-31A6-496B-AD17-F77B84CB9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1521" y="3734081"/>
            <a:ext cx="11015075" cy="486349"/>
          </a:xfrm>
          <a:prstGeom prst="rect">
            <a:avLst/>
          </a:prstGeom>
        </p:spPr>
        <p:txBody>
          <a:bodyPr/>
          <a:lstStyle>
            <a:lvl1pPr marL="7938" indent="0">
              <a:buNone/>
              <a:tabLst/>
              <a:defRPr sz="25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Sottotitolo_Verdana</a:t>
            </a:r>
            <a:r>
              <a:rPr lang="it-IT" dirty="0"/>
              <a:t> 25pt</a:t>
            </a:r>
          </a:p>
        </p:txBody>
      </p:sp>
      <p:sp>
        <p:nvSpPr>
          <p:cNvPr id="22" name="Nome e cognome relatore">
            <a:extLst>
              <a:ext uri="{FF2B5EF4-FFF2-40B4-BE49-F238E27FC236}">
                <a16:creationId xmlns:a16="http://schemas.microsoft.com/office/drawing/2014/main" id="{044A7CD4-EF29-4642-ACF5-AC1EB31784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1464" y="4624373"/>
            <a:ext cx="8333317" cy="318653"/>
          </a:xfrm>
          <a:prstGeom prst="rect">
            <a:avLst/>
          </a:prstGeom>
        </p:spPr>
        <p:txBody>
          <a:bodyPr/>
          <a:lstStyle>
            <a:lvl1pPr marL="7938" indent="0">
              <a:buNone/>
              <a:tabLst/>
              <a:defRPr sz="2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Relatore_Arial</a:t>
            </a:r>
            <a:r>
              <a:rPr lang="it-IT" dirty="0"/>
              <a:t> 20pt</a:t>
            </a:r>
          </a:p>
        </p:txBody>
      </p:sp>
      <p:sp>
        <p:nvSpPr>
          <p:cNvPr id="24" name="Ruolo relatore">
            <a:extLst>
              <a:ext uri="{FF2B5EF4-FFF2-40B4-BE49-F238E27FC236}">
                <a16:creationId xmlns:a16="http://schemas.microsoft.com/office/drawing/2014/main" id="{D07DE807-7EFE-48B4-81E7-589431F10E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524" y="5026153"/>
            <a:ext cx="8333317" cy="280089"/>
          </a:xfrm>
          <a:prstGeom prst="rect">
            <a:avLst/>
          </a:prstGeom>
        </p:spPr>
        <p:txBody>
          <a:bodyPr>
            <a:noAutofit/>
          </a:bodyPr>
          <a:lstStyle>
            <a:lvl1pPr marL="7938" indent="0">
              <a:buNone/>
              <a:tabLst/>
              <a:defRPr sz="180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Ruolo </a:t>
            </a:r>
            <a:r>
              <a:rPr lang="it-IT" dirty="0" err="1"/>
              <a:t>relatore_Arial</a:t>
            </a:r>
            <a:r>
              <a:rPr lang="it-IT" dirty="0"/>
              <a:t> 18pt</a:t>
            </a:r>
          </a:p>
        </p:txBody>
      </p:sp>
      <p:sp>
        <p:nvSpPr>
          <p:cNvPr id="26" name="Contatto relatore">
            <a:extLst>
              <a:ext uri="{FF2B5EF4-FFF2-40B4-BE49-F238E27FC236}">
                <a16:creationId xmlns:a16="http://schemas.microsoft.com/office/drawing/2014/main" id="{9517D058-2E7E-44D5-A849-24ED5F4E9D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1524" y="5389365"/>
            <a:ext cx="8333317" cy="323164"/>
          </a:xfrm>
          <a:prstGeom prst="rect">
            <a:avLst/>
          </a:prstGeom>
        </p:spPr>
        <p:txBody>
          <a:bodyPr>
            <a:noAutofit/>
          </a:bodyPr>
          <a:lstStyle>
            <a:lvl1pPr marL="7938" indent="0">
              <a:buNone/>
              <a:tabLst/>
              <a:defRPr sz="180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email_Arial</a:t>
            </a:r>
            <a:r>
              <a:rPr lang="it-IT" dirty="0"/>
              <a:t> 18pt</a:t>
            </a:r>
          </a:p>
        </p:txBody>
      </p:sp>
      <p:sp>
        <p:nvSpPr>
          <p:cNvPr id="28" name="Dati generali intervento">
            <a:extLst>
              <a:ext uri="{FF2B5EF4-FFF2-40B4-BE49-F238E27FC236}">
                <a16:creationId xmlns:a16="http://schemas.microsoft.com/office/drawing/2014/main" id="{B65FE21C-997A-4B8A-9D0E-D086916D47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6609232"/>
            <a:ext cx="10098805" cy="248773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004C7E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Titolo Sottotitolo _ Relatore | Carica relatore (</a:t>
            </a:r>
            <a:r>
              <a:rPr lang="it-IT" dirty="0" err="1"/>
              <a:t>Verdana</a:t>
            </a:r>
            <a:r>
              <a:rPr lang="it-IT" dirty="0"/>
              <a:t> 10pt)</a:t>
            </a:r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D0964DA0-8367-4940-9492-6502D51FDF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464" y="1609248"/>
            <a:ext cx="11015075" cy="9412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5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Conclusione_Verana</a:t>
            </a:r>
            <a:r>
              <a:rPr lang="it-IT" dirty="0"/>
              <a:t> </a:t>
            </a:r>
            <a:r>
              <a:rPr lang="it-IT" dirty="0" err="1"/>
              <a:t>Bold</a:t>
            </a:r>
            <a:r>
              <a:rPr lang="it-IT" dirty="0"/>
              <a:t> 45pt</a:t>
            </a:r>
          </a:p>
        </p:txBody>
      </p:sp>
    </p:spTree>
    <p:extLst>
      <p:ext uri="{BB962C8B-B14F-4D97-AF65-F5344CB8AC3E}">
        <p14:creationId xmlns:p14="http://schemas.microsoft.com/office/powerpoint/2010/main" val="262959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76F4F37-254C-17AC-A001-7374C63E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1CC9495-044A-C2EF-520B-5A3901F8D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5E7E3A-C40F-A88C-A060-CE74A18BE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FE114-7824-4056-9753-965FC53FA2C1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09D3A2-56AC-3B1D-DFD3-C7F5B9676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2279AF-3BE2-E513-6B7B-F9A9469B5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4383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55688C8B-20B5-944F-B9EB-AAB0D3AE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068" y="2330164"/>
            <a:ext cx="9794549" cy="795080"/>
          </a:xfrm>
        </p:spPr>
        <p:txBody>
          <a:bodyPr>
            <a:normAutofit fontScale="90000"/>
          </a:bodyPr>
          <a:lstStyle/>
          <a:p>
            <a:r>
              <a:rPr lang="it-IT" dirty="0" err="1"/>
              <a:t>Perceiver</a:t>
            </a:r>
            <a:r>
              <a:rPr lang="it-IT" dirty="0"/>
              <a:t> &amp; </a:t>
            </a:r>
            <a:r>
              <a:rPr lang="it-IT" dirty="0" err="1"/>
              <a:t>Perceiver</a:t>
            </a:r>
            <a:r>
              <a:rPr lang="it-IT" dirty="0"/>
              <a:t> IO</a:t>
            </a:r>
            <a:br>
              <a:rPr lang="it-IT" dirty="0"/>
            </a:br>
            <a:r>
              <a:rPr lang="it-IT" sz="3100" dirty="0" err="1"/>
              <a:t>Implementation</a:t>
            </a:r>
            <a:r>
              <a:rPr lang="it-IT" sz="3100" dirty="0"/>
              <a:t> and </a:t>
            </a:r>
            <a:r>
              <a:rPr lang="it-IT" sz="3100" dirty="0" err="1"/>
              <a:t>Experimental</a:t>
            </a:r>
            <a:r>
              <a:rPr lang="it-IT" sz="3100" dirty="0"/>
              <a:t> Analysis</a:t>
            </a:r>
            <a:endParaRPr lang="it-IT" sz="3100" b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454B2FB-8D54-4B76-BCB2-40DE45A935FC}"/>
              </a:ext>
            </a:extLst>
          </p:cNvPr>
          <p:cNvSpPr txBox="1"/>
          <p:nvPr/>
        </p:nvSpPr>
        <p:spPr>
          <a:xfrm>
            <a:off x="1587500" y="4572000"/>
            <a:ext cx="97917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000" b="1">
                <a:solidFill>
                  <a:srgbClr val="FFFFFF"/>
                </a:solidFill>
              </a:rPr>
              <a:t>Francesco Gigli  ·  Corso Vignoli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CD2ACF5-C66C-49DE-8F75-36CA84C3AB17}"/>
              </a:ext>
            </a:extLst>
          </p:cNvPr>
          <p:cNvSpPr txBox="1"/>
          <p:nvPr/>
        </p:nvSpPr>
        <p:spPr>
          <a:xfrm>
            <a:off x="1587500" y="5003800"/>
            <a:ext cx="97917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500">
                <a:solidFill>
                  <a:srgbClr val="FFFFFF"/>
                </a:solidFill>
              </a:rPr>
              <a:t>Università degli Studi di Firenze    |    Course B031278 — Deep Learning</a:t>
            </a:r>
          </a:p>
        </p:txBody>
      </p:sp>
    </p:spTree>
    <p:extLst>
      <p:ext uri="{BB962C8B-B14F-4D97-AF65-F5344CB8AC3E}">
        <p14:creationId xmlns:p14="http://schemas.microsoft.com/office/powerpoint/2010/main" val="325671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9DC4E6E-79B6-8C5D-AEB5-E5F6BF79FA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115568"/>
            <a:ext cx="566928" cy="566928"/>
          </a:xfrm>
          <a:prstGeom prst="ellipse">
            <a:avLst/>
          </a:prstGeom>
          <a:gradFill rotWithShape="1">
            <a:gsLst>
              <a:gs pos="0">
                <a:srgbClr val="EAF3FB"/>
              </a:gs>
              <a:gs pos="22000">
                <a:srgbClr val="6FA8D6"/>
              </a:gs>
              <a:gs pos="55000">
                <a:srgbClr val="1C5E97"/>
              </a:gs>
              <a:gs pos="100000">
                <a:srgbClr val="08294A"/>
              </a:gs>
            </a:gsLst>
            <a:path path="circle">
              <a:fillToRect l="22000" t="18000" r="78000" b="82000"/>
            </a:path>
          </a:gradFill>
          <a:ln w="6350">
            <a:solidFill>
              <a:srgbClr val="0A3A63"/>
            </a:solidFill>
          </a:ln>
          <a:effectLst>
            <a:outerShdw blurRad="40000" dist="2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115568"/>
            <a:ext cx="96926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700" dirty="0">
                <a:solidFill>
                  <a:srgbClr val="005293"/>
                </a:solidFill>
              </a:rPr>
              <a:t>Introduction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48256"/>
            <a:ext cx="566928" cy="566928"/>
          </a:xfrm>
          <a:prstGeom prst="ellipse">
            <a:avLst/>
          </a:prstGeom>
          <a:gradFill rotWithShape="1">
            <a:gsLst>
              <a:gs pos="0">
                <a:srgbClr val="EAF3FB"/>
              </a:gs>
              <a:gs pos="22000">
                <a:srgbClr val="6FA8D6"/>
              </a:gs>
              <a:gs pos="55000">
                <a:srgbClr val="1C5E97"/>
              </a:gs>
              <a:gs pos="100000">
                <a:srgbClr val="08294A"/>
              </a:gs>
            </a:gsLst>
            <a:path path="circle">
              <a:fillToRect l="22000" t="18000" r="78000" b="82000"/>
            </a:path>
          </a:gradFill>
          <a:ln w="6350">
            <a:solidFill>
              <a:srgbClr val="0A3A63"/>
            </a:solidFill>
          </a:ln>
          <a:effectLst>
            <a:outerShdw blurRad="40000" dist="2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48256"/>
            <a:ext cx="96926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700" dirty="0">
                <a:solidFill>
                  <a:srgbClr val="005293"/>
                </a:solidFill>
              </a:rPr>
              <a:t>Perceiver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80944"/>
            <a:ext cx="566928" cy="566928"/>
          </a:xfrm>
          <a:prstGeom prst="ellipse">
            <a:avLst/>
          </a:prstGeom>
          <a:gradFill rotWithShape="1">
            <a:gsLst>
              <a:gs pos="0">
                <a:srgbClr val="EAF3FB"/>
              </a:gs>
              <a:gs pos="22000">
                <a:srgbClr val="6FA8D6"/>
              </a:gs>
              <a:gs pos="55000">
                <a:srgbClr val="1C5E97"/>
              </a:gs>
              <a:gs pos="100000">
                <a:srgbClr val="08294A"/>
              </a:gs>
            </a:gsLst>
            <a:path path="circle">
              <a:fillToRect l="22000" t="18000" r="78000" b="82000"/>
            </a:path>
          </a:gradFill>
          <a:ln w="6350">
            <a:solidFill>
              <a:srgbClr val="0A3A63"/>
            </a:solidFill>
          </a:ln>
          <a:effectLst>
            <a:outerShdw blurRad="40000" dist="2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980944"/>
            <a:ext cx="96926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700" dirty="0">
                <a:solidFill>
                  <a:srgbClr val="005293"/>
                </a:solidFill>
              </a:rPr>
              <a:t>Experiments: Perceiver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913632"/>
            <a:ext cx="566928" cy="566928"/>
          </a:xfrm>
          <a:prstGeom prst="ellipse">
            <a:avLst/>
          </a:prstGeom>
          <a:gradFill rotWithShape="1">
            <a:gsLst>
              <a:gs pos="0">
                <a:srgbClr val="EAF3FB"/>
              </a:gs>
              <a:gs pos="22000">
                <a:srgbClr val="6FA8D6"/>
              </a:gs>
              <a:gs pos="55000">
                <a:srgbClr val="1C5E97"/>
              </a:gs>
              <a:gs pos="100000">
                <a:srgbClr val="08294A"/>
              </a:gs>
            </a:gsLst>
            <a:path path="circle">
              <a:fillToRect l="22000" t="18000" r="78000" b="82000"/>
            </a:path>
          </a:gradFill>
          <a:ln w="6350">
            <a:solidFill>
              <a:srgbClr val="0A3A63"/>
            </a:solidFill>
          </a:ln>
          <a:effectLst>
            <a:outerShdw blurRad="40000" dist="2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913632"/>
            <a:ext cx="96926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700" dirty="0">
                <a:solidFill>
                  <a:srgbClr val="005293"/>
                </a:solidFill>
              </a:rPr>
              <a:t>Perceiver IO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846320"/>
            <a:ext cx="566928" cy="566928"/>
          </a:xfrm>
          <a:prstGeom prst="ellipse">
            <a:avLst/>
          </a:prstGeom>
          <a:gradFill rotWithShape="1">
            <a:gsLst>
              <a:gs pos="0">
                <a:srgbClr val="EAF3FB"/>
              </a:gs>
              <a:gs pos="22000">
                <a:srgbClr val="6FA8D6"/>
              </a:gs>
              <a:gs pos="55000">
                <a:srgbClr val="1C5E97"/>
              </a:gs>
              <a:gs pos="100000">
                <a:srgbClr val="08294A"/>
              </a:gs>
            </a:gsLst>
            <a:path path="circle">
              <a:fillToRect l="22000" t="18000" r="78000" b="82000"/>
            </a:path>
          </a:gradFill>
          <a:ln w="6350">
            <a:solidFill>
              <a:srgbClr val="0A3A63"/>
            </a:solidFill>
          </a:ln>
          <a:effectLst>
            <a:outerShdw blurRad="40000" dist="2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846320"/>
            <a:ext cx="96926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700">
                <a:solidFill>
                  <a:srgbClr val="005293"/>
                </a:solidFill>
              </a:rPr>
              <a:t>Experiments: Perceiver IO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779008"/>
            <a:ext cx="566928" cy="566928"/>
          </a:xfrm>
          <a:prstGeom prst="ellipse">
            <a:avLst/>
          </a:prstGeom>
          <a:gradFill rotWithShape="1">
            <a:gsLst>
              <a:gs pos="0">
                <a:srgbClr val="EAF3FB"/>
              </a:gs>
              <a:gs pos="22000">
                <a:srgbClr val="6FA8D6"/>
              </a:gs>
              <a:gs pos="55000">
                <a:srgbClr val="1C5E97"/>
              </a:gs>
              <a:gs pos="100000">
                <a:srgbClr val="08294A"/>
              </a:gs>
            </a:gsLst>
            <a:path path="circle">
              <a:fillToRect l="22000" t="18000" r="78000" b="82000"/>
            </a:path>
          </a:gradFill>
          <a:ln w="6350">
            <a:solidFill>
              <a:srgbClr val="0A3A63"/>
            </a:solidFill>
          </a:ln>
          <a:effectLst>
            <a:outerShdw blurRad="40000" dist="2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779008"/>
            <a:ext cx="96926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700" dirty="0">
                <a:solidFill>
                  <a:srgbClr val="005293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221413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335824F-9075-AE29-3CF6-10A4C6C91F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A79B9830-61D5-1253-FF73-4F280D46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The Problem: Modality-Specific Architectures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99989DC-1BCA-404D-8A2C-A424F24F9AC8}"/>
              </a:ext>
            </a:extLst>
          </p:cNvPr>
          <p:cNvSpPr txBox="1"/>
          <p:nvPr/>
        </p:nvSpPr>
        <p:spPr>
          <a:xfrm>
            <a:off x="774700" y="19050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One modality, one architecture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3496C9D-A997-440D-A477-CCD3631D2FFE}"/>
              </a:ext>
            </a:extLst>
          </p:cNvPr>
          <p:cNvSpPr/>
          <p:nvPr/>
        </p:nvSpPr>
        <p:spPr>
          <a:xfrm>
            <a:off x="774700" y="2286000"/>
            <a:ext cx="5334000" cy="20066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47BE781-BDE9-4F6D-BF99-15505C0BAC56}"/>
              </a:ext>
            </a:extLst>
          </p:cNvPr>
          <p:cNvSpPr/>
          <p:nvPr/>
        </p:nvSpPr>
        <p:spPr>
          <a:xfrm>
            <a:off x="774700" y="2286000"/>
            <a:ext cx="76200" cy="20066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77B1E6E-9151-41C9-8860-C0222476830B}"/>
              </a:ext>
            </a:extLst>
          </p:cNvPr>
          <p:cNvSpPr txBox="1"/>
          <p:nvPr/>
        </p:nvSpPr>
        <p:spPr>
          <a:xfrm>
            <a:off x="1016000" y="24638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b="1">
                <a:solidFill>
                  <a:srgbClr val="0E2841"/>
                </a:solidFill>
              </a:rPr>
              <a:t>Images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51429FB-981B-4CCE-9EBA-712549F3A7C5}"/>
              </a:ext>
            </a:extLst>
          </p:cNvPr>
          <p:cNvSpPr txBox="1"/>
          <p:nvPr/>
        </p:nvSpPr>
        <p:spPr>
          <a:xfrm>
            <a:off x="2984500" y="2463800"/>
            <a:ext cx="2984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>
                <a:solidFill>
                  <a:srgbClr val="1A1A1A"/>
                </a:solidFill>
              </a:rPr>
              <a:t>→  CNNs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D0C3AD1-30A3-46A4-9ABC-317BD81D00EC}"/>
              </a:ext>
            </a:extLst>
          </p:cNvPr>
          <p:cNvSpPr txBox="1"/>
          <p:nvPr/>
        </p:nvSpPr>
        <p:spPr>
          <a:xfrm>
            <a:off x="1016000" y="29083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b="1">
                <a:solidFill>
                  <a:srgbClr val="0E2841"/>
                </a:solidFill>
              </a:rPr>
              <a:t>Text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80C3E53-A290-4590-AB07-B9A6F66C1468}"/>
              </a:ext>
            </a:extLst>
          </p:cNvPr>
          <p:cNvSpPr txBox="1"/>
          <p:nvPr/>
        </p:nvSpPr>
        <p:spPr>
          <a:xfrm>
            <a:off x="2984500" y="2908300"/>
            <a:ext cx="2984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>
                <a:solidFill>
                  <a:srgbClr val="1A1A1A"/>
                </a:solidFill>
              </a:rPr>
              <a:t>→  Transformers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D7263DC-37ED-4B49-950F-0306756FC5EC}"/>
              </a:ext>
            </a:extLst>
          </p:cNvPr>
          <p:cNvSpPr txBox="1"/>
          <p:nvPr/>
        </p:nvSpPr>
        <p:spPr>
          <a:xfrm>
            <a:off x="1016000" y="33528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b="1">
                <a:solidFill>
                  <a:srgbClr val="0E2841"/>
                </a:solidFill>
              </a:rPr>
              <a:t>Audio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09A5295-4DC2-481B-AEA7-BCA8CD30DFB4}"/>
              </a:ext>
            </a:extLst>
          </p:cNvPr>
          <p:cNvSpPr txBox="1"/>
          <p:nvPr/>
        </p:nvSpPr>
        <p:spPr>
          <a:xfrm>
            <a:off x="2984500" y="3352800"/>
            <a:ext cx="2984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>
                <a:solidFill>
                  <a:srgbClr val="1A1A1A"/>
                </a:solidFill>
              </a:rPr>
              <a:t>→  RNNs / 1D-CNN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79DC7B8-B681-47AE-BD4D-4374C6D1E3B3}"/>
              </a:ext>
            </a:extLst>
          </p:cNvPr>
          <p:cNvSpPr txBox="1"/>
          <p:nvPr/>
        </p:nvSpPr>
        <p:spPr>
          <a:xfrm>
            <a:off x="1016000" y="37973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b="1">
                <a:solidFill>
                  <a:srgbClr val="0E2841"/>
                </a:solidFill>
              </a:rPr>
              <a:t>Point Clouds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48B9E9E-C403-49DE-956D-21C670CB8EE5}"/>
              </a:ext>
            </a:extLst>
          </p:cNvPr>
          <p:cNvSpPr txBox="1"/>
          <p:nvPr/>
        </p:nvSpPr>
        <p:spPr>
          <a:xfrm>
            <a:off x="2984500" y="3797300"/>
            <a:ext cx="29845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dirty="0">
                <a:solidFill>
                  <a:srgbClr val="1A1A1A"/>
                </a:solidFill>
              </a:rPr>
              <a:t>→  </a:t>
            </a:r>
            <a:r>
              <a:rPr lang="it-IT" sz="1500" dirty="0" err="1">
                <a:solidFill>
                  <a:srgbClr val="1A1A1A"/>
                </a:solidFill>
              </a:rPr>
              <a:t>PointNet</a:t>
            </a:r>
            <a:endParaRPr lang="it-IT" sz="1500" dirty="0">
              <a:solidFill>
                <a:srgbClr val="1A1A1A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175B906-1279-4504-8FFF-FB4757B2C068}"/>
              </a:ext>
            </a:extLst>
          </p:cNvPr>
          <p:cNvSpPr txBox="1"/>
          <p:nvPr/>
        </p:nvSpPr>
        <p:spPr>
          <a:xfrm>
            <a:off x="774700" y="439420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 i="1" dirty="0">
                <a:solidFill>
                  <a:srgbClr val="555555"/>
                </a:solidFill>
              </a:rPr>
              <a:t>Each data type is usually paired with a dedicated model and domain-specific assumptions about structure.</a:t>
            </a:r>
            <a:endParaRPr lang="it-IT" sz="1300" i="1" dirty="0">
              <a:solidFill>
                <a:srgbClr val="555555"/>
              </a:solidFill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5251AE95-1DA5-4502-8202-EC1C34487B74}"/>
              </a:ext>
            </a:extLst>
          </p:cNvPr>
          <p:cNvSpPr txBox="1"/>
          <p:nvPr/>
        </p:nvSpPr>
        <p:spPr>
          <a:xfrm>
            <a:off x="6426200" y="19050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The scaling bottleneck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1310673-6690-4268-8F77-A92AB08AA31C}"/>
              </a:ext>
            </a:extLst>
          </p:cNvPr>
          <p:cNvSpPr txBox="1"/>
          <p:nvPr/>
        </p:nvSpPr>
        <p:spPr>
          <a:xfrm>
            <a:off x="6426199" y="2260600"/>
            <a:ext cx="5407991" cy="30777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 dirty="0">
                <a:solidFill>
                  <a:srgbClr val="1A1A1A"/>
                </a:solidFill>
              </a:rPr>
              <a:t>Self-attention cost O(</a:t>
            </a:r>
            <a:r>
              <a:rPr lang="en-US" sz="1400" dirty="0" err="1">
                <a:solidFill>
                  <a:srgbClr val="1A1A1A"/>
                </a:solidFill>
              </a:rPr>
              <a:t>M²</a:t>
            </a:r>
            <a:r>
              <a:rPr lang="en-US" sz="1400" dirty="0">
                <a:solidFill>
                  <a:srgbClr val="1A1A1A"/>
                </a:solidFill>
              </a:rPr>
              <a:t> · d) grows quadratically with input length M.</a:t>
            </a:r>
            <a:endParaRPr lang="it-IT" sz="1400" dirty="0">
              <a:solidFill>
                <a:srgbClr val="1A1A1A"/>
              </a:solidFill>
            </a:endParaRPr>
          </a:p>
        </p:txBody>
      </p:sp>
      <p:graphicFrame>
        <p:nvGraphicFramePr>
          <p:cNvPr id="20" name="Tabella 19">
            <a:extLst>
              <a:ext uri="{FF2B5EF4-FFF2-40B4-BE49-F238E27FC236}">
                <a16:creationId xmlns:a16="http://schemas.microsoft.com/office/drawing/2014/main" id="{4F55156B-D676-419B-9AE8-C8D0CAB89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610978"/>
              </p:ext>
            </p:extLst>
          </p:nvPr>
        </p:nvGraphicFramePr>
        <p:xfrm>
          <a:off x="6426200" y="2743200"/>
          <a:ext cx="53340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3158273256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26987858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it-IT" sz="1400" b="1" dirty="0">
                          <a:solidFill>
                            <a:srgbClr val="FFFFFF"/>
                          </a:solidFill>
                        </a:rPr>
                        <a:t>Input </a:t>
                      </a:r>
                      <a:r>
                        <a:rPr lang="it-IT" sz="1400" b="1" dirty="0" err="1">
                          <a:solidFill>
                            <a:srgbClr val="FFFFFF"/>
                          </a:solidFill>
                        </a:rPr>
                        <a:t>representation</a:t>
                      </a:r>
                      <a:endParaRPr lang="it-IT"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17963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16×16 image patches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300" b="1"/>
                        <a:t>256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368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Raw 224×224 pixels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300" b="1" dirty="0"/>
                        <a:t>50,176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835590"/>
                  </a:ext>
                </a:extLst>
              </a:tr>
            </a:tbl>
          </a:graphicData>
        </a:graphic>
      </p:graphicFrame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65B67BC-D358-4F83-A36E-E5EBCD28604D}"/>
              </a:ext>
            </a:extLst>
          </p:cNvPr>
          <p:cNvSpPr txBox="1"/>
          <p:nvPr/>
        </p:nvSpPr>
        <p:spPr>
          <a:xfrm>
            <a:off x="6426200" y="4099124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sz="1300" dirty="0">
                <a:solidFill>
                  <a:srgbClr val="555555"/>
                </a:solidFill>
              </a:rPr>
              <a:t>Raw pixels make standard attention </a:t>
            </a:r>
            <a:r>
              <a:rPr sz="1300" dirty="0">
                <a:solidFill>
                  <a:srgbClr val="E67E22"/>
                </a:solidFill>
              </a:rPr>
              <a:t>impractical</a:t>
            </a:r>
            <a:r>
              <a:rPr sz="1300" dirty="0">
                <a:solidFill>
                  <a:srgbClr val="555555"/>
                </a:solidFill>
              </a:rPr>
              <a:t>.</a:t>
            </a:r>
            <a:endParaRPr lang="it-IT" sz="1300" i="1" dirty="0">
              <a:solidFill>
                <a:srgbClr val="555555"/>
              </a:solidFill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FCA2D08E-6F3F-42A3-AB02-F36328E00D27}"/>
              </a:ext>
            </a:extLst>
          </p:cNvPr>
          <p:cNvSpPr/>
          <p:nvPr/>
        </p:nvSpPr>
        <p:spPr>
          <a:xfrm>
            <a:off x="774700" y="5334000"/>
            <a:ext cx="10985500" cy="584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00477AF-EB6F-4E8B-9A72-0CCBCB474D0C}"/>
              </a:ext>
            </a:extLst>
          </p:cNvPr>
          <p:cNvSpPr txBox="1"/>
          <p:nvPr/>
        </p:nvSpPr>
        <p:spPr>
          <a:xfrm>
            <a:off x="952500" y="5464517"/>
            <a:ext cx="10680700" cy="3231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Can one architecture handle arbitrary inputs without quadratic cost?</a:t>
            </a:r>
            <a:endParaRPr lang="it-IT" sz="15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343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C24CB66-B95F-9F0B-71A1-0172923D8B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537682B3-962E-1637-3B4E-5FE12BE1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Perceiver</a:t>
            </a:r>
            <a:r>
              <a:rPr lang="it-IT" dirty="0"/>
              <a:t> Solution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FDEC9DD-4989-41D8-8824-9325752AEB78}"/>
              </a:ext>
            </a:extLst>
          </p:cNvPr>
          <p:cNvSpPr/>
          <p:nvPr/>
        </p:nvSpPr>
        <p:spPr>
          <a:xfrm>
            <a:off x="774700" y="1854200"/>
            <a:ext cx="10985500" cy="533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AB8ABBA-40B6-4D36-B018-87DDA51CCC25}"/>
              </a:ext>
            </a:extLst>
          </p:cNvPr>
          <p:cNvSpPr txBox="1"/>
          <p:nvPr/>
        </p:nvSpPr>
        <p:spPr>
          <a:xfrm>
            <a:off x="927100" y="1959317"/>
            <a:ext cx="10680700" cy="3231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Learned </a:t>
            </a:r>
            <a:r>
              <a:rPr lang="en-US" sz="1500" b="1" dirty="0" err="1">
                <a:solidFill>
                  <a:srgbClr val="FFFFFF"/>
                </a:solidFill>
              </a:rPr>
              <a:t>latents</a:t>
            </a:r>
            <a:r>
              <a:rPr lang="en-US" sz="1500" b="1" dirty="0">
                <a:solidFill>
                  <a:srgbClr val="FFFFFF"/>
                </a:solidFill>
              </a:rPr>
              <a:t> read the input once; expensive processing stays in latent space.</a:t>
            </a:r>
            <a:endParaRPr lang="it-IT" sz="1500" b="1" dirty="0">
              <a:solidFill>
                <a:srgbClr val="FFFFFF"/>
              </a:solidFill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F3E75AA1-E96D-463C-A38D-B529F3A8DCAF}"/>
              </a:ext>
            </a:extLst>
          </p:cNvPr>
          <p:cNvSpPr/>
          <p:nvPr/>
        </p:nvSpPr>
        <p:spPr>
          <a:xfrm>
            <a:off x="774700" y="2603500"/>
            <a:ext cx="3492500" cy="1524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E1F0C5C9-5E96-4BE6-ACE7-5CD167D6D4DE}"/>
              </a:ext>
            </a:extLst>
          </p:cNvPr>
          <p:cNvSpPr/>
          <p:nvPr/>
        </p:nvSpPr>
        <p:spPr>
          <a:xfrm>
            <a:off x="774700" y="2603500"/>
            <a:ext cx="34925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D34AC84-94CC-4F63-A2AA-04D46875DCF6}"/>
              </a:ext>
            </a:extLst>
          </p:cNvPr>
          <p:cNvSpPr txBox="1"/>
          <p:nvPr/>
        </p:nvSpPr>
        <p:spPr>
          <a:xfrm>
            <a:off x="952500" y="2806700"/>
            <a:ext cx="31369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700" b="1">
                <a:solidFill>
                  <a:srgbClr val="156082"/>
                </a:solidFill>
              </a:rPr>
              <a:t>1. Read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B4428E3-DE87-4E36-ADD2-26D82213CAF9}"/>
              </a:ext>
            </a:extLst>
          </p:cNvPr>
          <p:cNvSpPr txBox="1"/>
          <p:nvPr/>
        </p:nvSpPr>
        <p:spPr>
          <a:xfrm>
            <a:off x="952500" y="3187700"/>
            <a:ext cx="31369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400" b="1">
                <a:solidFill>
                  <a:srgbClr val="0E2841"/>
                </a:solidFill>
              </a:rPr>
              <a:t>Cross-attention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54AFB91-9A0F-4C75-BFF8-AE8934BE31BB}"/>
              </a:ext>
            </a:extLst>
          </p:cNvPr>
          <p:cNvSpPr txBox="1"/>
          <p:nvPr/>
        </p:nvSpPr>
        <p:spPr>
          <a:xfrm>
            <a:off x="952500" y="3492500"/>
            <a:ext cx="31369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pt-BR" sz="1300" dirty="0">
                <a:solidFill>
                  <a:srgbClr val="1A1A1A"/>
                </a:solidFill>
              </a:rPr>
              <a:t>M inputs → N ≪ M latents</a:t>
            </a:r>
            <a:endParaRPr lang="it-IT" sz="1300" dirty="0">
              <a:solidFill>
                <a:srgbClr val="1A1A1A"/>
              </a:solidFill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A84B55CF-1022-4ECE-9545-9D1A14D59CB3}"/>
              </a:ext>
            </a:extLst>
          </p:cNvPr>
          <p:cNvSpPr/>
          <p:nvPr/>
        </p:nvSpPr>
        <p:spPr>
          <a:xfrm>
            <a:off x="4521200" y="2603500"/>
            <a:ext cx="3492500" cy="1524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CE32EA8-8D80-4373-8F1E-8851E0F681D6}"/>
              </a:ext>
            </a:extLst>
          </p:cNvPr>
          <p:cNvSpPr/>
          <p:nvPr/>
        </p:nvSpPr>
        <p:spPr>
          <a:xfrm>
            <a:off x="4521200" y="2603500"/>
            <a:ext cx="34925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7B991EF-9E41-413F-986E-25DF59CE7389}"/>
              </a:ext>
            </a:extLst>
          </p:cNvPr>
          <p:cNvSpPr txBox="1"/>
          <p:nvPr/>
        </p:nvSpPr>
        <p:spPr>
          <a:xfrm>
            <a:off x="4699000" y="2806700"/>
            <a:ext cx="31369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700" b="1">
                <a:solidFill>
                  <a:srgbClr val="156082"/>
                </a:solidFill>
              </a:rPr>
              <a:t>2. Process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77CF1E2-8EB6-4522-988C-F4E2F7A11A86}"/>
              </a:ext>
            </a:extLst>
          </p:cNvPr>
          <p:cNvSpPr txBox="1"/>
          <p:nvPr/>
        </p:nvSpPr>
        <p:spPr>
          <a:xfrm>
            <a:off x="4699000" y="3187700"/>
            <a:ext cx="31369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400" b="1">
                <a:solidFill>
                  <a:srgbClr val="0E2841"/>
                </a:solidFill>
              </a:rPr>
              <a:t>Latent block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F162EEF-35FD-40E7-9C78-204F8A85D266}"/>
              </a:ext>
            </a:extLst>
          </p:cNvPr>
          <p:cNvSpPr txBox="1"/>
          <p:nvPr/>
        </p:nvSpPr>
        <p:spPr>
          <a:xfrm>
            <a:off x="4699000" y="3492500"/>
            <a:ext cx="31369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00">
                <a:solidFill>
                  <a:srgbClr val="1A1A1A"/>
                </a:solidFill>
              </a:rPr>
              <a:t>Transform N latent slots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DF57AE62-0244-4547-9D7B-F7A3700D3242}"/>
              </a:ext>
            </a:extLst>
          </p:cNvPr>
          <p:cNvSpPr/>
          <p:nvPr/>
        </p:nvSpPr>
        <p:spPr>
          <a:xfrm>
            <a:off x="8267700" y="2603500"/>
            <a:ext cx="3492500" cy="1524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648BA4F-8EB9-49A7-A4FF-30D77AFEE45B}"/>
              </a:ext>
            </a:extLst>
          </p:cNvPr>
          <p:cNvSpPr/>
          <p:nvPr/>
        </p:nvSpPr>
        <p:spPr>
          <a:xfrm>
            <a:off x="8267700" y="2603500"/>
            <a:ext cx="34925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C4DF195-AF24-40CC-B112-BB62297913D8}"/>
              </a:ext>
            </a:extLst>
          </p:cNvPr>
          <p:cNvSpPr txBox="1"/>
          <p:nvPr/>
        </p:nvSpPr>
        <p:spPr>
          <a:xfrm>
            <a:off x="8445500" y="2806700"/>
            <a:ext cx="31369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700" b="1">
                <a:solidFill>
                  <a:srgbClr val="156082"/>
                </a:solidFill>
              </a:rPr>
              <a:t>3. Reuse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4DD2110-D8D9-4C66-BA13-832CD56729BF}"/>
              </a:ext>
            </a:extLst>
          </p:cNvPr>
          <p:cNvSpPr txBox="1"/>
          <p:nvPr/>
        </p:nvSpPr>
        <p:spPr>
          <a:xfrm>
            <a:off x="8445500" y="3187700"/>
            <a:ext cx="31369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400" b="1">
                <a:solidFill>
                  <a:srgbClr val="0E2841"/>
                </a:solidFill>
              </a:rPr>
              <a:t>Shared weights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A3F5B99-B1A5-4C0A-873A-5F1D33741EDE}"/>
              </a:ext>
            </a:extLst>
          </p:cNvPr>
          <p:cNvSpPr txBox="1"/>
          <p:nvPr/>
        </p:nvSpPr>
        <p:spPr>
          <a:xfrm>
            <a:off x="8445500" y="3492500"/>
            <a:ext cx="3136900" cy="29238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00" dirty="0" err="1">
                <a:solidFill>
                  <a:srgbClr val="1A1A1A"/>
                </a:solidFill>
              </a:rPr>
              <a:t>Reuse</a:t>
            </a:r>
            <a:r>
              <a:rPr lang="it-IT" sz="1300" dirty="0">
                <a:solidFill>
                  <a:srgbClr val="1A1A1A"/>
                </a:solidFill>
              </a:rPr>
              <a:t> </a:t>
            </a:r>
            <a:r>
              <a:rPr lang="it-IT" sz="1300" dirty="0" err="1">
                <a:solidFill>
                  <a:srgbClr val="1A1A1A"/>
                </a:solidFill>
              </a:rPr>
              <a:t>learned</a:t>
            </a:r>
            <a:r>
              <a:rPr lang="it-IT" sz="1300" dirty="0">
                <a:solidFill>
                  <a:srgbClr val="1A1A1A"/>
                </a:solidFill>
              </a:rPr>
              <a:t> weights</a:t>
            </a:r>
          </a:p>
        </p:txBody>
      </p:sp>
      <p:graphicFrame>
        <p:nvGraphicFramePr>
          <p:cNvPr id="23" name="Tabella 22">
            <a:extLst>
              <a:ext uri="{FF2B5EF4-FFF2-40B4-BE49-F238E27FC236}">
                <a16:creationId xmlns:a16="http://schemas.microsoft.com/office/drawing/2014/main" id="{57552A53-48E9-476E-92CA-E85082F36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806837"/>
              </p:ext>
            </p:extLst>
          </p:nvPr>
        </p:nvGraphicFramePr>
        <p:xfrm>
          <a:off x="774700" y="4445000"/>
          <a:ext cx="5969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3257494389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98741093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06988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00"/>
                        <a:t>Read input once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 dirty="0"/>
                        <a:t>O(M · 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99791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00"/>
                        <a:t>Process latents for L layers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O(L · N²)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0292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00"/>
                        <a:t>Perceiver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 dirty="0"/>
                        <a:t>O(MN + LN²)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055957"/>
                  </a:ext>
                </a:extLst>
              </a:tr>
            </a:tbl>
          </a:graphicData>
        </a:graphic>
      </p:graphicFrame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391DEBD6-181B-4581-AEC9-77496E43E606}"/>
              </a:ext>
            </a:extLst>
          </p:cNvPr>
          <p:cNvSpPr/>
          <p:nvPr/>
        </p:nvSpPr>
        <p:spPr>
          <a:xfrm>
            <a:off x="7112000" y="4445000"/>
            <a:ext cx="4648200" cy="1524000"/>
          </a:xfrm>
          <a:prstGeom prst="roundRect">
            <a:avLst/>
          </a:prstGeom>
          <a:solidFill>
            <a:srgbClr val="F7F4EE"/>
          </a:solidFill>
          <a:ln w="12700" cap="flat" cmpd="sng" algn="ctr">
            <a:solidFill>
              <a:srgbClr val="E0D8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652CF96-A0ED-42CD-B7EC-8AD8E6763FDE}"/>
              </a:ext>
            </a:extLst>
          </p:cNvPr>
          <p:cNvSpPr txBox="1"/>
          <p:nvPr/>
        </p:nvSpPr>
        <p:spPr>
          <a:xfrm>
            <a:off x="7315200" y="4597400"/>
            <a:ext cx="42418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8A5A00"/>
                </a:solidFill>
              </a:rPr>
              <a:t>Complexity shift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09EFA05F-B67B-4A15-87B8-2EF31D9E31D4}"/>
              </a:ext>
            </a:extLst>
          </p:cNvPr>
          <p:cNvSpPr txBox="1"/>
          <p:nvPr/>
        </p:nvSpPr>
        <p:spPr>
          <a:xfrm>
            <a:off x="7315200" y="4978400"/>
            <a:ext cx="42418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Read the full input once; repeat the expensive work in the compact latent space  N ≪ M.</a:t>
            </a:r>
            <a:endParaRPr lang="it-IT" sz="140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460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3DA5397-8707-D090-59E1-D885CD02B2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F. Gigli  C. Vignoli      </a:t>
            </a:r>
            <a:r>
              <a:rPr lang="it-IT" dirty="0" err="1">
                <a:solidFill>
                  <a:schemeClr val="bg1"/>
                </a:solidFill>
              </a:rPr>
              <a:t>Perceiver</a:t>
            </a:r>
            <a:r>
              <a:rPr lang="it-IT" dirty="0">
                <a:solidFill>
                  <a:schemeClr val="bg1"/>
                </a:solidFill>
              </a:rPr>
              <a:t> &amp; </a:t>
            </a:r>
            <a:r>
              <a:rPr lang="it-IT" dirty="0" err="1">
                <a:solidFill>
                  <a:schemeClr val="bg1"/>
                </a:solidFill>
              </a:rPr>
              <a:t>Perceiver</a:t>
            </a:r>
            <a:r>
              <a:rPr lang="it-IT" dirty="0">
                <a:solidFill>
                  <a:schemeClr val="bg1"/>
                </a:solidFill>
              </a:rPr>
              <a:t>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0BDF8BA1-B324-5499-4714-66E9DBC1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/>
              </a:rPr>
              <a:t>Perceiver</a:t>
            </a:r>
            <a:r>
              <a:rPr lang="it-IT" dirty="0">
                <a:solidFill/>
              </a:rPr>
              <a:t> Architecture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62A95C9-1734-4270-AA51-724D13E24622}"/>
              </a:ext>
            </a:extLst>
          </p:cNvPr>
          <p:cNvSpPr txBox="1"/>
          <p:nvPr/>
        </p:nvSpPr>
        <p:spPr>
          <a:xfrm>
            <a:off x="868680" y="4617720"/>
            <a:ext cx="512064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Encode and process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DE0B5638-D561-478B-9939-BBA3CCA8461B}"/>
                  </a:ext>
                </a:extLst>
              </p:cNvPr>
              <p:cNvSpPr txBox="1"/>
              <p:nvPr/>
            </p:nvSpPr>
            <p:spPr>
              <a:xfrm>
                <a:off x="868681" y="4983480"/>
                <a:ext cx="4505178" cy="1170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r>
                  <a:rPr lang="en-US" sz="1400" dirty="0">
                    <a:solidFill>
                      <a:srgbClr val="1A1A1A"/>
                    </a:solidFill>
                  </a:rPr>
                  <a:t>•  </a:t>
                </a:r>
                <a14:m>
                  <m:oMath xmlns:m="http://schemas.openxmlformats.org/officeDocument/2006/math">
                    <m:r>
                      <a:rPr lang="it-IT" sz="14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A1A1A"/>
                            </a:solidFill>
                          </a:rPr>
                          <m:t>ℝ</m:t>
                        </m:r>
                      </m:e>
                      <m:sup>
                        <m: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it-IT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it-IT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it-IT" sz="14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: the M input tokens → </a:t>
                </a:r>
                <a:r>
                  <a:rPr lang="en-US" sz="1400" b="1" dirty="0">
                    <a:solidFill>
                      <a:srgbClr val="1A1A1A"/>
                    </a:solidFill>
                  </a:rPr>
                  <a:t>Keys</a:t>
                </a:r>
                <a:r>
                  <a:rPr lang="en-US" sz="1400" dirty="0">
                    <a:solidFill>
                      <a:srgbClr val="1A1A1A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it-IT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) &amp; </a:t>
                </a:r>
                <a:r>
                  <a:rPr lang="en-US" sz="1400" b="1" dirty="0">
                    <a:solidFill>
                      <a:srgbClr val="1A1A1A"/>
                    </a:solidFill>
                  </a:rPr>
                  <a:t>Values</a:t>
                </a:r>
                <a:r>
                  <a:rPr lang="en-US" sz="1400" dirty="0">
                    <a:solidFill>
                      <a:srgbClr val="1A1A1A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sz="1400" b="0" i="0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4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it-IT" sz="14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>
                  <a:solidFill>
                    <a:srgbClr val="1A1A1A"/>
                  </a:solidFill>
                </a:endParaRPr>
              </a:p>
              <a:p>
                <a:r>
                  <a:rPr lang="en-US" sz="1400" dirty="0">
                    <a:solidFill>
                      <a:srgbClr val="1A1A1A"/>
                    </a:solidFill>
                  </a:rPr>
                  <a:t>•  </a:t>
                </a:r>
                <a14:m>
                  <m:oMath xmlns:m="http://schemas.openxmlformats.org/officeDocument/2006/math">
                    <m:r>
                      <a:rPr lang="it-IT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A1A1A"/>
                            </a:solidFill>
                          </a:rPr>
                          <m:t>ℝ</m:t>
                        </m:r>
                      </m:e>
                      <m:sup>
                        <m:r>
                          <a:rPr lang="it-IT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it-IT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it-IT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: N learned latents, N ≪ M → </a:t>
                </a:r>
                <a:r>
                  <a:rPr lang="en-US" sz="1400" b="1" dirty="0">
                    <a:solidFill>
                      <a:srgbClr val="1A1A1A"/>
                    </a:solidFill>
                  </a:rPr>
                  <a:t>Queries</a:t>
                </a:r>
                <a:r>
                  <a:rPr lang="en-US" sz="1400" dirty="0">
                    <a:solidFill>
                      <a:srgbClr val="1A1A1A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it-IT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)</a:t>
                </a:r>
              </a:p>
              <a:p>
                <a:pPr algn="l"/>
                <a:r>
                  <a:rPr lang="en-US" sz="1400" dirty="0">
                    <a:solidFill>
                      <a:srgbClr val="1A1A1A"/>
                    </a:solidFill>
                  </a:rPr>
                  <a:t>  </a:t>
                </a:r>
              </a:p>
              <a:p>
                <a:pPr algn="l"/>
                <a:endParaRPr lang="en-US" sz="1400" dirty="0">
                  <a:solidFill>
                    <a:srgbClr val="1A1A1A"/>
                  </a:solidFill>
                </a:endParaRPr>
              </a:p>
              <a:p>
                <a:pPr algn="l"/>
                <a:r>
                  <a:rPr lang="en-US" sz="1400" dirty="0">
                    <a:solidFill>
                      <a:srgbClr val="1A1A1A"/>
                    </a:solidFill>
                  </a:rPr>
                  <a:t>Cost O(M²) → O(MN): ≈100× less  (N=512, M=50,176)</a:t>
                </a:r>
              </a:p>
            </p:txBody>
          </p:sp>
        </mc:Choice>
        <mc:Fallback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DE0B5638-D561-478B-9939-BBA3CCA8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1" y="4983480"/>
                <a:ext cx="4505178" cy="1170192"/>
              </a:xfrm>
              <a:prstGeom prst="rect">
                <a:avLst/>
              </a:prstGeom>
              <a:blipFill>
                <a:blip r:embed="rId2"/>
                <a:stretch>
                  <a:fillRect l="-406" t="-2094" b="-47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32D197A-3222-45FA-B18E-AD60C02D2C4F}"/>
              </a:ext>
            </a:extLst>
          </p:cNvPr>
          <p:cNvSpPr txBox="1"/>
          <p:nvPr/>
        </p:nvSpPr>
        <p:spPr>
          <a:xfrm>
            <a:off x="6400800" y="4617720"/>
            <a:ext cx="512064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Latent core and output</a:t>
            </a:r>
          </a:p>
        </p:txBody>
      </p:sp>
      <p:pic>
        <p:nvPicPr>
          <p:cNvPr id="20" name="Picture 19" descr="perceiver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965960"/>
            <a:ext cx="9601200" cy="25414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F9199AF9-D49A-E7E7-FA39-B58A38AFB16C}"/>
                  </a:ext>
                </a:extLst>
              </p:cNvPr>
              <p:cNvSpPr txBox="1"/>
              <p:nvPr/>
            </p:nvSpPr>
            <p:spPr>
              <a:xfrm>
                <a:off x="6394470" y="4983480"/>
                <a:ext cx="4505178" cy="1211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r>
                  <a:rPr lang="en-US" sz="1400" dirty="0">
                    <a:solidFill>
                      <a:srgbClr val="1A1A1A"/>
                    </a:solidFill>
                  </a:rPr>
                  <a:t>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A1A1A"/>
                            </a:solidFill>
                          </a:rPr>
                          <m:t>ℝ</m:t>
                        </m:r>
                      </m:e>
                      <m:sup>
                        <m:r>
                          <a:rPr lang="it-IT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it-IT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it-IT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: refined latent representations</a:t>
                </a:r>
              </a:p>
              <a:p>
                <a:r>
                  <a:rPr lang="en-US" sz="1400" dirty="0">
                    <a:solidFill>
                      <a:srgbClr val="1A1A1A"/>
                    </a:solidFill>
                  </a:rPr>
                  <a:t>•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A1A1A"/>
                            </a:solidFill>
                          </a:rPr>
                          <m:t>ℝ</m:t>
                        </m:r>
                      </m:e>
                      <m:sup>
                        <m:r>
                          <a:rPr lang="it-IT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it-IT" sz="14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: average of N latent vectors</a:t>
                </a:r>
              </a:p>
              <a:p>
                <a:r>
                  <a:rPr lang="en-US" sz="1400" dirty="0">
                    <a:solidFill>
                      <a:srgbClr val="1A1A1A"/>
                    </a:solidFill>
                  </a:rPr>
                  <a:t>• </a:t>
                </a:r>
                <a14:m>
                  <m:oMath xmlns:m="http://schemas.openxmlformats.org/officeDocument/2006/math">
                    <m:r>
                      <a:rPr lang="it-IT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A1A1A"/>
                            </a:solidFill>
                          </a:rPr>
                          <m:t>ℝ</m:t>
                        </m:r>
                      </m:e>
                      <m:sup>
                        <m: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it-IT" sz="14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: output logits for K classes</a:t>
                </a:r>
              </a:p>
              <a:p>
                <a:endParaRPr lang="en-US" sz="1400" dirty="0">
                  <a:solidFill>
                    <a:srgbClr val="1A1A1A"/>
                  </a:solidFill>
                </a:endParaRPr>
              </a:p>
              <a:p>
                <a:r>
                  <a:rPr lang="it-IT" sz="1400" dirty="0"/>
                  <a:t>Cost </a:t>
                </a:r>
                <a14:m>
                  <m:oMath xmlns:m="http://schemas.openxmlformats.org/officeDocument/2006/math">
                    <m:r>
                      <a:rPr lang="it-IT" sz="1400" i="1"/>
                      <m:t>𝑂</m:t>
                    </m:r>
                    <m:d>
                      <m:dPr>
                        <m:ctrlPr>
                          <a:rPr lang="it-IT" sz="1400" i="1"/>
                        </m:ctrlPr>
                      </m:dPr>
                      <m:e>
                        <m:sSup>
                          <m:sSupPr>
                            <m:ctrlPr>
                              <a:rPr lang="it-IT" sz="1400" i="1"/>
                            </m:ctrlPr>
                          </m:sSupPr>
                          <m:e>
                            <m:r>
                              <a:rPr lang="it-IT" sz="1400" i="1"/>
                              <m:t>𝑁</m:t>
                            </m:r>
                          </m:e>
                          <m:sup>
                            <m:r>
                              <a:rPr lang="it-IT" sz="1400"/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sz="1400" dirty="0"/>
                  <a:t> with </a:t>
                </a:r>
                <a14:m>
                  <m:oMath xmlns:m="http://schemas.openxmlformats.org/officeDocument/2006/math">
                    <m:r>
                      <a:rPr lang="it-IT" sz="1400" i="1"/>
                      <m:t>𝑁</m:t>
                    </m:r>
                    <m:r>
                      <a:rPr lang="it-IT" sz="1400"/>
                      <m:t>≪</m:t>
                    </m:r>
                    <m:r>
                      <a:rPr lang="it-IT" sz="1400" i="1"/>
                      <m:t>𝑀</m:t>
                    </m:r>
                  </m:oMath>
                </a14:m>
                <a:endParaRPr lang="en-US" sz="1400" dirty="0">
                  <a:solidFill>
                    <a:srgbClr val="1A1A1A"/>
                  </a:solidFill>
                </a:endParaRPr>
              </a:p>
            </p:txBody>
          </p:sp>
        </mc:Choice>
        <mc:Fallback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F9199AF9-D49A-E7E7-FA39-B58A38AFB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70" y="4983480"/>
                <a:ext cx="4505178" cy="1211998"/>
              </a:xfrm>
              <a:prstGeom prst="rect">
                <a:avLst/>
              </a:prstGeom>
              <a:blipFill>
                <a:blip r:embed="rId4"/>
                <a:stretch>
                  <a:fillRect l="-406" t="-1010" b="-40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741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ptionCard">
            <a:extLst>
              <a:ext uri="{FF2B5EF4-FFF2-40B4-BE49-F238E27FC236}">
                <a16:creationId xmlns:a16="http://schemas.microsoft.com/office/drawing/2014/main" id="{CCE8295F-1E76-475F-9230-E9CC78B47DE9}"/>
              </a:ext>
            </a:extLst>
          </p:cNvPr>
          <p:cNvSpPr/>
          <p:nvPr/>
        </p:nvSpPr>
        <p:spPr>
          <a:xfrm>
            <a:off x="1905000" y="5054600"/>
            <a:ext cx="9334500" cy="1092200"/>
          </a:xfrm>
          <a:prstGeom prst="roundRect">
            <a:avLst/>
          </a:prstGeom>
          <a:solidFill>
            <a:srgbClr val="EAF1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AB284C9-D2F6-BF74-1BA3-B7ADAF521F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F. Gigli  C. Vignoli      </a:t>
            </a:r>
            <a:r>
              <a:rPr lang="it-IT" dirty="0" err="1">
                <a:solidFill>
                  <a:schemeClr val="bg1"/>
                </a:solidFill>
              </a:rPr>
              <a:t>Perceiver</a:t>
            </a:r>
            <a:r>
              <a:rPr lang="it-IT" dirty="0">
                <a:solidFill>
                  <a:schemeClr val="bg1"/>
                </a:solidFill>
              </a:rPr>
              <a:t> &amp; </a:t>
            </a:r>
            <a:r>
              <a:rPr lang="it-IT" dirty="0" err="1">
                <a:solidFill>
                  <a:schemeClr val="bg1"/>
                </a:solidFill>
              </a:rPr>
              <a:t>Perceiver</a:t>
            </a:r>
            <a:r>
              <a:rPr lang="it-IT" dirty="0">
                <a:solidFill>
                  <a:schemeClr val="bg1"/>
                </a:solidFill>
              </a:rPr>
              <a:t> IO</a:t>
            </a:r>
          </a:p>
        </p:txBody>
      </p:sp>
      <p:pic>
        <p:nvPicPr>
          <p:cNvPr id="15" name="Picture 14" descr="cross_attention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464" y="2129996"/>
            <a:ext cx="5536983" cy="2084748"/>
          </a:xfrm>
          <a:prstGeom prst="rect">
            <a:avLst/>
          </a:prstGeom>
        </p:spPr>
      </p:pic>
      <p:sp>
        <p:nvSpPr>
          <p:cNvPr id="3" name="Titolo 3">
            <a:extLst>
              <a:ext uri="{FF2B5EF4-FFF2-40B4-BE49-F238E27FC236}">
                <a16:creationId xmlns:a16="http://schemas.microsoft.com/office/drawing/2014/main" id="{3E071C53-2FBE-5A23-CBB3-1F827BAB03E3}"/>
              </a:ext>
            </a:extLst>
          </p:cNvPr>
          <p:cNvSpPr txBox="1">
            <a:spLocks/>
          </p:cNvSpPr>
          <p:nvPr/>
        </p:nvSpPr>
        <p:spPr>
          <a:xfrm>
            <a:off x="775869" y="958052"/>
            <a:ext cx="8794143" cy="854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it-IT">
                <a:solidFill/>
              </a:rPr>
              <a:t>Cross-Attention</a:t>
            </a:r>
            <a:endParaRPr lang="it-IT" dirty="0">
              <a:solidFill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1D313583-3C86-72A3-B32A-91521DA04A70}"/>
                  </a:ext>
                </a:extLst>
              </p:cNvPr>
              <p:cNvSpPr txBox="1"/>
              <p:nvPr/>
            </p:nvSpPr>
            <p:spPr>
              <a:xfrm>
                <a:off x="220980" y="1924496"/>
                <a:ext cx="5052060" cy="12659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rgbClr val="1A1A1A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4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 baseline="-25000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𝑙𝑎𝑡𝑒𝑛𝑡</m:t>
                    </m:r>
                    <m:r>
                      <a:rPr lang="en-US" sz="24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2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it-IT" sz="2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sz="24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it-IT" sz="2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it-IT" sz="2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it-IT" sz="2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it-IT" sz="240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it-IT" sz="240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𝑄𝐾𝑉</m:t>
                            </m:r>
                          </m:sub>
                        </m:sSub>
                      </m:sup>
                    </m:sSup>
                  </m:oMath>
                </a14:m>
                <a:endParaRPr lang="it-IT" sz="2400" b="0" i="1" dirty="0">
                  <a:solidFill>
                    <a:srgbClr val="1A1A1A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400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it-IT" sz="2400" b="0" i="1" baseline="-25000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it-IT" sz="24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it-IT" sz="24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it-IT" sz="24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t-IT" sz="24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𝑄𝐾𝑉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it-IT" sz="2400" i="1" dirty="0">
                  <a:solidFill>
                    <a:srgbClr val="1A1A1A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it-IT" sz="2400" i="1" baseline="-25000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it-IT" sz="24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it-IT" sz="24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t-IT" sz="24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𝑄𝐾𝑉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it-IT" sz="2400" dirty="0"/>
              </a:p>
            </p:txBody>
          </p:sp>
        </mc:Choice>
        <mc:Fallback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1D313583-3C86-72A3-B32A-91521DA04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" y="1924496"/>
                <a:ext cx="5052060" cy="1265924"/>
              </a:xfrm>
              <a:prstGeom prst="rect">
                <a:avLst/>
              </a:prstGeom>
              <a:blipFill>
                <a:blip r:embed="rId3"/>
                <a:stretch>
                  <a:fillRect b="-53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6D733F30-C5DE-19F3-A0FC-65B90959B7E9}"/>
                  </a:ext>
                </a:extLst>
              </p:cNvPr>
              <p:cNvSpPr txBox="1"/>
              <p:nvPr/>
            </p:nvSpPr>
            <p:spPr>
              <a:xfrm>
                <a:off x="775869" y="3279320"/>
                <a:ext cx="5266792" cy="88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u="none" strike="noStrike" baseline="0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2000" b="0" i="1" u="none" strike="noStrike" baseline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0" i="1" u="none" strike="noStrike" baseline="0" dirty="0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r>
                        <a:rPr lang="it-IT" sz="2000" b="0" i="1" u="none" strike="noStrike" baseline="0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it-IT" sz="2000" b="0" i="1" u="none" strike="noStrike" baseline="0" dirty="0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it-IT" sz="2000" b="0" i="1" u="none" strike="noStrike" baseline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sz="2000" b="0" i="1" u="none" strike="noStrike" baseline="0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000" b="0" i="1" u="none" strike="noStrike" baseline="0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it-IT" sz="2000" b="0" i="1" u="none" strike="noStrike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2000" b="0" i="1" u="none" strike="noStrike" baseline="0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it-IT" sz="2000" b="0" i="1" u="none" strike="noStrike" baseline="0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it-IT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it-IT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it-IT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𝑄𝐾𝑉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it-IT" sz="2000" b="0" i="1" u="none" strike="noStrike" baseline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it-IT" sz="20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it-IT" sz="20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20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it-IT" sz="20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</m:oMath>
                  </m:oMathPara>
                </a14:m>
                <a:endParaRPr lang="it-IT" sz="2000" dirty="0"/>
              </a:p>
            </p:txBody>
          </p:sp>
        </mc:Choice>
        <mc:Fallback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6D733F30-C5DE-19F3-A0FC-65B90959B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69" y="3279320"/>
                <a:ext cx="5266792" cy="8878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08C2DFE5-F7D7-D202-D835-CA9EA7B16573}"/>
                  </a:ext>
                </a:extLst>
              </p:cNvPr>
              <p:cNvSpPr txBox="1"/>
              <p:nvPr/>
            </p:nvSpPr>
            <p:spPr>
              <a:xfrm>
                <a:off x="891540" y="4299865"/>
                <a:ext cx="4892726" cy="408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000" b="0" i="1" u="none" strike="noStrike" baseline="0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it-IT" sz="2000" b="0" i="1" u="none" strike="noStrike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0" i="1" u="none" strike="noStrike" baseline="0" dirty="0" smtClean="0">
                        <a:latin typeface="Cambria Math" panose="02040503050406030204" pitchFamily="18" charset="0"/>
                      </a:rPr>
                      <m:t>𝐶𝑟𝑜𝑠𝑠𝐴𝑡𝑡𝑛</m:t>
                    </m:r>
                    <m:r>
                      <a:rPr lang="it-IT" sz="2000" b="0" i="1" u="none" strike="noStrike" baseline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b="0" i="1" u="none" strike="noStrike" baseline="0" dirty="0" err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it-IT" sz="2000" b="0" i="1" u="none" strike="noStrike" baseline="0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000" b="0" i="1" u="none" strike="noStrike" baseline="0" dirty="0" err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sz="2000" b="0" i="1" u="none" strike="noStrike" baseline="0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2000" b="0" i="1" u="none" strike="noStrike" baseline="0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it-IT" sz="2000" b="0" i="1" u="none" strike="noStrike" baseline="0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it-IT" sz="2000" b="0" i="0" u="none" strike="noStrike" baseline="0" dirty="0">
                    <a:latin typeface="CMSS10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000" b="0" i="0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it-IT" sz="2000" b="0" i="1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it-IT" sz="2000" dirty="0">
                    <a:solidFill>
                      <a:srgbClr val="1A1A1A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0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it-IT" sz="20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it-IT" sz="20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it-IT" sz="20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it-IT" sz="20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𝑄𝐾𝑉</m:t>
                            </m:r>
                          </m:sub>
                        </m:sSub>
                      </m:sup>
                    </m:sSup>
                  </m:oMath>
                </a14:m>
                <a:endParaRPr lang="it-IT" sz="2000" dirty="0"/>
              </a:p>
            </p:txBody>
          </p:sp>
        </mc:Choice>
        <mc:Fallback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08C2DFE5-F7D7-D202-D835-CA9EA7B16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" y="4299865"/>
                <a:ext cx="4892726" cy="408830"/>
              </a:xfrm>
              <a:prstGeom prst="rect">
                <a:avLst/>
              </a:prstGeom>
              <a:blipFill>
                <a:blip r:embed="rId5"/>
                <a:stretch>
                  <a:fillRect t="-5970" b="-253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AE93169-2342-4DC7-AB1B-E9F3E9590B12}"/>
              </a:ext>
            </a:extLst>
          </p:cNvPr>
          <p:cNvSpPr txBox="1"/>
          <p:nvPr/>
        </p:nvSpPr>
        <p:spPr>
          <a:xfrm>
            <a:off x="2184400" y="5143500"/>
            <a:ext cx="8890000" cy="95058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it-IT" sz="1600" b="1" dirty="0">
                <a:solidFill>
                  <a:srgbClr val="156082"/>
                </a:solidFill>
              </a:rPr>
              <a:t>Cross-attention</a:t>
            </a:r>
            <a:r>
              <a:rPr lang="it-IT" sz="1600" dirty="0">
                <a:solidFill>
                  <a:srgbClr val="0E2841"/>
                </a:solidFill>
              </a:rPr>
              <a:t> uses the </a:t>
            </a:r>
            <a:r>
              <a:rPr lang="it-IT" sz="1600" b="1" dirty="0">
                <a:solidFill>
                  <a:srgbClr val="156082"/>
                </a:solidFill>
              </a:rPr>
              <a:t>latent array</a:t>
            </a:r>
            <a:r>
              <a:rPr lang="it-IT" sz="1600" dirty="0">
                <a:solidFill>
                  <a:srgbClr val="0E2841"/>
                </a:solidFill>
              </a:rPr>
              <a:t> to read information from the </a:t>
            </a:r>
            <a:r>
              <a:rPr lang="it-IT" sz="1600" b="1" dirty="0">
                <a:solidFill>
                  <a:srgbClr val="156082"/>
                </a:solidFill>
              </a:rPr>
              <a:t>input sequence</a:t>
            </a:r>
            <a:r>
              <a:rPr lang="it-IT" sz="1600" dirty="0">
                <a:solidFill>
                  <a:srgbClr val="0E2841"/>
                </a:solidFill>
              </a:rPr>
              <a:t>.</a:t>
            </a:r>
            <a:br>
              <a:rPr lang="it-IT" sz="1600" dirty="0"/>
            </a:br>
            <a:r>
              <a:rPr lang="it-IT" sz="1600" dirty="0">
                <a:solidFill>
                  <a:srgbClr val="0E2841"/>
                </a:solidFill>
              </a:rPr>
              <a:t>The output (</a:t>
            </a:r>
            <a:r>
              <a:rPr lang="it-IT" sz="1600" b="1" i="1" dirty="0">
                <a:solidFill>
                  <a:srgbClr val="156082"/>
                </a:solidFill>
              </a:rPr>
              <a:t>F</a:t>
            </a:r>
            <a:r>
              <a:rPr lang="it-IT" sz="1600" dirty="0">
                <a:solidFill>
                  <a:srgbClr val="0E2841"/>
                </a:solidFill>
              </a:rPr>
              <a:t>) is a </a:t>
            </a:r>
            <a:r>
              <a:rPr lang="it-IT" sz="1600" b="1" dirty="0">
                <a:solidFill>
                  <a:srgbClr val="156082"/>
                </a:solidFill>
              </a:rPr>
              <a:t>compact latent representation</a:t>
            </a:r>
            <a:r>
              <a:rPr lang="it-IT" sz="1600" dirty="0">
                <a:solidFill>
                  <a:srgbClr val="0E2841"/>
                </a:solidFill>
              </a:rPr>
              <a:t> that will be refined by the </a:t>
            </a:r>
            <a:r>
              <a:rPr lang="it-IT" sz="1600" b="1" dirty="0">
                <a:solidFill>
                  <a:srgbClr val="156082"/>
                </a:solidFill>
              </a:rPr>
              <a:t>latent transformer</a:t>
            </a:r>
            <a:r>
              <a:rPr lang="it-IT" sz="1600" dirty="0">
                <a:solidFill>
                  <a:srgbClr val="0E284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5472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F95F253-AD08-B1BC-C8F1-1AFCA85819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AB432D1C-3C63-9873-57EA-E7E0BC4BD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Latent Transformer &amp; Weight Sharing</a:t>
            </a:r>
          </a:p>
        </p:txBody>
      </p:sp>
      <p:sp>
        <p:nvSpPr>
          <p:cNvPr id="16" name="KeyBanner 7"/>
          <p:cNvSpPr/>
          <p:nvPr/>
        </p:nvSpPr>
        <p:spPr>
          <a:xfrm>
            <a:off x="774700" y="1854200"/>
            <a:ext cx="10985500" cy="533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C21634F-694A-41EF-959E-F1B29382EAFA}"/>
              </a:ext>
            </a:extLst>
          </p:cNvPr>
          <p:cNvSpPr txBox="1"/>
          <p:nvPr/>
        </p:nvSpPr>
        <p:spPr>
          <a:xfrm>
            <a:off x="924560" y="1924050"/>
            <a:ext cx="10684000" cy="38404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</a:rPr>
              <a:t>Once information is in the latent array, depth is spent by reusing the same processor on a compact state.</a:t>
            </a:r>
            <a:endParaRPr lang="it-IT" sz="1500" b="1">
              <a:solidFill>
                <a:srgbClr val="FFFFFF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371123A-266C-4E35-A59A-B09A1106E346}"/>
              </a:ext>
            </a:extLst>
          </p:cNvPr>
          <p:cNvSpPr txBox="1"/>
          <p:nvPr/>
        </p:nvSpPr>
        <p:spPr>
          <a:xfrm>
            <a:off x="868680" y="43434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Weight sharing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F5A7DAE-5256-42D6-A4C4-8D8978F43A9F}"/>
              </a:ext>
            </a:extLst>
          </p:cNvPr>
          <p:cNvSpPr txBox="1"/>
          <p:nvPr/>
        </p:nvSpPr>
        <p:spPr>
          <a:xfrm>
            <a:off x="868680" y="470916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•  The same Latent Transformer block Bθ is reused at every repeat, with shared parameters θ
•  Unrolling depth behaves like an RNN over the latent state:   Z(t+1) = Bθ(Z t)</a:t>
            </a:r>
            <a:endParaRPr lang="it-IT" sz="1500">
              <a:solidFill>
                <a:srgbClr val="1A1A1A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78338DD-FC96-4B3F-AF9E-6DFE9A00BFA6}"/>
              </a:ext>
            </a:extLst>
          </p:cNvPr>
          <p:cNvSpPr txBox="1"/>
          <p:nvPr/>
        </p:nvSpPr>
        <p:spPr>
          <a:xfrm>
            <a:off x="6400800" y="43434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Why it matters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A5C1AD0-BE07-44BF-97E2-8F55DE020722}"/>
              </a:ext>
            </a:extLst>
          </p:cNvPr>
          <p:cNvSpPr txBox="1"/>
          <p:nvPr/>
        </p:nvSpPr>
        <p:spPr>
          <a:xfrm>
            <a:off x="6400800" y="470916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•  Iterative refinement without instantiating a new processor at each step
•  Parameter count stays fixed as depth grows
•  Computation stays in the N-slot latent space</a:t>
            </a:r>
            <a:endParaRPr lang="it-IT" sz="1500">
              <a:solidFill>
                <a:srgbClr val="1A1A1A"/>
              </a:solidFill>
            </a:endParaRPr>
          </a:p>
        </p:txBody>
      </p:sp>
      <p:pic>
        <p:nvPicPr>
          <p:cNvPr id="15" name="Picture 14" descr="perceiver_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14600"/>
            <a:ext cx="10607040" cy="165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07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3C65412-2859-171C-3C20-1D3B89565A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E7A38048-B695-18C9-6A44-449215211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/>
              </a:rPr>
              <a:t>Fourier Positional </a:t>
            </a:r>
            <a:r>
              <a:rPr lang="it-IT" dirty="0" err="1">
                <a:solidFill/>
              </a:rPr>
              <a:t>Encoding</a:t>
            </a:r>
            <a:endParaRPr lang="it-IT" dirty="0">
              <a:solidFill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91994A3-D852-474E-B8D4-BC04596D1B57}"/>
              </a:ext>
            </a:extLst>
          </p:cNvPr>
          <p:cNvSpPr txBox="1"/>
          <p:nvPr/>
        </p:nvSpPr>
        <p:spPr>
          <a:xfrm>
            <a:off x="914400" y="1828800"/>
            <a:ext cx="105156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1A1A1A"/>
                </a:solidFill>
              </a:rPr>
              <a:t>Perceiver receives a flat array, so location has to be part of each input token.</a:t>
            </a:r>
            <a:endParaRPr lang="it-IT" sz="1500" b="1">
              <a:solidFill>
                <a:srgbClr val="FFFFFF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54E4EB7-0E37-4100-955B-765CEF8F660B}"/>
              </a:ext>
            </a:extLst>
          </p:cNvPr>
          <p:cNvSpPr txBox="1"/>
          <p:nvPr/>
        </p:nvSpPr>
        <p:spPr>
          <a:xfrm>
            <a:off x="868680" y="475488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General recipe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9D2B990-4501-46EF-930C-DD470FE6DE42}"/>
              </a:ext>
            </a:extLst>
          </p:cNvPr>
          <p:cNvSpPr txBox="1"/>
          <p:nvPr/>
        </p:nvSpPr>
        <p:spPr>
          <a:xfrm>
            <a:off x="868680" y="5074920"/>
            <a:ext cx="5029200" cy="154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Use domain coordinates — images (u, v), point clouds (x, y, z), or text index t. </a:t>
            </a:r>
            <a:r>
              <a:rPr lang="en-US" sz="1400" dirty="0">
                <a:solidFill>
                  <a:srgbClr val="1A1A1A"/>
                </a:solidFill>
              </a:rPr>
              <a:t>Sine/cosine bands encode them at multiple scales, from coarse to fine.</a:t>
            </a:r>
            <a:endParaRPr lang="it-IT" sz="1400" dirty="0">
              <a:solidFill>
                <a:srgbClr val="1A1A1A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25E1D2E-BBA7-411C-8019-254D25AD3CB8}"/>
              </a:ext>
            </a:extLst>
          </p:cNvPr>
          <p:cNvSpPr txBox="1"/>
          <p:nvPr/>
        </p:nvSpPr>
        <p:spPr>
          <a:xfrm>
            <a:off x="6400800" y="475488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 dirty="0">
                <a:solidFill>
                  <a:srgbClr val="156082"/>
                </a:solidFill>
              </a:rPr>
              <a:t>Input </a:t>
            </a:r>
            <a:r>
              <a:rPr lang="it-IT" sz="1600" b="1" dirty="0" err="1">
                <a:solidFill>
                  <a:srgbClr val="156082"/>
                </a:solidFill>
              </a:rPr>
              <a:t>seen</a:t>
            </a:r>
            <a:r>
              <a:rPr lang="it-IT" sz="1600" b="1" dirty="0">
                <a:solidFill>
                  <a:srgbClr val="156082"/>
                </a:solidFill>
              </a:rPr>
              <a:t> by </a:t>
            </a:r>
            <a:r>
              <a:rPr lang="it-IT" sz="1600" b="1" dirty="0" err="1">
                <a:solidFill>
                  <a:srgbClr val="156082"/>
                </a:solidFill>
              </a:rPr>
              <a:t>attention</a:t>
            </a:r>
            <a:endParaRPr lang="it-IT" sz="1600" b="1" dirty="0">
              <a:solidFill>
                <a:srgbClr val="156082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3803066-301F-43CB-A0FB-EC1E79F80B97}"/>
              </a:ext>
            </a:extLst>
          </p:cNvPr>
          <p:cNvSpPr txBox="1"/>
          <p:nvPr/>
        </p:nvSpPr>
        <p:spPr>
          <a:xfrm>
            <a:off x="6400800" y="5074920"/>
            <a:ext cx="5029200" cy="154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The array is still flat, but each token is enriched before projection. Content and position are concatenated into a single feature vector.</a:t>
            </a:r>
            <a:endParaRPr lang="it-IT" sz="1400">
              <a:solidFill>
                <a:srgbClr val="1A1A1A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7E6839D-BD9A-4D5A-BBDA-979C4079D970}"/>
              </a:ext>
            </a:extLst>
          </p:cNvPr>
          <p:cNvSpPr txBox="1"/>
          <p:nvPr/>
        </p:nvSpPr>
        <p:spPr>
          <a:xfrm>
            <a:off x="914400" y="6035040"/>
            <a:ext cx="10515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 sz="16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6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lang="en-US" sz="16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i</m:t>
                    </m:r>
                  </m:sub>
                </m:sSub>
                <m:r>
                  <a:rPr lang="en-US" sz="16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=</m:t>
                </m:r>
                <m:d>
                  <m:dPr>
                    <m:begChr m:val="["/>
                    <m:endChr m:val="]"/>
                    <m:ctrlPr>
                      <a:rPr lang="en-US" sz="16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en-US" sz="16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16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16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sz="16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 xml:space="preserve"> </m:t>
                    </m:r>
                    <m:r>
                      <a:rPr lang="en-US" sz="16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γ</m:t>
                    </m:r>
                    <m:d>
                      <m:dPr>
                        <m:ctrlPr>
                          <a:rPr lang="en-US" sz="16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US" sz="16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e>
                </m:d>
              </m:oMath>
            </a14:m>
            <a:r>
              <a:rPr lang="en-US" sz="1500" dirty="0">
                <a:solidFill>
                  <a:srgbClr val="555555"/>
                </a:solidFill>
                <a:latin typeface="Aptos"/>
              </a:rPr>
              <a:t>   —  content ∥ Fourier position code</a:t>
            </a:r>
          </a:p>
        </p:txBody>
      </p:sp>
      <p:pic>
        <p:nvPicPr>
          <p:cNvPr id="17" name="Picture 16" descr="fourier_features_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487168"/>
            <a:ext cx="4937760" cy="217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17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EA8AFE0E-83E0-9E55-01A7-2CFEA561E1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C45B5BE3-0251-1A6B-24B2-554FB72EF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Perceiver Forward Pass: Shape Checkpoints</a:t>
            </a:r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A2FDA99-D497-4F40-B3BF-E117B24607D1}"/>
              </a:ext>
            </a:extLst>
          </p:cNvPr>
          <p:cNvSpPr/>
          <p:nvPr/>
        </p:nvSpPr>
        <p:spPr>
          <a:xfrm>
            <a:off x="774700" y="1905000"/>
            <a:ext cx="5461000" cy="36195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AA9ECCF-7F84-465A-B641-88155BE249E9}"/>
              </a:ext>
            </a:extLst>
          </p:cNvPr>
          <p:cNvSpPr/>
          <p:nvPr/>
        </p:nvSpPr>
        <p:spPr>
          <a:xfrm>
            <a:off x="774700" y="1905000"/>
            <a:ext cx="5461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3D62425-8294-43DF-922D-35B66E0F5A10}"/>
              </a:ext>
            </a:extLst>
          </p:cNvPr>
          <p:cNvSpPr txBox="1"/>
          <p:nvPr/>
        </p:nvSpPr>
        <p:spPr>
          <a:xfrm>
            <a:off x="977900" y="2082800"/>
            <a:ext cx="5054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Data flow (original Perceiver)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E305418-EDD3-4C08-B803-499BDB58B9B9}"/>
              </a:ext>
            </a:extLst>
          </p:cNvPr>
          <p:cNvSpPr txBox="1"/>
          <p:nvPr/>
        </p:nvSpPr>
        <p:spPr>
          <a:xfrm>
            <a:off x="977900" y="2489200"/>
            <a:ext cx="5054600" cy="292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</a:rPr>
              <a:t>1.  Input array — each token stacks content with a Fourier code:  X = [ x ∥ γ(p) ] ∈ ℝ</a:t>
            </a:r>
            <a:r>
              <a:rPr sz="1000" baseline="30000">
                <a:solidFill>
                  <a:srgbClr val="1A1A1A"/>
                </a:solidFill>
              </a:rPr>
              <a:t>M×C</a:t>
            </a:r>
            <a:r>
              <a:rPr sz="1300">
                <a:solidFill>
                  <a:srgbClr val="1A1A1A"/>
                </a:solidFill>
              </a:rPr>
              <a:t>
2.  Learned latent array:  Z₀ ∈ ℝ</a:t>
            </a:r>
            <a:r>
              <a:rPr sz="1000" baseline="30000">
                <a:solidFill>
                  <a:srgbClr val="1A1A1A"/>
                </a:solidFill>
              </a:rPr>
              <a:t>N×D</a:t>
            </a:r>
            <a:r>
              <a:rPr sz="1300">
                <a:solidFill>
                  <a:srgbClr val="1A1A1A"/>
                </a:solidFill>
              </a:rPr>
              <a:t>,  with  N ≪ M
3.  Cross-attention reads the input:  Q = Z₀W</a:t>
            </a:r>
            <a:r>
              <a:rPr sz="1000" baseline="-25000">
                <a:solidFill>
                  <a:srgbClr val="1A1A1A"/>
                </a:solidFill>
              </a:rPr>
              <a:t>Q</a:t>
            </a:r>
            <a:r>
              <a:rPr sz="1300">
                <a:solidFill>
                  <a:srgbClr val="1A1A1A"/>
                </a:solidFill>
              </a:rPr>
              <a:t>,  K = XW</a:t>
            </a:r>
            <a:r>
              <a:rPr sz="1000" baseline="-25000">
                <a:solidFill>
                  <a:srgbClr val="1A1A1A"/>
                </a:solidFill>
              </a:rPr>
              <a:t>K</a:t>
            </a:r>
            <a:r>
              <a:rPr sz="1300">
                <a:solidFill>
                  <a:srgbClr val="1A1A1A"/>
                </a:solidFill>
              </a:rPr>
              <a:t>,  V = XW</a:t>
            </a:r>
            <a:r>
              <a:rPr sz="1000" baseline="-25000">
                <a:solidFill>
                  <a:srgbClr val="1A1A1A"/>
                </a:solidFill>
              </a:rPr>
              <a:t>V</a:t>
            </a:r>
            <a:r>
              <a:rPr sz="1300">
                <a:solidFill>
                  <a:srgbClr val="1A1A1A"/>
                </a:solidFill>
              </a:rPr>
              <a:t>
4.  Latent Transformer applies self-attention + FFN on the N latents only</a:t>
            </a: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A18F9194-0815-41AD-A253-271AEDFE1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219229"/>
              </p:ext>
            </p:extLst>
          </p:nvPr>
        </p:nvGraphicFramePr>
        <p:xfrm>
          <a:off x="6604000" y="1968500"/>
          <a:ext cx="5156200" cy="2920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406143472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3642199958"/>
                    </a:ext>
                  </a:extLst>
                </a:gridCol>
                <a:gridCol w="3060700">
                  <a:extLst>
                    <a:ext uri="{9D8B030D-6E8A-4147-A177-3AD203B41FA5}">
                      <a16:colId xmlns:a16="http://schemas.microsoft.com/office/drawing/2014/main" val="696360455"/>
                    </a:ext>
                  </a:extLst>
                </a:gridCol>
              </a:tblGrid>
              <a:tr h="486833">
                <a:tc>
                  <a:txBody>
                    <a:bodyPr/>
                    <a:lstStyle/>
                    <a:p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Object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Shape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358597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r>
                        <a:rPr lang="it-IT" sz="1300" b="1"/>
                        <a:t>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M × 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input array (content+pos)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380610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r>
                        <a:rPr lang="it-IT" sz="1300" b="1"/>
                        <a:t>Z₀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N × 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learned latents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486731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r>
                        <a:rPr lang="it-IT" sz="1300" b="1"/>
                        <a:t>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N × dₖ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latent queries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137391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r>
                        <a:rPr lang="it-IT" sz="1300" b="1"/>
                        <a:t>K, V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M × dₖ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input keys / values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118821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r>
                        <a:rPr lang="it-IT" sz="1300" b="1"/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N ×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attention 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068760"/>
                  </a:ext>
                </a:extLst>
              </a:tr>
            </a:tbl>
          </a:graphicData>
        </a:graphic>
      </p:graphicFrame>
      <p:sp>
        <p:nvSpPr>
          <p:cNvPr id="11" name="Rettangolo 10">
            <a:extLst>
              <a:ext uri="{FF2B5EF4-FFF2-40B4-BE49-F238E27FC236}">
                <a16:creationId xmlns:a16="http://schemas.microsoft.com/office/drawing/2014/main" id="{932FB7C2-A7C4-4BCE-9106-05304CE5A9B9}"/>
              </a:ext>
            </a:extLst>
          </p:cNvPr>
          <p:cNvSpPr/>
          <p:nvPr/>
        </p:nvSpPr>
        <p:spPr>
          <a:xfrm>
            <a:off x="774700" y="5740400"/>
            <a:ext cx="10985500" cy="584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1D54C8B-BB43-48FB-BFBD-485D66B4C38C}"/>
              </a:ext>
            </a:extLst>
          </p:cNvPr>
          <p:cNvSpPr txBox="1"/>
          <p:nvPr/>
        </p:nvSpPr>
        <p:spPr>
          <a:xfrm>
            <a:off x="927100" y="5740400"/>
            <a:ext cx="106807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Core idea: input size M affects only the cross-attention read — depth is spent in the compact latent space.</a:t>
            </a:r>
            <a:endParaRPr lang="it-IT" sz="15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811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7563DE8-9242-7939-9436-10C840B558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3FE1A6BA-1900-F573-4A43-044EEB963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Original Perceiver Output: Pooling Classifier</a:t>
            </a:r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2414F99-3231-4685-A434-4DE235D907B5}"/>
              </a:ext>
            </a:extLst>
          </p:cNvPr>
          <p:cNvSpPr/>
          <p:nvPr/>
        </p:nvSpPr>
        <p:spPr>
          <a:xfrm>
            <a:off x="774700" y="1905000"/>
            <a:ext cx="5461000" cy="3810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6712CE0-9472-458E-8D6A-AE0B1843018E}"/>
              </a:ext>
            </a:extLst>
          </p:cNvPr>
          <p:cNvSpPr/>
          <p:nvPr/>
        </p:nvSpPr>
        <p:spPr>
          <a:xfrm>
            <a:off x="774700" y="1905000"/>
            <a:ext cx="5461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4CA9B9C-968F-4F91-808C-247B24E2202B}"/>
              </a:ext>
            </a:extLst>
          </p:cNvPr>
          <p:cNvSpPr txBox="1"/>
          <p:nvPr/>
        </p:nvSpPr>
        <p:spPr>
          <a:xfrm>
            <a:off x="977900" y="2082800"/>
            <a:ext cx="5054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Fixed-shape output head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B93CE7A8-32FA-4A0F-9B7A-76C61A68B30F}"/>
              </a:ext>
            </a:extLst>
          </p:cNvPr>
          <p:cNvSpPr/>
          <p:nvPr/>
        </p:nvSpPr>
        <p:spPr>
          <a:xfrm>
            <a:off x="977900" y="2463800"/>
            <a:ext cx="5054600" cy="990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D8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7841B81-67E7-49B1-A6B0-3D613CABC973}"/>
              </a:ext>
            </a:extLst>
          </p:cNvPr>
          <p:cNvSpPr txBox="1"/>
          <p:nvPr/>
        </p:nvSpPr>
        <p:spPr>
          <a:xfrm>
            <a:off x="1079500" y="2514600"/>
            <a:ext cx="48514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Z</m:t>
                    </m:r>
                  </m:e>
                  <m:sub>
                    <m: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lang="en-US" sz="13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nor/>
                  </m:rPr>
                  <a:rPr lang="en-US" sz="1300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Encoder</m:t>
                </m:r>
                <m:d>
                  <m:dPr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X,</m:t>
                    </m:r>
                    <m:sSub>
                      <m:sSubPr>
                        <m:ctrlP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e>
                </m:d>
              </m:oMath>
            </a14:m>
          </a:p>
          <a:p>
            <a:pPr algn="l"/>
            <a14:m xmlns:a14="http://schemas.microsoft.com/office/drawing/2010/main">
              <m:oMath xmlns:m="http://schemas.openxmlformats.org/officeDocument/2006/math">
                <m:r>
                  <a:rPr lang="en-US" sz="13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z=</m:t>
                </m:r>
                <m:d>
                  <m:dPr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f>
                      <m:fPr>
                        <m:type m:val="lin"/>
                        <m:ctrlP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e>
                </m:d>
                <m:nary>
                  <m:naryPr>
                    <m:chr m:val="∑"/>
                    <m:supHide m:val="1"/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naryPr>
                  <m:sub>
                    <m: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i</m:t>
                    </m:r>
                  </m:sub>
                  <m:sup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up>
                  <m:e>
                    <m:sSub>
                      <m:sSubPr>
                        <m:ctrlP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ctrlP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e>
                      <m:sub>
                        <m: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e>
                </m:nary>
              </m:oMath>
            </a14:m>
          </a:p>
          <a:p>
            <a:pPr algn="l"/>
            <a14:m xmlns:a14="http://schemas.microsoft.com/office/drawing/2010/main">
              <m:oMath xmlns:m="http://schemas.openxmlformats.org/officeDocument/2006/math">
                <m:r>
                  <m:rPr>
                    <m:nor/>
                  </m:rPr>
                  <a:rPr lang="en-US" sz="1300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logits</m:t>
                </m:r>
                <m:r>
                  <a:rPr lang="en-US" sz="13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=z·</m:t>
                </m:r>
                <m:sSub>
                  <m:sSubPr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W</m:t>
                    </m:r>
                  </m:e>
                  <m:sub>
                    <m: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cls</m:t>
                    </m:r>
                  </m:sub>
                </m:sSub>
                <m:r>
                  <a:rPr lang="en-US" sz="13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+</m:t>
                </m:r>
                <m:sSub>
                  <m:sSubPr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b</m:t>
                    </m:r>
                  </m:e>
                  <m:sub>
                    <m: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cls</m:t>
                    </m:r>
                  </m:sub>
                </m:sSub>
              </m:oMath>
            </a14:m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B043084C-03C4-4725-B9A3-E9B9B80D3DC2}"/>
              </a:ext>
            </a:extLst>
          </p:cNvPr>
          <p:cNvSpPr txBox="1"/>
          <p:nvPr/>
        </p:nvSpPr>
        <p:spPr>
          <a:xfrm>
            <a:off x="977900" y="3581400"/>
            <a:ext cx="5054600" cy="203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50">
                <a:solidFill>
                  <a:srgbClr val="1A1A1A"/>
                </a:solidFill>
              </a:rPr>
              <a:t>•  Mean pooling collapses all latents to one vector
•  Predicts one global label per input
•  Ideal for classification, not dense structured outputs</a:t>
            </a:r>
            <a:endParaRPr lang="it-IT" sz="1350">
              <a:solidFill>
                <a:srgbClr val="1A1A1A"/>
              </a:solidFill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3C4B490-8B9C-4719-AF09-6560461D4415}"/>
              </a:ext>
            </a:extLst>
          </p:cNvPr>
          <p:cNvSpPr/>
          <p:nvPr/>
        </p:nvSpPr>
        <p:spPr>
          <a:xfrm>
            <a:off x="6426200" y="1905000"/>
            <a:ext cx="5334000" cy="2159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43977CC-D994-4902-A111-4F490D8839CE}"/>
              </a:ext>
            </a:extLst>
          </p:cNvPr>
          <p:cNvSpPr/>
          <p:nvPr/>
        </p:nvSpPr>
        <p:spPr>
          <a:xfrm>
            <a:off x="6426200" y="1905000"/>
            <a:ext cx="5334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E133D08-88AB-4374-8314-FEEB8B2DB605}"/>
              </a:ext>
            </a:extLst>
          </p:cNvPr>
          <p:cNvSpPr txBox="1"/>
          <p:nvPr/>
        </p:nvSpPr>
        <p:spPr>
          <a:xfrm>
            <a:off x="6629400" y="2082800"/>
            <a:ext cx="4927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Where FFN &amp; sharing fit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D56B556-56E8-4CD9-9889-CDA17E2EF349}"/>
              </a:ext>
            </a:extLst>
          </p:cNvPr>
          <p:cNvSpPr txBox="1"/>
          <p:nvPr/>
        </p:nvSpPr>
        <p:spPr>
          <a:xfrm>
            <a:off x="6629400" y="2489200"/>
            <a:ext cx="4927600" cy="149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50">
                <a:solidFill>
                  <a:srgbClr val="1A1A1A"/>
                </a:solidFill>
              </a:rPr>
              <a:t>•  Each latent block: pre-norm attention → residual → FFN → residual
•  FFN adds non-linearity after attention mixing
•  Weight sharing reuses the processor across iterations (first block has its own weights)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A5B4F03A-F6AB-4482-8B05-9574D7BA4A55}"/>
              </a:ext>
            </a:extLst>
          </p:cNvPr>
          <p:cNvSpPr/>
          <p:nvPr/>
        </p:nvSpPr>
        <p:spPr>
          <a:xfrm>
            <a:off x="6426200" y="4267200"/>
            <a:ext cx="5334000" cy="1447800"/>
          </a:xfrm>
          <a:prstGeom prst="roundRect">
            <a:avLst/>
          </a:prstGeom>
          <a:solidFill>
            <a:srgbClr val="F7F4EE"/>
          </a:solidFill>
          <a:ln w="12700" cap="flat" cmpd="sng" algn="ctr">
            <a:solidFill>
              <a:srgbClr val="E0D8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2D1260B-13AF-4877-BE10-9AFE8816EE50}"/>
              </a:ext>
            </a:extLst>
          </p:cNvPr>
          <p:cNvSpPr txBox="1"/>
          <p:nvPr/>
        </p:nvSpPr>
        <p:spPr>
          <a:xfrm>
            <a:off x="6629400" y="4419600"/>
            <a:ext cx="4927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8A5A00"/>
                </a:solidFill>
              </a:rPr>
              <a:t>Fixed-shape output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40B9E68-ECAE-48EF-9490-EA13FA2C6E55}"/>
              </a:ext>
            </a:extLst>
          </p:cNvPr>
          <p:cNvSpPr txBox="1"/>
          <p:nvPr/>
        </p:nvSpPr>
        <p:spPr>
          <a:xfrm>
            <a:off x="6629400" y="4800600"/>
            <a:ext cx="4927600" cy="838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Pooling reduces the N latents to a single vector, so this head emits one global prediction per input.</a:t>
            </a:r>
            <a:endParaRPr lang="it-IT" sz="140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505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D5EE0EF-8FA8-A1E0-CE72-A5D0FAB7E6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05E95E30-C2CB-3F1B-3C59-D53D36B4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Computational Complexity Analysis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CEC940F0-86E4-42C7-9E81-31A1C6D41D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160521"/>
              </p:ext>
            </p:extLst>
          </p:nvPr>
        </p:nvGraphicFramePr>
        <p:xfrm>
          <a:off x="774700" y="1930400"/>
          <a:ext cx="109855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500">
                  <a:extLst>
                    <a:ext uri="{9D8B030D-6E8A-4147-A177-3AD203B41FA5}">
                      <a16:colId xmlns:a16="http://schemas.microsoft.com/office/drawing/2014/main" val="2533191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75798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91593092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56737140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Self-Attn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Cross-Attn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76412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it-IT" sz="1350" b="1"/>
                        <a:t>Standard 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/>
                        <a:t>O(M²d)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/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/>
                        <a:t>O(M²d · 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53475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it-IT" sz="1350" b="1"/>
                        <a:t>Perceiver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/>
                        <a:t>O(N²d)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/>
                        <a:t>O(MNd)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/>
                        <a:t>O((MN + N²L) 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757149"/>
                  </a:ext>
                </a:extLst>
              </a:tr>
            </a:tbl>
          </a:graphicData>
        </a:graphic>
      </p:graphicFrame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E54E3A45-8DAB-4109-952F-35CC79493C54}"/>
              </a:ext>
            </a:extLst>
          </p:cNvPr>
          <p:cNvSpPr/>
          <p:nvPr/>
        </p:nvSpPr>
        <p:spPr>
          <a:xfrm>
            <a:off x="774700" y="3810000"/>
            <a:ext cx="5334000" cy="20955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4C8E3A9-46DE-4522-BDFD-34D092EADC58}"/>
              </a:ext>
            </a:extLst>
          </p:cNvPr>
          <p:cNvSpPr/>
          <p:nvPr/>
        </p:nvSpPr>
        <p:spPr>
          <a:xfrm>
            <a:off x="774700" y="3810000"/>
            <a:ext cx="5334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4E19FBF-3014-43F3-8441-91B611E9FC1B}"/>
              </a:ext>
            </a:extLst>
          </p:cNvPr>
          <p:cNvSpPr txBox="1"/>
          <p:nvPr/>
        </p:nvSpPr>
        <p:spPr>
          <a:xfrm>
            <a:off x="977900" y="3987800"/>
            <a:ext cx="4927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Symbols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488377A-5869-45CA-82A5-D9D2D862DB21}"/>
              </a:ext>
            </a:extLst>
          </p:cNvPr>
          <p:cNvSpPr txBox="1"/>
          <p:nvPr/>
        </p:nvSpPr>
        <p:spPr>
          <a:xfrm>
            <a:off x="977900" y="4368800"/>
            <a:ext cx="4927600" cy="140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50">
                <a:solidFill>
                  <a:srgbClr val="1A1A1A"/>
                </a:solidFill>
              </a:rPr>
              <a:t>M — number of input elements
N — number of latent slots  (N ≪ M)
L — number of latent processing layers
d — hidden channel dimension</a:t>
            </a:r>
            <a:endParaRPr lang="it-IT" sz="1350">
              <a:solidFill>
                <a:srgbClr val="1A1A1A"/>
              </a:solidFill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8270A12C-D13E-4689-8AA0-CD5D7A42DD7F}"/>
              </a:ext>
            </a:extLst>
          </p:cNvPr>
          <p:cNvSpPr/>
          <p:nvPr/>
        </p:nvSpPr>
        <p:spPr>
          <a:xfrm>
            <a:off x="6426200" y="3810000"/>
            <a:ext cx="5334000" cy="20955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572FB9B-93B3-4507-98C4-C5B5229B5125}"/>
              </a:ext>
            </a:extLst>
          </p:cNvPr>
          <p:cNvSpPr/>
          <p:nvPr/>
        </p:nvSpPr>
        <p:spPr>
          <a:xfrm>
            <a:off x="6426200" y="3810000"/>
            <a:ext cx="5334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97C2C71-B623-4C88-BEA0-9E080137A087}"/>
              </a:ext>
            </a:extLst>
          </p:cNvPr>
          <p:cNvSpPr txBox="1"/>
          <p:nvPr/>
        </p:nvSpPr>
        <p:spPr>
          <a:xfrm>
            <a:off x="6629400" y="3987800"/>
            <a:ext cx="4927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Interpretation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1E53021-3FCF-4C02-BBB2-01C0B4570F45}"/>
              </a:ext>
            </a:extLst>
          </p:cNvPr>
          <p:cNvSpPr txBox="1"/>
          <p:nvPr/>
        </p:nvSpPr>
        <p:spPr>
          <a:xfrm>
            <a:off x="6629400" y="4368800"/>
            <a:ext cx="4927600" cy="140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50">
                <a:solidFill>
                  <a:srgbClr val="1A1A1A"/>
                </a:solidFill>
              </a:rPr>
              <a:t>•  Full input is read once via cross-attention
•  Repeated self-attention stays in latent space
•  If N is fixed, depth is independent of input length
•  Concrete sizes are evaluated in the experiments</a:t>
            </a:r>
            <a:endParaRPr lang="it-IT" sz="135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838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8A1222AE-D4F1-6542-3C59-876E7FE08D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A2108832-038B-CA39-F643-56BEBACD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GELU Activation &amp; LAMB Optimizer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7910CF3-CE45-441C-923E-E8E3BD99803D}"/>
              </a:ext>
            </a:extLst>
          </p:cNvPr>
          <p:cNvSpPr/>
          <p:nvPr/>
        </p:nvSpPr>
        <p:spPr>
          <a:xfrm>
            <a:off x="774700" y="1905000"/>
            <a:ext cx="5334000" cy="23114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818E281-8DC5-4A85-A38C-CF55FE06BC09}"/>
              </a:ext>
            </a:extLst>
          </p:cNvPr>
          <p:cNvSpPr/>
          <p:nvPr/>
        </p:nvSpPr>
        <p:spPr>
          <a:xfrm>
            <a:off x="774700" y="1905000"/>
            <a:ext cx="5334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F899E33-1706-453F-91BC-40B524404CFC}"/>
              </a:ext>
            </a:extLst>
          </p:cNvPr>
          <p:cNvSpPr txBox="1"/>
          <p:nvPr/>
        </p:nvSpPr>
        <p:spPr>
          <a:xfrm>
            <a:off x="977900" y="2082800"/>
            <a:ext cx="4927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156082"/>
                </a:solidFill>
              </a:rPr>
              <a:t>GELU  (Gaussian Error Linear Unit)</a:t>
            </a:r>
            <a:endParaRPr lang="it-IT" sz="1600" b="1">
              <a:solidFill>
                <a:srgbClr val="156082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33473E9-2D36-42F8-9D26-7C717432E3A2}"/>
              </a:ext>
            </a:extLst>
          </p:cNvPr>
          <p:cNvSpPr/>
          <p:nvPr/>
        </p:nvSpPr>
        <p:spPr>
          <a:xfrm>
            <a:off x="977900" y="2463800"/>
            <a:ext cx="49276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D8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06411D3-C684-47A4-90CD-C1174A4BCCD5}"/>
              </a:ext>
            </a:extLst>
          </p:cNvPr>
          <p:cNvSpPr txBox="1"/>
          <p:nvPr/>
        </p:nvSpPr>
        <p:spPr>
          <a:xfrm>
            <a:off x="1054100" y="2489200"/>
            <a:ext cx="47752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14:m xmlns:a14="http://schemas.microsoft.com/office/drawing/2010/main">
              <m:oMath xmlns:m="http://schemas.openxmlformats.org/officeDocument/2006/math">
                <m:r>
                  <m:rPr>
                    <m:nor/>
                  </m:rPr>
                  <a:rPr lang="en-US" sz="1300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GELU</m:t>
                </m:r>
                <m:d>
                  <m:dPr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</m:d>
                <m:r>
                  <a:rPr lang="en-US" sz="13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=x·Φ</m:t>
                </m:r>
                <m:d>
                  <m:dPr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</m:d>
                <m:r>
                  <a:rPr lang="en-US" sz="13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≈x·σ</m:t>
                </m:r>
                <m:d>
                  <m:dPr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1.702x</m:t>
                    </m:r>
                  </m:e>
                </m:d>
              </m:oMath>
            </a14:m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AEBF929-275D-4892-8382-8329585FD30F}"/>
              </a:ext>
            </a:extLst>
          </p:cNvPr>
          <p:cNvSpPr txBox="1"/>
          <p:nvPr/>
        </p:nvSpPr>
        <p:spPr>
          <a:xfrm>
            <a:off x="977900" y="2971800"/>
            <a:ext cx="4927600" cy="1117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•  Smooth activation used in Transformer architectures
•  Allows a small negative gradient to flow</a:t>
            </a:r>
            <a:endParaRPr lang="it-IT" sz="1300">
              <a:solidFill>
                <a:srgbClr val="1A1A1A"/>
              </a:solidFill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6102B7A4-9CF0-4A06-9C3C-3A2CF3EA3D9F}"/>
              </a:ext>
            </a:extLst>
          </p:cNvPr>
          <p:cNvSpPr/>
          <p:nvPr/>
        </p:nvSpPr>
        <p:spPr>
          <a:xfrm>
            <a:off x="6426200" y="1905000"/>
            <a:ext cx="5334000" cy="23114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0DAD526-5FE2-4C0E-AE7A-A1C132524D56}"/>
              </a:ext>
            </a:extLst>
          </p:cNvPr>
          <p:cNvSpPr/>
          <p:nvPr/>
        </p:nvSpPr>
        <p:spPr>
          <a:xfrm>
            <a:off x="6426200" y="1905000"/>
            <a:ext cx="5334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AF60918-6403-4433-B22D-FE629503FF84}"/>
              </a:ext>
            </a:extLst>
          </p:cNvPr>
          <p:cNvSpPr txBox="1"/>
          <p:nvPr/>
        </p:nvSpPr>
        <p:spPr>
          <a:xfrm>
            <a:off x="6629400" y="2082800"/>
            <a:ext cx="4927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LAMB  (Layer-wise Adaptive Moments)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471E09F-F8C1-41F2-BB86-943909A9DC85}"/>
              </a:ext>
            </a:extLst>
          </p:cNvPr>
          <p:cNvSpPr/>
          <p:nvPr/>
        </p:nvSpPr>
        <p:spPr>
          <a:xfrm>
            <a:off x="6629400" y="2463800"/>
            <a:ext cx="4927600" cy="4318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E0D8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097E138-F3BD-4C4A-913F-CF9D2F9BD17D}"/>
              </a:ext>
            </a:extLst>
          </p:cNvPr>
          <p:cNvSpPr txBox="1"/>
          <p:nvPr/>
        </p:nvSpPr>
        <p:spPr>
          <a:xfrm>
            <a:off x="6705600" y="2489200"/>
            <a:ext cx="47752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14:m xmlns:a14="http://schemas.microsoft.com/office/drawing/2010/main">
              <m:oMath xmlns:m="http://schemas.openxmlformats.org/officeDocument/2006/math">
                <m:r>
                  <a:rPr lang="en-US" sz="13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r=</m:t>
                </m:r>
                <m:f>
                  <m:fPr>
                    <m:type m:val="skw"/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fPr>
                  <m:num>
                    <m:d>
                      <m:dPr>
                        <m:begChr m:val="‖"/>
                        <m:endChr m:val="‖"/>
                        <m:ctrlP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d>
                    <m:ctrlPr>
                      <a:rPr lang="en-US" sz="13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num>
                  <m:den>
                    <m:d>
                      <m:dPr>
                        <m:begChr m:val="‖"/>
                        <m:endChr m:val="‖"/>
                        <m:ctrlP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w+</m:t>
                        </m:r>
                        <m:r>
                          <a:rPr lang="en-US" sz="13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η·û</m:t>
                        </m:r>
                      </m:e>
                    </m:d>
                  </m:den>
                </m:f>
              </m:oMath>
            </a14:m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376DC4A-3CE9-4E98-B037-D46478C56C23}"/>
              </a:ext>
            </a:extLst>
          </p:cNvPr>
          <p:cNvSpPr txBox="1"/>
          <p:nvPr/>
        </p:nvSpPr>
        <p:spPr>
          <a:xfrm>
            <a:off x="6629400" y="2971800"/>
            <a:ext cx="4927600" cy="1117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•  Per-layer trust ratio rescales updates
•  Stabilizes large-batch training</a:t>
            </a:r>
            <a:endParaRPr lang="it-IT" sz="1300">
              <a:solidFill>
                <a:srgbClr val="1A1A1A"/>
              </a:solidFill>
            </a:endParaRP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33F2752E-4B78-4AA6-8BE6-2C1F716B6625}"/>
              </a:ext>
            </a:extLst>
          </p:cNvPr>
          <p:cNvSpPr/>
          <p:nvPr/>
        </p:nvSpPr>
        <p:spPr>
          <a:xfrm>
            <a:off x="774700" y="4419600"/>
            <a:ext cx="5461000" cy="1905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0C190373-C302-41D1-9940-E1B880411D34}"/>
              </a:ext>
            </a:extLst>
          </p:cNvPr>
          <p:cNvSpPr/>
          <p:nvPr/>
        </p:nvSpPr>
        <p:spPr>
          <a:xfrm>
            <a:off x="774700" y="4419600"/>
            <a:ext cx="5461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FA4289E-0D89-44BA-8875-3C65E66B821F}"/>
              </a:ext>
            </a:extLst>
          </p:cNvPr>
          <p:cNvSpPr txBox="1"/>
          <p:nvPr/>
        </p:nvSpPr>
        <p:spPr>
          <a:xfrm>
            <a:off x="977900" y="4597400"/>
            <a:ext cx="5054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Why LAMB for Perceiver?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30CEB059-A97C-466F-AB29-FFA750A435FB}"/>
              </a:ext>
            </a:extLst>
          </p:cNvPr>
          <p:cNvSpPr txBox="1"/>
          <p:nvPr/>
        </p:nvSpPr>
        <p:spPr>
          <a:xfrm>
            <a:off x="977900" y="4978400"/>
            <a:ext cx="50546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sz="1350">
                <a:solidFill>
                  <a:srgbClr val="1A1A1A"/>
                </a:solidFill>
              </a:rPr>
              <a:t>•  Cross-attention bottleneck creates high-variance gradients
•  Standard Adam can </a:t>
            </a:r>
            <a:r>
              <a:rPr sz="1350">
                <a:solidFill>
                  <a:srgbClr val="E67E22"/>
                </a:solidFill>
              </a:rPr>
              <a:t>destabilize</a:t>
            </a:r>
            <a:r>
              <a:rPr sz="1350">
                <a:solidFill>
                  <a:srgbClr val="1A1A1A"/>
                </a:solidFill>
              </a:rPr>
              <a:t> with large batches
•  LAMB safely scales batch sizes up to 1024</a:t>
            </a:r>
            <a:endParaRPr lang="it-IT" sz="1350">
              <a:solidFill>
                <a:srgbClr val="1A1A1A"/>
              </a:solidFill>
            </a:endParaRPr>
          </a:p>
        </p:txBody>
      </p:sp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BA0FA8DC-A44D-4264-AF36-3B349A008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240124"/>
              </p:ext>
            </p:extLst>
          </p:nvPr>
        </p:nvGraphicFramePr>
        <p:xfrm>
          <a:off x="6604000" y="4572000"/>
          <a:ext cx="51562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29276445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1395645051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178631137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Optimizer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Large Batches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Layer-wise LR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71059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it-IT" sz="1350" b="1"/>
                        <a:t>Adam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/>
                        <a:t>Diverges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/>
                        <a:t>Global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49307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it-IT" sz="1350" b="1"/>
                        <a:t>LAMB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/>
                        <a:t>Stable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/>
                        <a:t>Per-layer trust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607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688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2B6C5130-7381-342E-5503-746FBC4C35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F40C3C92-4410-B488-BCA8-DBAA8B65C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Implementation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DDF49AA-D4E1-4D81-9101-C962353B5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052732"/>
              </p:ext>
            </p:extLst>
          </p:nvPr>
        </p:nvGraphicFramePr>
        <p:xfrm>
          <a:off x="774700" y="1905000"/>
          <a:ext cx="109855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877833826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3694912139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32688575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Paper implementation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Project code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404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it-IT" sz="1300" b="1"/>
                        <a:t>Core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Cross-attention into learned latents, latent self-attention, FFN, weight sharing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Same modules; weight sharing exposed as an ablation switch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93154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it-IT" sz="1300" b="1"/>
                        <a:t>Model scale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Large vision/language: up to 512×1024 latents, 201M-param IO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CIFAR-10 96×384; ModelNet40 / text 128×512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44288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it-IT" sz="1300" b="1"/>
                        <a:t>Data setting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ImageNet, ModelNet40, large language pretraining corpora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CIFAR-10, ModelNet40, WikiText-103 byte-MLM, GLUE fine-tuning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75938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it-IT" sz="1300" b="1"/>
                        <a:t>Training budget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Distributed accelerators, batches up to 512–1024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Single-GPU, batches 32–128, LAMB retained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1709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it-IT" sz="1300" b="1"/>
                        <a:t>Practical additions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Minimal regularization in the reference setup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Dropout, logging, attention-map extraction, reproducible ablations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90109"/>
                  </a:ext>
                </a:extLst>
              </a:tr>
            </a:tbl>
          </a:graphicData>
        </a:graphic>
      </p:graphicFrame>
      <p:sp>
        <p:nvSpPr>
          <p:cNvPr id="7" name="Rettangolo 6">
            <a:extLst>
              <a:ext uri="{FF2B5EF4-FFF2-40B4-BE49-F238E27FC236}">
                <a16:creationId xmlns:a16="http://schemas.microsoft.com/office/drawing/2014/main" id="{7E379178-AF53-436F-9FD2-74FCEF7288EA}"/>
              </a:ext>
            </a:extLst>
          </p:cNvPr>
          <p:cNvSpPr/>
          <p:nvPr/>
        </p:nvSpPr>
        <p:spPr>
          <a:xfrm>
            <a:off x="774700" y="5918200"/>
            <a:ext cx="10985500" cy="508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38AA553-9171-4B72-87BF-080DB79195D3}"/>
              </a:ext>
            </a:extLst>
          </p:cNvPr>
          <p:cNvSpPr txBox="1"/>
          <p:nvPr/>
        </p:nvSpPr>
        <p:spPr>
          <a:xfrm>
            <a:off x="927100" y="5918200"/>
            <a:ext cx="106807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Architectural mechanism kept intact — the main differences are scale, data budget, and training resources.</a:t>
            </a:r>
            <a:endParaRPr lang="it-IT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115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7814846D-3C69-FBAE-BA41-62863F0FEA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322A58C-833F-AE54-1F85-A46BA5C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Differences from the Paper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AB861FC7-FE95-4252-846D-39EA7375C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407787"/>
              </p:ext>
            </p:extLst>
          </p:nvPr>
        </p:nvGraphicFramePr>
        <p:xfrm>
          <a:off x="774700" y="1905000"/>
          <a:ext cx="10985500" cy="3174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996801949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3852848313"/>
                    </a:ext>
                  </a:extLst>
                </a:gridCol>
                <a:gridCol w="4508500">
                  <a:extLst>
                    <a:ext uri="{9D8B030D-6E8A-4147-A177-3AD203B41FA5}">
                      <a16:colId xmlns:a16="http://schemas.microsoft.com/office/drawing/2014/main" val="386895830"/>
                    </a:ext>
                  </a:extLst>
                </a:gridCol>
              </a:tblGrid>
              <a:tr h="453571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Original paper (ImageNet)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This project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76113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rPr lang="it-IT" sz="1300" b="1"/>
                        <a:t>Input tokenization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Raw pixels, no patching (M = 50,176)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2×2 patch embedding (CIFAR-10, M = 256)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899230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rPr lang="it-IT" sz="1300" b="1"/>
                        <a:t>Latent array N × 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512 × 1024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96 × 384 (CIFAR-10); 128 × 512 (ModelNet40)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462970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rPr lang="it-IT" sz="1300" b="1"/>
                        <a:t>Cross-attend iterations 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4 (CIFAR-10); 2 (ModelNet40)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44139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rPr lang="it-IT" sz="1300" b="1"/>
                        <a:t>Positional encoding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2D Fourier, K = 64 bands/axis (258 dims)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2D Fourier, 64 dims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911983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rPr lang="it-IT" sz="1300" b="1"/>
                        <a:t>Weight sharing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On by default (shared across 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Exposed as an ablation switch (on/off)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907815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rPr lang="it-IT" sz="1300" b="1"/>
                        <a:t>Parameters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30–200M+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3.35M (CIFAR-10) – 10M (IO)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950605"/>
                  </a:ext>
                </a:extLst>
              </a:tr>
            </a:tbl>
          </a:graphicData>
        </a:graphic>
      </p:graphicFrame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03326576-8380-4413-BF42-6FA9EA4EDFC3}"/>
              </a:ext>
            </a:extLst>
          </p:cNvPr>
          <p:cNvSpPr/>
          <p:nvPr/>
        </p:nvSpPr>
        <p:spPr>
          <a:xfrm>
            <a:off x="774700" y="5308600"/>
            <a:ext cx="10985500" cy="1016000"/>
          </a:xfrm>
          <a:prstGeom prst="roundRect">
            <a:avLst/>
          </a:prstGeom>
          <a:solidFill>
            <a:srgbClr val="F7F4EE"/>
          </a:solidFill>
          <a:ln w="12700" cap="flat" cmpd="sng" algn="ctr">
            <a:solidFill>
              <a:srgbClr val="E0D8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AD89183-3781-4278-BD9B-8613BFC5E930}"/>
              </a:ext>
            </a:extLst>
          </p:cNvPr>
          <p:cNvSpPr txBox="1"/>
          <p:nvPr/>
        </p:nvSpPr>
        <p:spPr>
          <a:xfrm>
            <a:off x="977900" y="5410200"/>
            <a:ext cx="105791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400" b="1">
                <a:solidFill>
                  <a:srgbClr val="8A5A00"/>
                </a:solidFill>
              </a:rPr>
              <a:t>Core mechanism preserved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B9B4F7A-1904-4BA7-B3F1-467572A4A1E3}"/>
              </a:ext>
            </a:extLst>
          </p:cNvPr>
          <p:cNvSpPr txBox="1"/>
          <p:nvPr/>
        </p:nvSpPr>
        <p:spPr>
          <a:xfrm>
            <a:off x="977900" y="5715000"/>
            <a:ext cx="105791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00">
                <a:solidFill>
                  <a:srgbClr val="1A1A1A"/>
                </a:solidFill>
              </a:rPr>
              <a:t>Cross-attention bottleneck → weight-shared latent transformer → mean-pooling (Perceiver) / output-query decoder (IO); GELU MLP, pre-norm LayerNorm, Fourier frequencies linearly spaced to Nyquist.</a:t>
            </a:r>
          </a:p>
        </p:txBody>
      </p:sp>
    </p:spTree>
    <p:extLst>
      <p:ext uri="{BB962C8B-B14F-4D97-AF65-F5344CB8AC3E}">
        <p14:creationId xmlns:p14="http://schemas.microsoft.com/office/powerpoint/2010/main" val="3049060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94183F1-C67E-EF95-2B94-D1E940AC46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A7B49388-9D86-F260-6908-789925E2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CIFAR-10: Experimental Setup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BD168738-69FF-438E-914F-ECB88228A086}"/>
              </a:ext>
            </a:extLst>
          </p:cNvPr>
          <p:cNvSpPr/>
          <p:nvPr/>
        </p:nvSpPr>
        <p:spPr>
          <a:xfrm>
            <a:off x="774700" y="1905000"/>
            <a:ext cx="10985500" cy="508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48A741F-31C9-41C0-832A-E88DEF0D2A32}"/>
              </a:ext>
            </a:extLst>
          </p:cNvPr>
          <p:cNvSpPr txBox="1"/>
          <p:nvPr/>
        </p:nvSpPr>
        <p:spPr>
          <a:xfrm>
            <a:off x="927100" y="1905000"/>
            <a:ext cx="106807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Goal — validate the Perceiver on flattened pixel patches, with no convolutional assumptions.</a:t>
            </a:r>
            <a:endParaRPr lang="it-IT" sz="1400" b="1">
              <a:solidFill>
                <a:srgbClr val="FFFFFF"/>
              </a:solidFill>
            </a:endParaRP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5840AAA2-A9A3-4E7A-B931-3AA7BD0A1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60429"/>
              </p:ext>
            </p:extLst>
          </p:nvPr>
        </p:nvGraphicFramePr>
        <p:xfrm>
          <a:off x="774700" y="2540000"/>
          <a:ext cx="4572000" cy="3352800"/>
        </p:xfrm>
        <a:graphic>
          <a:graphicData uri="http://schemas.openxmlformats.org/drawingml/2006/table">
            <a:tbl>
              <a:tblPr/>
              <a:tblGrid>
                <a:gridCol w="2921000">
                  <a:extLst>
                    <a:ext uri="{9D8B030D-6E8A-4147-A177-3AD203B41FA5}">
                      <a16:colId xmlns:a16="http://schemas.microsoft.com/office/drawing/2014/main" val="369928727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653341468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Hyperparameter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1013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Latent dim (N × D)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96 × 384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47165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Cross-attn stages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4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933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Transformer blocks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4 (shared)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79323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Attention heads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3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2966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Patch size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2 × 2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0466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Dropout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0.2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1722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Optimizer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LAMB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74783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Learning rate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0.004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01466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Batch size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64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02642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Epochs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120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18443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Total parameters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∼3.35M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089898"/>
                  </a:ext>
                </a:extLst>
              </a:tr>
            </a:tbl>
          </a:graphicData>
        </a:graphic>
      </p:graphicFrame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0A0CA77B-0CDB-4EF5-A6C0-CE77B12FB594}"/>
              </a:ext>
            </a:extLst>
          </p:cNvPr>
          <p:cNvSpPr/>
          <p:nvPr/>
        </p:nvSpPr>
        <p:spPr>
          <a:xfrm>
            <a:off x="5588000" y="2540000"/>
            <a:ext cx="6172200" cy="1778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AE2F171-232B-42E8-95AC-65E3D039EBCC}"/>
              </a:ext>
            </a:extLst>
          </p:cNvPr>
          <p:cNvSpPr/>
          <p:nvPr/>
        </p:nvSpPr>
        <p:spPr>
          <a:xfrm>
            <a:off x="5588000" y="2540000"/>
            <a:ext cx="61722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2E721C8-B015-4786-8064-0F428C94A8FB}"/>
              </a:ext>
            </a:extLst>
          </p:cNvPr>
          <p:cNvSpPr txBox="1"/>
          <p:nvPr/>
        </p:nvSpPr>
        <p:spPr>
          <a:xfrm>
            <a:off x="5791200" y="2692400"/>
            <a:ext cx="5765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Ablation study plan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EC49465-5ECD-43C5-A193-5DEEE1465CBC}"/>
              </a:ext>
            </a:extLst>
          </p:cNvPr>
          <p:cNvSpPr txBox="1"/>
          <p:nvPr/>
        </p:nvSpPr>
        <p:spPr>
          <a:xfrm>
            <a:off x="5791200" y="3073400"/>
            <a:ext cx="5765800" cy="1117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50">
                <a:solidFill>
                  <a:srgbClr val="1A1A1A"/>
                </a:solidFill>
              </a:rPr>
              <a:t>1.  Impact of positional encoding
2.  Weight sharing vs no sharing
3.  Robustness to pixel permutation
4.  Best classifier-head configuration</a:t>
            </a:r>
            <a:endParaRPr lang="it-IT" sz="1350">
              <a:solidFill>
                <a:srgbClr val="1A1A1A"/>
              </a:solidFill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E5068167-75D2-44F5-8EAC-C4E1447149AA}"/>
              </a:ext>
            </a:extLst>
          </p:cNvPr>
          <p:cNvSpPr/>
          <p:nvPr/>
        </p:nvSpPr>
        <p:spPr>
          <a:xfrm>
            <a:off x="5588000" y="4470400"/>
            <a:ext cx="6172200" cy="1778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4BB4720-49C3-485A-B667-C5A87AD79507}"/>
              </a:ext>
            </a:extLst>
          </p:cNvPr>
          <p:cNvSpPr/>
          <p:nvPr/>
        </p:nvSpPr>
        <p:spPr>
          <a:xfrm>
            <a:off x="5588000" y="4470400"/>
            <a:ext cx="61722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1858717-60EE-4245-8A3B-89A4C317DB75}"/>
              </a:ext>
            </a:extLst>
          </p:cNvPr>
          <p:cNvSpPr txBox="1"/>
          <p:nvPr/>
        </p:nvSpPr>
        <p:spPr>
          <a:xfrm>
            <a:off x="5791200" y="4622800"/>
            <a:ext cx="5765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Data pipeline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2460AF1-EB2F-4060-A890-CAFAD2337FE1}"/>
              </a:ext>
            </a:extLst>
          </p:cNvPr>
          <p:cNvSpPr txBox="1"/>
          <p:nvPr/>
        </p:nvSpPr>
        <p:spPr>
          <a:xfrm>
            <a:off x="5791200" y="5003800"/>
            <a:ext cx="5765800" cy="1117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50">
                <a:solidFill>
                  <a:srgbClr val="1A1A1A"/>
                </a:solidFill>
              </a:rPr>
              <a:t>•  32×32 RGB → 2×2 patches  (M = 256 tokens, 12 channels)
•  2D Fourier PE  (64 features → input dim 76)
•  Augmentation: RandAugment (2 ops, magnitude 9)</a:t>
            </a:r>
          </a:p>
        </p:txBody>
      </p:sp>
    </p:spTree>
    <p:extLst>
      <p:ext uri="{BB962C8B-B14F-4D97-AF65-F5344CB8AC3E}">
        <p14:creationId xmlns:p14="http://schemas.microsoft.com/office/powerpoint/2010/main" val="1985290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253DDD4-E22F-6313-24C2-759FA11596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73B59942-C31B-8534-735E-31EC29FE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CIFAR-10: Ablation Accuracy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AE5621C-7E5B-439B-B3FD-94A61BCBB34F}"/>
              </a:ext>
            </a:extLst>
          </p:cNvPr>
          <p:cNvSpPr txBox="1"/>
          <p:nvPr/>
        </p:nvSpPr>
        <p:spPr>
          <a:xfrm>
            <a:off x="7360920" y="2286000"/>
            <a:ext cx="420624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Best Perceiver run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BF8DA89-8C63-49A8-9C0A-1EEA81016B7A}"/>
              </a:ext>
            </a:extLst>
          </p:cNvPr>
          <p:cNvSpPr txBox="1"/>
          <p:nvPr/>
        </p:nvSpPr>
        <p:spPr>
          <a:xfrm>
            <a:off x="7360920" y="2651760"/>
            <a:ext cx="420624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4400" b="1">
                <a:solidFill>
                  <a:srgbClr val="005293"/>
                </a:solidFill>
              </a:rPr>
              <a:t>78.12%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8FA9E9A-13A6-42CF-9A79-02C5E8BB1834}"/>
              </a:ext>
            </a:extLst>
          </p:cNvPr>
          <p:cNvSpPr txBox="1"/>
          <p:nvPr/>
        </p:nvSpPr>
        <p:spPr>
          <a:xfrm>
            <a:off x="7360920" y="4069080"/>
            <a:ext cx="420624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Measured comparisons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28B8A59-A68E-4617-A63E-C7DF73410842}"/>
              </a:ext>
            </a:extLst>
          </p:cNvPr>
          <p:cNvSpPr txBox="1"/>
          <p:nvPr/>
        </p:nvSpPr>
        <p:spPr>
          <a:xfrm>
            <a:off x="7360920" y="4480560"/>
            <a:ext cx="420624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</a:rPr>
              <a:t>•  No PE vs Fourier control:   −10.68 pp
•  No sharing vs WS control:   </a:t>
            </a:r>
            <a:r>
              <a:rPr sz="1400">
                <a:solidFill>
                  <a:srgbClr val="27AE60"/>
                </a:solidFill>
              </a:rPr>
              <a:t>+5.36 pp</a:t>
            </a:r>
            <a:r>
              <a:rPr sz="1400">
                <a:solidFill>
                  <a:srgbClr val="1A1A1A"/>
                </a:solidFill>
              </a:rPr>
              <a:t>
•  Fourier vs learned PE (fixed perm):   +0.52 pp</a:t>
            </a:r>
            <a:endParaRPr lang="it-IT" sz="1400">
              <a:solidFill>
                <a:srgbClr val="1A1A1A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EA988A2-EDF9-48EE-9189-A86FCCD6456F}"/>
              </a:ext>
            </a:extLst>
          </p:cNvPr>
          <p:cNvSpPr txBox="1"/>
          <p:nvPr/>
        </p:nvSpPr>
        <p:spPr>
          <a:xfrm>
            <a:off x="7360920" y="594360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100" i="1">
                <a:solidFill>
                  <a:srgbClr val="666666"/>
                </a:solidFill>
              </a:rPr>
              <a:t>Source: local experiment report — experiment_summary.csv</a:t>
            </a:r>
          </a:p>
        </p:txBody>
      </p:sp>
      <p:pic>
        <p:nvPicPr>
          <p:cNvPr id="13" name="Picture 12" descr="cifar10_ablation_cor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57400"/>
            <a:ext cx="6400800" cy="349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32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8E301CB-0925-2767-2648-640E05CF1D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8285F9B-6F24-6E49-3B72-A687E0E4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CIFAR-10: Ablation Matrix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29255FBF-0035-4772-9F65-5F22DE67C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217055"/>
              </p:ext>
            </p:extLst>
          </p:nvPr>
        </p:nvGraphicFramePr>
        <p:xfrm>
          <a:off x="774700" y="2057400"/>
          <a:ext cx="67310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55784313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16893633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0698134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178657087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51907346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2087376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Run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PE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Perm.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Sharing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78499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/>
                        <a:t>Fourier permuted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Fourier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yes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yes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3.35M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78.12%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61334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/>
                        <a:t>Learned PE permuted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learned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yes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yes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3.35M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77.60%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9817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/>
                        <a:t>No weight sharing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Fourier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8.67M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73.85%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1327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/>
                        <a:t>Fourier control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Fourier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yes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3.35M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72.02%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7622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/>
                        <a:t>Baseline Fourier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Fourier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3.35M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69.69%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85224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/>
                        <a:t>WS control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Fourier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no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yes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3.35M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68.49%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344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>
                          <a:solidFill>
                            <a:srgbClr val="E74C3C"/>
                          </a:solidFill>
                        </a:rPr>
                        <a:t>RGB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3.30M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>
                          <a:solidFill>
                            <a:srgbClr val="E74C3C"/>
                          </a:solidFill>
                        </a:rPr>
                        <a:t>61.34%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064072"/>
                  </a:ext>
                </a:extLst>
              </a:tr>
            </a:tbl>
          </a:graphicData>
        </a:graphic>
      </p:graphicFrame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A7B8A576-339E-4566-B0B9-04AD122731C3}"/>
              </a:ext>
            </a:extLst>
          </p:cNvPr>
          <p:cNvSpPr/>
          <p:nvPr/>
        </p:nvSpPr>
        <p:spPr>
          <a:xfrm>
            <a:off x="7950200" y="2057400"/>
            <a:ext cx="3810000" cy="12192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7A323B8-CCB5-401D-9BD1-9745FBF7692A}"/>
              </a:ext>
            </a:extLst>
          </p:cNvPr>
          <p:cNvSpPr/>
          <p:nvPr/>
        </p:nvSpPr>
        <p:spPr>
          <a:xfrm>
            <a:off x="7950200" y="2057400"/>
            <a:ext cx="3810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B1DC153-4734-4ADA-BB0C-9B60A6451782}"/>
              </a:ext>
            </a:extLst>
          </p:cNvPr>
          <p:cNvSpPr txBox="1"/>
          <p:nvPr/>
        </p:nvSpPr>
        <p:spPr>
          <a:xfrm>
            <a:off x="8128000" y="2184400"/>
            <a:ext cx="34544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400" b="1">
                <a:solidFill>
                  <a:srgbClr val="156082"/>
                </a:solidFill>
              </a:rPr>
              <a:t>Position signal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6306FAB-ED57-42DD-BECE-E98B31176494}"/>
              </a:ext>
            </a:extLst>
          </p:cNvPr>
          <p:cNvSpPr txBox="1"/>
          <p:nvPr/>
        </p:nvSpPr>
        <p:spPr>
          <a:xfrm>
            <a:off x="8128000" y="2489200"/>
            <a:ext cx="34544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Removing positional features costs 10.68 pp vs the Fourier control.</a:t>
            </a:r>
            <a:endParaRPr lang="it-IT" sz="1300">
              <a:solidFill>
                <a:srgbClr val="1A1A1A"/>
              </a:solidFill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D9B5702-9973-481F-AC34-F1EE1623B27C}"/>
              </a:ext>
            </a:extLst>
          </p:cNvPr>
          <p:cNvSpPr/>
          <p:nvPr/>
        </p:nvSpPr>
        <p:spPr>
          <a:xfrm>
            <a:off x="7950200" y="3378200"/>
            <a:ext cx="3810000" cy="12192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A5EE92F-3F0C-452B-BCCD-5E4F222AB076}"/>
              </a:ext>
            </a:extLst>
          </p:cNvPr>
          <p:cNvSpPr/>
          <p:nvPr/>
        </p:nvSpPr>
        <p:spPr>
          <a:xfrm>
            <a:off x="7950200" y="3378200"/>
            <a:ext cx="3810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EFA3D6D-3338-4358-8053-07073E9AF2E5}"/>
              </a:ext>
            </a:extLst>
          </p:cNvPr>
          <p:cNvSpPr txBox="1"/>
          <p:nvPr/>
        </p:nvSpPr>
        <p:spPr>
          <a:xfrm>
            <a:off x="8128000" y="3505200"/>
            <a:ext cx="34544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400" b="1">
                <a:solidFill>
                  <a:srgbClr val="156082"/>
                </a:solidFill>
              </a:rPr>
              <a:t>Capacity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0111935-9BEA-4749-9062-9AF0218BE455}"/>
              </a:ext>
            </a:extLst>
          </p:cNvPr>
          <p:cNvSpPr txBox="1"/>
          <p:nvPr/>
        </p:nvSpPr>
        <p:spPr>
          <a:xfrm>
            <a:off x="8128000" y="3810000"/>
            <a:ext cx="34544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Removing weight sharing adds 5.32M parameters for +5.36 pp.</a:t>
            </a:r>
            <a:endParaRPr lang="it-IT" sz="1300">
              <a:solidFill>
                <a:srgbClr val="1A1A1A"/>
              </a:solidFill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B4BF66F1-8FC3-4AB2-B01E-72B1616DF2C8}"/>
              </a:ext>
            </a:extLst>
          </p:cNvPr>
          <p:cNvSpPr/>
          <p:nvPr/>
        </p:nvSpPr>
        <p:spPr>
          <a:xfrm>
            <a:off x="7950200" y="4699000"/>
            <a:ext cx="3810000" cy="12192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E796F87-B59E-43EF-A864-7782DAB2674F}"/>
              </a:ext>
            </a:extLst>
          </p:cNvPr>
          <p:cNvSpPr/>
          <p:nvPr/>
        </p:nvSpPr>
        <p:spPr>
          <a:xfrm>
            <a:off x="7950200" y="4699000"/>
            <a:ext cx="3810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C6792ED-CE65-430E-85C0-F7C213D5E7AA}"/>
              </a:ext>
            </a:extLst>
          </p:cNvPr>
          <p:cNvSpPr txBox="1"/>
          <p:nvPr/>
        </p:nvSpPr>
        <p:spPr>
          <a:xfrm>
            <a:off x="8128000" y="4826000"/>
            <a:ext cx="34544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400" b="1">
                <a:solidFill>
                  <a:srgbClr val="156082"/>
                </a:solidFill>
              </a:rPr>
              <a:t>Permutation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476D6F5-7B52-4A29-B283-479B1E50326A}"/>
              </a:ext>
            </a:extLst>
          </p:cNvPr>
          <p:cNvSpPr txBox="1"/>
          <p:nvPr/>
        </p:nvSpPr>
        <p:spPr>
          <a:xfrm>
            <a:off x="8128000" y="5130800"/>
            <a:ext cx="34544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>
                <a:solidFill>
                  <a:srgbClr val="1A1A1A"/>
                </a:solidFill>
              </a:rPr>
              <a:t>A fixed permutation keeps the task learnable when coordinates are provided.</a:t>
            </a:r>
            <a:endParaRPr lang="it-IT" sz="130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006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89D7EB2-83FC-5494-B9B8-93DDF98272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9D65309-BC08-ADBE-CFAA-76F91D59C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960120"/>
            <a:ext cx="8796528" cy="850392"/>
          </a:xfrm>
        </p:spPr>
        <p:txBody>
          <a:bodyPr/>
          <a:lstStyle/>
          <a:p>
            <a:r>
              <a:rPr lang="it-IT">
                <a:solidFill/>
              </a:rPr>
              <a:t>CIFAR-10: Weight Sharing Trade-off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751AADC6-F0A2-4496-B928-516C470C8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587524"/>
              </p:ext>
            </p:extLst>
          </p:nvPr>
        </p:nvGraphicFramePr>
        <p:xfrm>
          <a:off x="6400800" y="2286000"/>
          <a:ext cx="5080000" cy="142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370752824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337431668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95138419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99306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Shared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/>
                        <a:t>3.35M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69.69%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73458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WS control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/>
                        <a:t>3.35M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68.49%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21332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No sharing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/>
                        <a:t>8.67M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73.85%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702868"/>
                  </a:ext>
                </a:extLst>
              </a:tr>
            </a:tbl>
          </a:graphicData>
        </a:graphic>
      </p:graphicFrame>
      <p:sp>
        <p:nvSpPr>
          <p:cNvPr id="11" name="CreamCallout 18"/>
          <p:cNvSpPr/>
          <p:nvPr/>
        </p:nvSpPr>
        <p:spPr>
          <a:xfrm>
            <a:off x="6400800" y="3794760"/>
            <a:ext cx="5029200" cy="1600200"/>
          </a:xfrm>
          <a:prstGeom prst="roundRect">
            <a:avLst/>
          </a:prstGeom>
          <a:solidFill>
            <a:srgbClr val="F7F4EE"/>
          </a:solidFill>
          <a:ln w="12700" cap="flat" cmpd="sng" algn="ctr">
            <a:solidFill>
              <a:srgbClr val="E0D8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6364CA1-1600-4B0B-943F-EBDF10B31780}"/>
              </a:ext>
            </a:extLst>
          </p:cNvPr>
          <p:cNvSpPr txBox="1"/>
          <p:nvPr/>
        </p:nvSpPr>
        <p:spPr>
          <a:xfrm>
            <a:off x="6583680" y="3886200"/>
            <a:ext cx="484632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8A5A00"/>
                </a:solidFill>
              </a:rPr>
              <a:t>Trade-off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9D5924A-C1B4-4B9E-A489-7D413CD3C4E5}"/>
              </a:ext>
            </a:extLst>
          </p:cNvPr>
          <p:cNvSpPr txBox="1"/>
          <p:nvPr/>
        </p:nvSpPr>
        <p:spPr>
          <a:xfrm>
            <a:off x="6583680" y="4251960"/>
            <a:ext cx="466344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1A1A1A"/>
                </a:solidFill>
              </a:rPr>
              <a:t>Dropping weight sharing trades parameters for accuracy: +5.36 pp at 2.59× the parameter count.</a:t>
            </a:r>
            <a:endParaRPr lang="it-IT" sz="1500">
              <a:solidFill>
                <a:srgbClr val="1A1A1A"/>
              </a:solidFill>
            </a:endParaRPr>
          </a:p>
        </p:txBody>
      </p:sp>
      <p:pic>
        <p:nvPicPr>
          <p:cNvPr id="10" name="Picture 9" descr="weight_sharing_tradeoff_cor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5486400" cy="316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70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7D1EDE7-C2E0-5FFF-7E86-35DCAE53D6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040F292-891D-635F-FB5D-B76AF9E7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CIFAR-10: Fixed-Permutation Test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50F43874-30B5-4058-8E79-DEFC47EDACC1}"/>
              </a:ext>
            </a:extLst>
          </p:cNvPr>
          <p:cNvSpPr/>
          <p:nvPr/>
        </p:nvSpPr>
        <p:spPr>
          <a:xfrm>
            <a:off x="774700" y="1905000"/>
            <a:ext cx="10985500" cy="508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4436386-1340-4945-BFA6-CDDB0172DB2E}"/>
              </a:ext>
            </a:extLst>
          </p:cNvPr>
          <p:cNvSpPr txBox="1"/>
          <p:nvPr/>
        </p:nvSpPr>
        <p:spPr>
          <a:xfrm>
            <a:off x="927100" y="1905000"/>
            <a:ext cx="106807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Experiment — train &amp; evaluate on pixels shuffled by a single fixed permutation σ (same σ throughout).</a:t>
            </a:r>
            <a:endParaRPr lang="it-IT" sz="1400" b="1">
              <a:solidFill>
                <a:srgbClr val="FFFFFF"/>
              </a:solidFill>
            </a:endParaRP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94BEE631-BBA4-40CB-ADA7-DB7E0B29C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39792"/>
              </p:ext>
            </p:extLst>
          </p:nvPr>
        </p:nvGraphicFramePr>
        <p:xfrm>
          <a:off x="774700" y="2616200"/>
          <a:ext cx="4826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128925959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53424304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89894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Fourier PE (natural order)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69.69%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80501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Fourier PE (permuted)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78.12%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99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Learned PE (permuted)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77.60%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434745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B27B01-CD59-477E-BE9F-B7169073B585}"/>
              </a:ext>
            </a:extLst>
          </p:cNvPr>
          <p:cNvSpPr txBox="1"/>
          <p:nvPr/>
        </p:nvSpPr>
        <p:spPr>
          <a:xfrm>
            <a:off x="774700" y="42672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 b="1">
                <a:solidFill>
                  <a:srgbClr val="0E2841"/>
                </a:solidFill>
              </a:rPr>
              <a:t>Permuted vs natural order:  +8.43 pp     •     Fourier vs learned (permuted):  +0.52 pp</a:t>
            </a:r>
            <a:endParaRPr lang="it-IT" sz="1300" b="1">
              <a:solidFill>
                <a:srgbClr val="0E2841"/>
              </a:solidFill>
            </a:endParaRP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16BB1E49-696B-471F-8D67-A66D54CE0842}"/>
              </a:ext>
            </a:extLst>
          </p:cNvPr>
          <p:cNvSpPr/>
          <p:nvPr/>
        </p:nvSpPr>
        <p:spPr>
          <a:xfrm>
            <a:off x="5969000" y="2616200"/>
            <a:ext cx="5791200" cy="2667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32BC58DB-1226-4CC5-BAED-16A2A5AD5315}"/>
              </a:ext>
            </a:extLst>
          </p:cNvPr>
          <p:cNvSpPr/>
          <p:nvPr/>
        </p:nvSpPr>
        <p:spPr>
          <a:xfrm>
            <a:off x="5969000" y="2616200"/>
            <a:ext cx="57912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565A9A9-5730-4620-B18F-490316F8D17D}"/>
              </a:ext>
            </a:extLst>
          </p:cNvPr>
          <p:cNvSpPr txBox="1"/>
          <p:nvPr/>
        </p:nvSpPr>
        <p:spPr>
          <a:xfrm>
            <a:off x="6172200" y="2768600"/>
            <a:ext cx="5384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Interpretation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0AC8F2F-3008-4355-8BAF-8630D08B693A}"/>
              </a:ext>
            </a:extLst>
          </p:cNvPr>
          <p:cNvSpPr txBox="1"/>
          <p:nvPr/>
        </p:nvSpPr>
        <p:spPr>
          <a:xfrm>
            <a:off x="6172200" y="3149600"/>
            <a:ext cx="5384800" cy="2006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•  No built-in 2D bias — position is read only from the PE
•  With a fixed σ in train &amp; test, it learns the layout from the Fourier features alone
•  Fourier PE stays slightly ahead of learned PE here
•  Read it as invariance, not a gain from shuffling — order carries no information, only the PE does</a:t>
            </a:r>
            <a:endParaRPr lang="it-IT" sz="1400">
              <a:solidFill>
                <a:srgbClr val="1A1A1A"/>
              </a:solidFill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A7B5B05E-6402-4C52-A2D4-0227CC0699B9}"/>
              </a:ext>
            </a:extLst>
          </p:cNvPr>
          <p:cNvSpPr/>
          <p:nvPr/>
        </p:nvSpPr>
        <p:spPr>
          <a:xfrm>
            <a:off x="774700" y="5384800"/>
            <a:ext cx="4826000" cy="7874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0334215-5D82-4914-8DB5-D8523D156A77}"/>
              </a:ext>
            </a:extLst>
          </p:cNvPr>
          <p:cNvSpPr txBox="1"/>
          <p:nvPr/>
        </p:nvSpPr>
        <p:spPr>
          <a:xfrm>
            <a:off x="952500" y="5384800"/>
            <a:ext cx="4470400" cy="787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Input order is not hard-coded — ordering information enters through positional features.</a:t>
            </a:r>
            <a:endParaRPr lang="it-IT" sz="1350" b="1">
              <a:solidFill>
                <a:srgbClr val="FFFFFF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C8F99A8-989F-4AB7-BC4C-331CE4D5E101}"/>
              </a:ext>
            </a:extLst>
          </p:cNvPr>
          <p:cNvSpPr txBox="1"/>
          <p:nvPr/>
        </p:nvSpPr>
        <p:spPr>
          <a:xfrm>
            <a:off x="5969000" y="5461000"/>
            <a:ext cx="57912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00" i="1">
                <a:solidFill>
                  <a:srgbClr val="666666"/>
                </a:solidFill>
              </a:rPr>
              <a:t>Note: the learned-PE run used a single cross-attention stage (vs 4); same parameter count.</a:t>
            </a:r>
            <a:endParaRPr lang="it-IT" sz="1200" i="1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801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E0615590-F725-8171-1A5D-4E0B5F2994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92D76022-1439-FF6E-EF50-BB885A2BD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CIFAR-10: Best Perceiver Configuration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9AA50EDA-ECDA-4183-A521-438C151A97F3}"/>
              </a:ext>
            </a:extLst>
          </p:cNvPr>
          <p:cNvGraphicFramePr>
            <a:graphicFrameLocks noGrp="1"/>
          </p:cNvGraphicFramePr>
          <p:nvPr/>
        </p:nvGraphicFramePr>
        <p:xfrm>
          <a:off x="6604000" y="2133600"/>
          <a:ext cx="51562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2200">
                  <a:extLst>
                    <a:ext uri="{9D8B030D-6E8A-4147-A177-3AD203B41FA5}">
                      <a16:colId xmlns:a16="http://schemas.microsoft.com/office/drawing/2014/main" val="297490098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1512726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529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Fourier PE, permuted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78.12%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2918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Learned PE, permuted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77.60%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2152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No weight sharing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73.85%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23004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Baseline Fourier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69.69%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118708"/>
                  </a:ext>
                </a:extLst>
              </a:tr>
            </a:tbl>
          </a:graphicData>
        </a:graphic>
      </p:graphicFrame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F16F15CB-FD7B-4915-B2AC-29FF6E79BC76}"/>
              </a:ext>
            </a:extLst>
          </p:cNvPr>
          <p:cNvSpPr/>
          <p:nvPr/>
        </p:nvSpPr>
        <p:spPr>
          <a:xfrm>
            <a:off x="6604000" y="4521200"/>
            <a:ext cx="5156200" cy="1651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09928F0-5296-414B-9F42-015526175369}"/>
              </a:ext>
            </a:extLst>
          </p:cNvPr>
          <p:cNvSpPr/>
          <p:nvPr/>
        </p:nvSpPr>
        <p:spPr>
          <a:xfrm>
            <a:off x="6604000" y="4521200"/>
            <a:ext cx="51562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9E4F1F2-2356-46E0-B37C-41CFE8752EF0}"/>
              </a:ext>
            </a:extLst>
          </p:cNvPr>
          <p:cNvSpPr txBox="1"/>
          <p:nvPr/>
        </p:nvSpPr>
        <p:spPr>
          <a:xfrm>
            <a:off x="6807200" y="4673600"/>
            <a:ext cx="474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Result pattern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CF4E53F-BDF2-4D47-9651-B8E2A8FBE15E}"/>
              </a:ext>
            </a:extLst>
          </p:cNvPr>
          <p:cNvSpPr txBox="1"/>
          <p:nvPr/>
        </p:nvSpPr>
        <p:spPr>
          <a:xfrm>
            <a:off x="6807200" y="5054600"/>
            <a:ext cx="47498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•  Fourier PE carries the spatial signal explicitly
•  Weight sharing is an efficiency–accuracy trade-off</a:t>
            </a:r>
            <a:endParaRPr lang="it-IT" sz="1400">
              <a:solidFill>
                <a:srgbClr val="1A1A1A"/>
              </a:solidFill>
            </a:endParaRPr>
          </a:p>
        </p:txBody>
      </p:sp>
      <p:graphicFrame>
        <p:nvGraphicFramePr>
          <p:cNvPr id="201" name="Chart 1"/>
          <p:cNvGraphicFramePr/>
          <p:nvPr/>
        </p:nvGraphicFramePr>
        <p:xfrm>
          <a:off x="508000" y="2006600"/>
          <a:ext cx="59690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9542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71E17C0-FA5B-19E3-B812-3F078F539A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370F5EA-2F90-AB60-78D2-BEC8EB83D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ModelNet40: Setup &amp; Results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074D5D02-1A74-4EFD-8FCF-AA4EB7105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101154"/>
              </p:ext>
            </p:extLst>
          </p:nvPr>
        </p:nvGraphicFramePr>
        <p:xfrm>
          <a:off x="774700" y="2222500"/>
          <a:ext cx="50800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00">
                  <a:extLst>
                    <a:ext uri="{9D8B030D-6E8A-4147-A177-3AD203B41FA5}">
                      <a16:colId xmlns:a16="http://schemas.microsoft.com/office/drawing/2014/main" val="1737125068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64955949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Hyperparameter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53029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Latent dim (N × 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128 × 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381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Cross-attn stages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83408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Transformer blocks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6 (shared)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75048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Points per object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2048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08935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Optimizer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LAMB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71928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Epochs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200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80362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Batch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471076"/>
                  </a:ext>
                </a:extLst>
              </a:tr>
            </a:tbl>
          </a:graphicData>
        </a:graphic>
      </p:graphicFrame>
      <p:sp>
        <p:nvSpPr>
          <p:cNvPr id="16" name="CreamCallout 21"/>
          <p:cNvSpPr/>
          <p:nvPr/>
        </p:nvSpPr>
        <p:spPr>
          <a:xfrm>
            <a:off x="6309360" y="5410200"/>
            <a:ext cx="5394960" cy="567000"/>
          </a:xfrm>
          <a:prstGeom prst="roundRect">
            <a:avLst/>
          </a:prstGeom>
          <a:solidFill>
            <a:srgbClr val="F7F4EE"/>
          </a:solidFill>
          <a:ln w="12700" cap="flat" cmpd="sng" algn="ctr">
            <a:solidFill>
              <a:srgbClr val="E0D8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FDBF4F93-1843-4452-8E53-5DF1944ECFA0}"/>
              </a:ext>
            </a:extLst>
          </p:cNvPr>
          <p:cNvSpPr txBox="1"/>
          <p:nvPr/>
        </p:nvSpPr>
        <p:spPr>
          <a:xfrm>
            <a:off x="6492240" y="5410200"/>
            <a:ext cx="5120640" cy="56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b="1">
                <a:solidFill>
                  <a:srgbClr val="8A5A00"/>
                </a:solidFill>
              </a:rPr>
              <a:t>Reproduction gap:  1.46 pp</a:t>
            </a:r>
          </a:p>
        </p:txBody>
      </p:sp>
      <p:pic>
        <p:nvPicPr>
          <p:cNvPr id="15" name="Picture 14" descr="modelnet40_cor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21992"/>
            <a:ext cx="5394960" cy="311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F5917EC8-564E-215C-942F-AF895CB711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4BE50393-C91B-40C7-E512-7247374C7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ModelNet40: Augmentation Effects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7FC430A1-1D2A-4B16-912C-87E78CEBE21B}"/>
              </a:ext>
            </a:extLst>
          </p:cNvPr>
          <p:cNvSpPr/>
          <p:nvPr/>
        </p:nvSpPr>
        <p:spPr>
          <a:xfrm>
            <a:off x="6604000" y="2095500"/>
            <a:ext cx="5156200" cy="14605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9DDBEA0-4B5E-4D13-9373-1073B56AD27F}"/>
              </a:ext>
            </a:extLst>
          </p:cNvPr>
          <p:cNvSpPr/>
          <p:nvPr/>
        </p:nvSpPr>
        <p:spPr>
          <a:xfrm>
            <a:off x="6604000" y="2095500"/>
            <a:ext cx="51562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6A56D3C-3FB8-4292-A5DA-EA5BFE7E3457}"/>
              </a:ext>
            </a:extLst>
          </p:cNvPr>
          <p:cNvSpPr txBox="1"/>
          <p:nvPr/>
        </p:nvSpPr>
        <p:spPr>
          <a:xfrm>
            <a:off x="6807200" y="2247900"/>
            <a:ext cx="474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Measured deltas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F05E15B-0AE7-4858-994F-895CDF0D7300}"/>
              </a:ext>
            </a:extLst>
          </p:cNvPr>
          <p:cNvSpPr txBox="1"/>
          <p:nvPr/>
        </p:nvSpPr>
        <p:spPr>
          <a:xfrm>
            <a:off x="6807200" y="2628900"/>
            <a:ext cx="4749800" cy="800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50">
                <a:solidFill>
                  <a:srgbClr val="1A1A1A"/>
                </a:solidFill>
              </a:rPr>
              <a:t>Scale baseline:  84.24%
+ translation:  −0.57 pp
+ rotation:  −1.10 pp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A1BFAB51-40C4-4E7D-A7F4-48C44F1C3B50}"/>
              </a:ext>
            </a:extLst>
          </p:cNvPr>
          <p:cNvSpPr/>
          <p:nvPr/>
        </p:nvSpPr>
        <p:spPr>
          <a:xfrm>
            <a:off x="6604000" y="3683000"/>
            <a:ext cx="5156200" cy="1651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76817AE-5F17-4D2C-8917-E549D1632D2F}"/>
              </a:ext>
            </a:extLst>
          </p:cNvPr>
          <p:cNvSpPr/>
          <p:nvPr/>
        </p:nvSpPr>
        <p:spPr>
          <a:xfrm>
            <a:off x="6604000" y="3683000"/>
            <a:ext cx="51562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3286A74-16EB-4B37-86DA-B2103565C273}"/>
              </a:ext>
            </a:extLst>
          </p:cNvPr>
          <p:cNvSpPr txBox="1"/>
          <p:nvPr/>
        </p:nvSpPr>
        <p:spPr>
          <a:xfrm>
            <a:off x="6807200" y="3835400"/>
            <a:ext cx="47498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Likely factors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ED663FB-A454-4899-AACF-70E91E917F98}"/>
              </a:ext>
            </a:extLst>
          </p:cNvPr>
          <p:cNvSpPr txBox="1"/>
          <p:nvPr/>
        </p:nvSpPr>
        <p:spPr>
          <a:xfrm>
            <a:off x="6807200" y="4216400"/>
            <a:ext cx="4749800" cy="990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50">
                <a:solidFill>
                  <a:srgbClr val="1A1A1A"/>
                </a:solidFill>
              </a:rPr>
              <a:t>•  3D Fourier PE already exposes coordinates
•  ModelNet40 objects are already centred
•  Extra variation did not help this run</a:t>
            </a:r>
            <a:endParaRPr lang="it-IT" sz="1350">
              <a:solidFill>
                <a:srgbClr val="1A1A1A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029DC25-C723-42EE-95E9-2ADFFD2C9CA7}"/>
              </a:ext>
            </a:extLst>
          </p:cNvPr>
          <p:cNvSpPr/>
          <p:nvPr/>
        </p:nvSpPr>
        <p:spPr>
          <a:xfrm>
            <a:off x="6604000" y="5461000"/>
            <a:ext cx="5156200" cy="584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5A7F119-4D58-4B56-8434-6F4C8624380C}"/>
              </a:ext>
            </a:extLst>
          </p:cNvPr>
          <p:cNvSpPr txBox="1"/>
          <p:nvPr/>
        </p:nvSpPr>
        <p:spPr>
          <a:xfrm>
            <a:off x="6756400" y="5461000"/>
            <a:ext cx="48514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Paper 85.70%   ·   gap 1.46 pp from the scale baseline</a:t>
            </a:r>
            <a:endParaRPr lang="it-IT" sz="1350" b="1">
              <a:solidFill>
                <a:srgbClr val="FFFFFF"/>
              </a:solidFill>
            </a:endParaRPr>
          </a:p>
        </p:txBody>
      </p:sp>
      <p:graphicFrame>
        <p:nvGraphicFramePr>
          <p:cNvPr id="201" name="Chart 1"/>
          <p:cNvGraphicFramePr/>
          <p:nvPr/>
        </p:nvGraphicFramePr>
        <p:xfrm>
          <a:off x="508000" y="2006600"/>
          <a:ext cx="59690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4111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E644E18-CCB2-C2AD-9746-E8A288A002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B75DF537-2678-9BAD-F039-41828B77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Perceiver IO: Structured Outputs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E0FCF3E-1DE1-4C16-8F8A-DB73AD12C871}"/>
              </a:ext>
            </a:extLst>
          </p:cNvPr>
          <p:cNvSpPr txBox="1"/>
          <p:nvPr/>
        </p:nvSpPr>
        <p:spPr>
          <a:xfrm>
            <a:off x="914400" y="1874519"/>
            <a:ext cx="105156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1A1A1A"/>
                </a:solidFill>
              </a:rPr>
              <a:t>Perceiver IO — an extension of Perceiver  (Jaegle et al., ICLR 2022)</a:t>
            </a:r>
            <a:endParaRPr lang="it-IT" sz="1500" b="1">
              <a:solidFill>
                <a:srgbClr val="FFFFFF"/>
              </a:solidFill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6D30B72-4276-45DE-BA49-980518D24C5A}"/>
              </a:ext>
            </a:extLst>
          </p:cNvPr>
          <p:cNvSpPr txBox="1"/>
          <p:nvPr/>
        </p:nvSpPr>
        <p:spPr>
          <a:xfrm>
            <a:off x="914400" y="5212080"/>
            <a:ext cx="10515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Why it matters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F7FC960-9F35-4887-A86A-9EBB8FCE6F6D}"/>
              </a:ext>
            </a:extLst>
          </p:cNvPr>
          <p:cNvSpPr txBox="1"/>
          <p:nvPr/>
        </p:nvSpPr>
        <p:spPr>
          <a:xfrm>
            <a:off x="914400" y="5532120"/>
            <a:ext cx="10515600" cy="787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•  Original Perceiver emits one pooled global output      •  Perceiver IO produces a task-specific output shape
•  Same latent bottleneck, but a more general decoder</a:t>
            </a:r>
            <a:endParaRPr lang="it-IT" sz="1400">
              <a:solidFill>
                <a:srgbClr val="1A1A1A"/>
              </a:solidFill>
            </a:endParaRPr>
          </a:p>
        </p:txBody>
      </p:sp>
      <p:pic>
        <p:nvPicPr>
          <p:cNvPr id="24" name="Picture 23" descr="perceiverio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377440"/>
            <a:ext cx="9144000" cy="268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57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2BFF886F-7887-8610-A768-E96DB178E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FD4D849B-68AD-F0B0-0D9C-CBDAA9914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/>
              </a:rPr>
              <a:t>Perceiver IO Decoder with Output Queries</a:t>
            </a:r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DA88F5F-7767-4976-9730-BC757B61ED42}"/>
              </a:ext>
            </a:extLst>
          </p:cNvPr>
          <p:cNvSpPr txBox="1"/>
          <p:nvPr/>
        </p:nvSpPr>
        <p:spPr>
          <a:xfrm>
            <a:off x="868680" y="4480560"/>
            <a:ext cx="59436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Decoder cross-attention  (single layer)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0372291-78A1-45AC-8C5F-BF0F391F5BFA}"/>
              </a:ext>
            </a:extLst>
          </p:cNvPr>
          <p:cNvSpPr txBox="1"/>
          <p:nvPr/>
        </p:nvSpPr>
        <p:spPr>
          <a:xfrm>
            <a:off x="868680" y="4846320"/>
            <a:ext cx="5943600" cy="2489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Q</m:t>
                    </m:r>
                  </m:e>
                  <m:sub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dec</m:t>
                    </m:r>
                  </m:sub>
                </m:sSub>
                <m:r>
                  <a:rPr lang="en-US" sz="15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nor/>
                  </m:rPr>
                  <a:rPr lang="en-US" sz="1500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OutputQuery</m:t>
                </m:r>
                <m:r>
                  <a:rPr lang="en-US" sz="15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·</m:t>
                </m:r>
                <m:sSub>
                  <m:sSubPr>
                    <m:ctrlP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W</m:t>
                    </m:r>
                  </m:e>
                  <m:sub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Q</m:t>
                    </m:r>
                  </m:sub>
                </m:sSub>
              </m:oMath>
            </a14:m>
          </a:p>
          <a:p>
            <a:pPr algn="l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K</m:t>
                    </m:r>
                  </m:e>
                  <m:sub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dec</m:t>
                    </m:r>
                  </m:sub>
                </m:sSub>
                <m:r>
                  <a:rPr lang="en-US" sz="15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nor/>
                  </m:rPr>
                  <a:rPr lang="en-US" sz="1500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Latent</m:t>
                </m:r>
                <m:r>
                  <a:rPr lang="en-US" sz="15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·</m:t>
                </m:r>
                <m:sSub>
                  <m:sSubPr>
                    <m:ctrlP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W</m:t>
                    </m:r>
                  </m:e>
                  <m:sub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K</m:t>
                    </m:r>
                  </m:sub>
                </m:sSub>
              </m:oMath>
            </a14:m>
          </a:p>
          <a:p>
            <a:pPr algn="l"/>
            <a14:m xmlns:a14="http://schemas.microsoft.com/office/drawing/2010/main">
              <m:oMath xmlns:m="http://schemas.openxmlformats.org/officeDocument/2006/math">
                <m:sSub>
                  <m:sSubPr>
                    <m:ctrlP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dec</m:t>
                    </m:r>
                  </m:sub>
                </m:sSub>
                <m:r>
                  <a:rPr lang="en-US" sz="15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nor/>
                  </m:rPr>
                  <a:rPr lang="en-US" sz="1500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Latent</m:t>
                </m:r>
                <m:r>
                  <a:rPr lang="en-US" sz="15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·</m:t>
                </m:r>
                <m:sSub>
                  <m:sSubPr>
                    <m:ctrlP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W</m:t>
                    </m:r>
                  </m:e>
                  <m:sub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V</m:t>
                    </m:r>
                  </m:sub>
                </m:sSub>
              </m:oMath>
            </a14:m>
          </a:p>
          <a:p>
            <a:pPr algn="l"/>
            <a14:m xmlns:a14="http://schemas.microsoft.com/office/drawing/2010/main">
              <m:oMath xmlns:m="http://schemas.openxmlformats.org/officeDocument/2006/math">
                <m:r>
                  <m:rPr>
                    <m:nor/>
                  </m:rPr>
                  <a:rPr lang="en-US" sz="1500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Output</m:t>
                </m:r>
                <m:r>
                  <a:rPr lang="en-US" sz="15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=</m:t>
                </m:r>
                <m:r>
                  <m:rPr>
                    <m:nor/>
                  </m:rPr>
                  <a:rPr lang="en-US" sz="1500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softmax</m:t>
                </m:r>
                <m:d>
                  <m:dPr>
                    <m:ctrlP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dPr>
                  <m:e>
                    <m:f>
                      <m:fPr>
                        <m:ctrlPr>
                          <a:rPr lang="en-US" sz="15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5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5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sz="15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  <m:t>dec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15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5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a:rPr lang="en-US" sz="15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  <m:t>dec</m:t>
                            </m:r>
                          </m:sub>
                          <m:sup>
                            <m:r>
                              <a:rPr lang="en-US" sz="15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bSup>
                      </m:num>
                      <m:den>
                        <m:rad>
                          <m:radPr>
                            <m:degHide m:val="1"/>
                            <m:ctrlPr>
                              <a:rPr lang="en-US" sz="15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1500" i="1" dirty="0">
                                    <a:solidFill>
                                      <a:srgbClr val="1A1A1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500" i="1" dirty="0">
                                    <a:solidFill>
                                      <a:srgbClr val="1A1A1A"/>
                                    </a:solidFill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500" i="1" dirty="0">
                                    <a:solidFill>
                                      <a:srgbClr val="1A1A1A"/>
                                    </a:solidFill>
                                    <a:latin typeface="Cambria Math" panose="02040503050406030204" pitchFamily="18" charset="0"/>
                                  </a:rPr>
                                  <m:t>k</m:t>
                                </m:r>
                              </m:sub>
                            </m:sSub>
                          </m:e>
                        </m:rad>
                      </m:den>
                    </m:f>
                  </m:e>
                </m:d>
                <m:r>
                  <a:rPr lang="en-US" sz="15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·</m:t>
                </m:r>
                <m:sSub>
                  <m:sSubPr>
                    <m:ctrlP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V</m:t>
                    </m:r>
                  </m:e>
                  <m:sub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dec</m:t>
                    </m:r>
                  </m:sub>
                </m:sSub>
              </m:oMath>
            </a14:m>
          </a:p>
          <a:p>
            <a:pPr algn="l" marL="457200" indent="0"/>
            <a14:m xmlns:a14="http://schemas.microsoft.com/office/drawing/2010/main">
              <m:oMath xmlns:m="http://schemas.openxmlformats.org/officeDocument/2006/math">
                <m:r>
                  <a:rPr lang="en-US" sz="15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lang="en-US" sz="150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 xml:space="preserve"> </m:t>
                </m:r>
                <m:sSup>
                  <m:sSupPr>
                    <m:ctrlP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m:rPr>
                        <m:scr m:val="double-struck"/>
                      </m:rP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R</m:t>
                    </m:r>
                  </m:e>
                  <m:sup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5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D</m:t>
                    </m:r>
                  </m:sup>
                </m:sSup>
              </m:oMath>
            </a14:m>
          </a:p>
          <a:p>
            <a:pPr algn="l"/>
            <a:r>
              <a:rPr lang="en-US" sz="1100" dirty="0">
                <a:solidFill>
                  <a:srgbClr val="555555"/>
                </a:solidFill>
                <a:latin typeface="Aptos"/>
              </a:rPr>
              <a:t>(a task head then maps O×D → output logits)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6BEB392-35AB-41EA-8486-0A62AF57EB98}"/>
              </a:ext>
            </a:extLst>
          </p:cNvPr>
          <p:cNvSpPr txBox="1"/>
          <p:nvPr/>
        </p:nvSpPr>
        <p:spPr>
          <a:xfrm>
            <a:off x="7040880" y="4480560"/>
            <a:ext cx="438912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Key points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C617458-B32D-4D48-A296-0860BC647F48}"/>
              </a:ext>
            </a:extLst>
          </p:cNvPr>
          <p:cNvSpPr txBox="1"/>
          <p:nvPr/>
        </p:nvSpPr>
        <p:spPr>
          <a:xfrm>
            <a:off x="7040880" y="4846320"/>
            <a:ext cx="4389120" cy="2413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•  Number of output queries O is task-dependent — independent of N and M
•  A single decoder cross-attention layer suffices
•  No self-attention among the outputs</a:t>
            </a:r>
            <a:endParaRPr lang="it-IT" sz="1400">
              <a:solidFill>
                <a:srgbClr val="1A1A1A"/>
              </a:solidFill>
            </a:endParaRPr>
          </a:p>
        </p:txBody>
      </p:sp>
      <p:pic>
        <p:nvPicPr>
          <p:cNvPr id="12" name="Picture 11" descr="perceiver_io_deco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011680"/>
            <a:ext cx="9144000" cy="234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51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2862408-EDA8-E13B-45BB-772B8EED2E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E8EEAD83-2658-89AE-32BD-2A8A0379C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 Query Design per Task</a:t>
            </a:r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22587075-04AC-4C2C-B3F6-551F8EAFB20B}"/>
              </a:ext>
            </a:extLst>
          </p:cNvPr>
          <p:cNvSpPr/>
          <p:nvPr/>
        </p:nvSpPr>
        <p:spPr>
          <a:xfrm>
            <a:off x="774700" y="1905000"/>
            <a:ext cx="10985500" cy="5588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A3ADB92-D973-4F91-872E-F8E213B744F9}"/>
              </a:ext>
            </a:extLst>
          </p:cNvPr>
          <p:cNvSpPr txBox="1"/>
          <p:nvPr/>
        </p:nvSpPr>
        <p:spPr>
          <a:xfrm>
            <a:off x="927100" y="1905000"/>
            <a:ext cx="106807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All heads read the same final latent array  Z</a:t>
            </a:r>
            <a:r>
              <a:rPr sz="1125" b="1" baseline="30000">
                <a:solidFill>
                  <a:srgbClr val="FFFFFF"/>
                </a:solidFill>
              </a:rPr>
              <a:t>(L)</a:t>
            </a:r>
            <a:r>
              <a:rPr sz="1500" b="1">
                <a:solidFill>
                  <a:srgbClr val="FFFFFF"/>
                </a:solidFill>
              </a:rPr>
              <a:t> ∈ ℝ</a:t>
            </a:r>
            <a:r>
              <a:rPr sz="1125" b="1" baseline="30000">
                <a:solidFill>
                  <a:srgbClr val="FFFFFF"/>
                </a:solidFill>
              </a:rPr>
              <a:t>N×D</a:t>
            </a:r>
            <a:r>
              <a:rPr sz="1500" b="1">
                <a:solidFill>
                  <a:srgbClr val="FFFFFF"/>
                </a:solidFill>
              </a:rPr>
              <a:t>  via decoder cross-attention.</a:t>
            </a:r>
            <a:endParaRPr lang="it-IT" sz="1500" b="1">
              <a:solidFill>
                <a:srgbClr val="FFFFFF"/>
              </a:solidFill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DF257F80-3855-4F37-B1FC-7AE8997DA125}"/>
              </a:ext>
            </a:extLst>
          </p:cNvPr>
          <p:cNvSpPr/>
          <p:nvPr/>
        </p:nvSpPr>
        <p:spPr>
          <a:xfrm>
            <a:off x="774700" y="2717800"/>
            <a:ext cx="3492500" cy="3429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3D5F9A2-9FCC-49DF-B285-8EE0A75BC672}"/>
              </a:ext>
            </a:extLst>
          </p:cNvPr>
          <p:cNvSpPr/>
          <p:nvPr/>
        </p:nvSpPr>
        <p:spPr>
          <a:xfrm>
            <a:off x="774700" y="2717800"/>
            <a:ext cx="34925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F426CF-0455-4F9B-B0A5-D90BEA89CD40}"/>
              </a:ext>
            </a:extLst>
          </p:cNvPr>
          <p:cNvSpPr txBox="1"/>
          <p:nvPr/>
        </p:nvSpPr>
        <p:spPr>
          <a:xfrm>
            <a:off x="977900" y="2946400"/>
            <a:ext cx="30861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700" b="1">
                <a:solidFill>
                  <a:srgbClr val="156082"/>
                </a:solidFill>
              </a:rPr>
              <a:t>Classification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9A346E14-BB6E-4B26-AFDC-EB4480C684C1}"/>
              </a:ext>
            </a:extLst>
          </p:cNvPr>
          <p:cNvSpPr/>
          <p:nvPr/>
        </p:nvSpPr>
        <p:spPr>
          <a:xfrm>
            <a:off x="977900" y="3403600"/>
            <a:ext cx="3086100" cy="508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2EA2AB5-4FD4-4150-BD8A-09C1ACEF387E}"/>
              </a:ext>
            </a:extLst>
          </p:cNvPr>
          <p:cNvSpPr txBox="1"/>
          <p:nvPr/>
        </p:nvSpPr>
        <p:spPr>
          <a:xfrm>
            <a:off x="977900" y="3403600"/>
            <a:ext cx="30861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700" b="1">
                <a:solidFill>
                  <a:srgbClr val="FFFFFF"/>
                </a:solidFill>
              </a:rPr>
              <a:t>O = 1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DA2084F-93AC-4C5D-90A6-E2067AA53D26}"/>
              </a:ext>
            </a:extLst>
          </p:cNvPr>
          <p:cNvSpPr txBox="1"/>
          <p:nvPr/>
        </p:nvSpPr>
        <p:spPr>
          <a:xfrm>
            <a:off x="977900" y="4038600"/>
            <a:ext cx="30861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0E2841"/>
                </a:solidFill>
              </a:rPr>
              <a:t>→  class logits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1BE07FC-D8B9-4CB4-9E63-9FDDE6D9CFAE}"/>
              </a:ext>
            </a:extLst>
          </p:cNvPr>
          <p:cNvSpPr txBox="1"/>
          <p:nvPr/>
        </p:nvSpPr>
        <p:spPr>
          <a:xfrm>
            <a:off x="977900" y="4495800"/>
            <a:ext cx="30861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One learned query produces a single global prediction.</a:t>
            </a:r>
            <a:endParaRPr lang="it-IT" sz="1400">
              <a:solidFill>
                <a:srgbClr val="1A1A1A"/>
              </a:solidFill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68B619D1-8C29-487D-ACB8-A1A294268D94}"/>
              </a:ext>
            </a:extLst>
          </p:cNvPr>
          <p:cNvSpPr/>
          <p:nvPr/>
        </p:nvSpPr>
        <p:spPr>
          <a:xfrm>
            <a:off x="4521200" y="2717800"/>
            <a:ext cx="3492500" cy="3429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F46757F-BD26-4116-BC52-80D7B7D29B5F}"/>
              </a:ext>
            </a:extLst>
          </p:cNvPr>
          <p:cNvSpPr/>
          <p:nvPr/>
        </p:nvSpPr>
        <p:spPr>
          <a:xfrm>
            <a:off x="4521200" y="2717800"/>
            <a:ext cx="34925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8124CCB-FBB8-41C9-8DDA-F09D96CC71E0}"/>
              </a:ext>
            </a:extLst>
          </p:cNvPr>
          <p:cNvSpPr txBox="1"/>
          <p:nvPr/>
        </p:nvSpPr>
        <p:spPr>
          <a:xfrm>
            <a:off x="4724400" y="2946400"/>
            <a:ext cx="30861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700" b="1">
                <a:solidFill>
                  <a:srgbClr val="156082"/>
                </a:solidFill>
              </a:rPr>
              <a:t>Dense outputs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E4F25FDF-DE66-4524-A1B2-87FB350A3504}"/>
              </a:ext>
            </a:extLst>
          </p:cNvPr>
          <p:cNvSpPr/>
          <p:nvPr/>
        </p:nvSpPr>
        <p:spPr>
          <a:xfrm>
            <a:off x="4724400" y="3403600"/>
            <a:ext cx="3086100" cy="508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33FBD0E-0277-4861-82FC-EC795DD1CFAF}"/>
              </a:ext>
            </a:extLst>
          </p:cNvPr>
          <p:cNvSpPr txBox="1"/>
          <p:nvPr/>
        </p:nvSpPr>
        <p:spPr>
          <a:xfrm>
            <a:off x="4724400" y="3403600"/>
            <a:ext cx="30861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700" b="1">
                <a:solidFill>
                  <a:srgbClr val="FFFFFF"/>
                </a:solidFill>
              </a:rPr>
              <a:t>O = H × W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871A561-66EB-4D82-9A94-57D7BA2EB654}"/>
              </a:ext>
            </a:extLst>
          </p:cNvPr>
          <p:cNvSpPr txBox="1"/>
          <p:nvPr/>
        </p:nvSpPr>
        <p:spPr>
          <a:xfrm>
            <a:off x="4724400" y="4038600"/>
            <a:ext cx="30861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0E2841"/>
                </a:solidFill>
              </a:rPr>
              <a:t>→  dense output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63013F2-FE53-49D1-BC02-E1D9A8AB5143}"/>
              </a:ext>
            </a:extLst>
          </p:cNvPr>
          <p:cNvSpPr txBox="1"/>
          <p:nvPr/>
        </p:nvSpPr>
        <p:spPr>
          <a:xfrm>
            <a:off x="4724400" y="4495800"/>
            <a:ext cx="30861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Output shape is controlled directly by the query array.</a:t>
            </a:r>
            <a:endParaRPr lang="it-IT" sz="1400">
              <a:solidFill>
                <a:srgbClr val="1A1A1A"/>
              </a:solidFill>
            </a:endParaRP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22E1CC88-7E8C-45C5-998F-EDF752A750DF}"/>
              </a:ext>
            </a:extLst>
          </p:cNvPr>
          <p:cNvSpPr/>
          <p:nvPr/>
        </p:nvSpPr>
        <p:spPr>
          <a:xfrm>
            <a:off x="8267700" y="2717800"/>
            <a:ext cx="3492500" cy="3429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74848201-7EE2-42DE-A943-4B232C06E2F3}"/>
              </a:ext>
            </a:extLst>
          </p:cNvPr>
          <p:cNvSpPr/>
          <p:nvPr/>
        </p:nvSpPr>
        <p:spPr>
          <a:xfrm>
            <a:off x="8267700" y="2717800"/>
            <a:ext cx="34925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B2B6AA2-47C2-43FF-9020-F22CC98F37E2}"/>
              </a:ext>
            </a:extLst>
          </p:cNvPr>
          <p:cNvSpPr txBox="1"/>
          <p:nvPr/>
        </p:nvSpPr>
        <p:spPr>
          <a:xfrm>
            <a:off x="8470900" y="2946400"/>
            <a:ext cx="30861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700" b="1">
                <a:solidFill>
                  <a:srgbClr val="156082"/>
                </a:solidFill>
              </a:rPr>
              <a:t>Masked LM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9E7D0A50-2521-44C0-B21E-493B2AE372AF}"/>
              </a:ext>
            </a:extLst>
          </p:cNvPr>
          <p:cNvSpPr/>
          <p:nvPr/>
        </p:nvSpPr>
        <p:spPr>
          <a:xfrm>
            <a:off x="8470900" y="3403600"/>
            <a:ext cx="3086100" cy="508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3BE41D2-C4D1-4C67-8FFA-F5C023D963BB}"/>
              </a:ext>
            </a:extLst>
          </p:cNvPr>
          <p:cNvSpPr txBox="1"/>
          <p:nvPr/>
        </p:nvSpPr>
        <p:spPr>
          <a:xfrm>
            <a:off x="8470900" y="3403600"/>
            <a:ext cx="30861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700" b="1">
                <a:solidFill>
                  <a:srgbClr val="FFFFFF"/>
                </a:solidFill>
              </a:rPr>
              <a:t>O = M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E316596-751C-46F0-92D4-A4013DB6B55B}"/>
              </a:ext>
            </a:extLst>
          </p:cNvPr>
          <p:cNvSpPr txBox="1"/>
          <p:nvPr/>
        </p:nvSpPr>
        <p:spPr>
          <a:xfrm>
            <a:off x="8470900" y="4038600"/>
            <a:ext cx="30861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0E2841"/>
                </a:solidFill>
              </a:rPr>
              <a:t>→  token logits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79CA8A61-3066-43DC-914F-5B737FB1FB3D}"/>
              </a:ext>
            </a:extLst>
          </p:cNvPr>
          <p:cNvSpPr txBox="1"/>
          <p:nvPr/>
        </p:nvSpPr>
        <p:spPr>
          <a:xfrm>
            <a:off x="8470900" y="4495800"/>
            <a:ext cx="3086100" cy="1397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One query per byte position; the MLM loss is scored only at masked positions.</a:t>
            </a:r>
            <a:endParaRPr lang="it-IT" sz="140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848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46113AA-1921-31D7-A79E-3E162A5F48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CBF74E2A-A5CA-3F8C-E230-990D58AB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CIFAR-10: Perceiver vs Perceiver IO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0438E97F-0418-4601-A830-F72EEB3AE781}"/>
              </a:ext>
            </a:extLst>
          </p:cNvPr>
          <p:cNvSpPr/>
          <p:nvPr/>
        </p:nvSpPr>
        <p:spPr>
          <a:xfrm>
            <a:off x="6350000" y="2095500"/>
            <a:ext cx="5410200" cy="2413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7296E5B4-4A8D-4E47-A426-2D775632D3B4}"/>
              </a:ext>
            </a:extLst>
          </p:cNvPr>
          <p:cNvSpPr/>
          <p:nvPr/>
        </p:nvSpPr>
        <p:spPr>
          <a:xfrm>
            <a:off x="6350000" y="2095500"/>
            <a:ext cx="54102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DE444AB-9F46-4565-94F9-A4F0A8599D31}"/>
              </a:ext>
            </a:extLst>
          </p:cNvPr>
          <p:cNvSpPr txBox="1"/>
          <p:nvPr/>
        </p:nvSpPr>
        <p:spPr>
          <a:xfrm>
            <a:off x="6553200" y="2247900"/>
            <a:ext cx="50038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Decoder effect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FCAE4FA-C5B3-44C8-BA80-49BAD457C995}"/>
              </a:ext>
            </a:extLst>
          </p:cNvPr>
          <p:cNvSpPr txBox="1"/>
          <p:nvPr/>
        </p:nvSpPr>
        <p:spPr>
          <a:xfrm>
            <a:off x="6553200" y="2616200"/>
            <a:ext cx="5003800" cy="180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50">
                <a:solidFill>
                  <a:srgbClr val="1A1A1A"/>
                </a:solidFill>
              </a:rPr>
              <a:t>•  Output query is a learned aggregation, not fixed mean pooling
•  Decoder cross-attention attends selectively to relevant latents
•  Small gain on CIFAR-10, but enables MLM and dense outputs
•  Cost: ∼1.6× parameters (5.22M vs 3.35M)</a:t>
            </a:r>
            <a:endParaRPr lang="it-IT" sz="1350">
              <a:solidFill>
                <a:srgbClr val="1A1A1A"/>
              </a:solidFill>
            </a:endParaRP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33C10037-7944-425D-B492-7468849E37A2}"/>
              </a:ext>
            </a:extLst>
          </p:cNvPr>
          <p:cNvGraphicFramePr>
            <a:graphicFrameLocks noGrp="1"/>
          </p:cNvGraphicFramePr>
          <p:nvPr/>
        </p:nvGraphicFramePr>
        <p:xfrm>
          <a:off x="6350000" y="4724400"/>
          <a:ext cx="5410200" cy="1397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73082654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83687509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586464290"/>
                    </a:ext>
                  </a:extLst>
                </a:gridCol>
              </a:tblGrid>
              <a:tr h="465667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∆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76270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it-IT" sz="1350"/>
                        <a:t>Best Perceiver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78.12%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338322"/>
                  </a:ext>
                </a:extLst>
              </a:tr>
              <a:tr h="465667">
                <a:tc>
                  <a:txBody>
                    <a:bodyPr/>
                    <a:lstStyle/>
                    <a:p>
                      <a:r>
                        <a:rPr lang="it-IT" sz="1350"/>
                        <a:t>Perceiver IO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78.20%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>
                          <a:solidFill>
                            <a:srgbClr val="27AE60"/>
                          </a:solidFill>
                        </a:rPr>
                        <a:t>+0.08 pp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692453"/>
                  </a:ext>
                </a:extLst>
              </a:tr>
            </a:tbl>
          </a:graphicData>
        </a:graphic>
      </p:graphicFrame>
      <p:graphicFrame>
        <p:nvGraphicFramePr>
          <p:cNvPr id="201" name="Chart 1"/>
          <p:cNvGraphicFramePr/>
          <p:nvPr/>
        </p:nvGraphicFramePr>
        <p:xfrm>
          <a:off x="508000" y="2032000"/>
          <a:ext cx="5588000" cy="421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186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58A42D3-961D-2448-A843-6C242D399F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ACDA8FD9-E06F-5DC1-5A7C-56DE6329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/>
              </a:rPr>
              <a:t>WikiText-103: Masked Language Model Pre-training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E7A6AFF-5C6E-4629-9924-FB7B599C84FA}"/>
              </a:ext>
            </a:extLst>
          </p:cNvPr>
          <p:cNvSpPr txBox="1"/>
          <p:nvPr/>
        </p:nvSpPr>
        <p:spPr>
          <a:xfrm>
            <a:off x="914400" y="1874519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1A1A1A"/>
                </a:solidFill>
              </a:rPr>
              <a:t>Goal — pre-train a general language encoder without specialized tokenizers.</a:t>
            </a:r>
            <a:endParaRPr lang="it-IT" sz="1400" b="1">
              <a:solidFill>
                <a:srgbClr val="FFFFFF"/>
              </a:solidFill>
            </a:endParaRP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6FA40D7C-BD1A-436D-B84A-6E6F2DF4F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352969"/>
              </p:ext>
            </p:extLst>
          </p:nvPr>
        </p:nvGraphicFramePr>
        <p:xfrm>
          <a:off x="777240" y="2468880"/>
          <a:ext cx="4572000" cy="2438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154982464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7418034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530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/>
                        <a:t>Tokenization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Byte-level (UTF-8)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139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/>
                        <a:t>Vocabulary size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256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1248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/>
                        <a:t>Sequence length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1024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004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/>
                        <a:t>Mask probability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15%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50757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/>
                        <a:t>Model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Perceiver IO (∼10M)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37645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/>
                        <a:t>Epochs / batch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50 / 32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2503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Masked byte acc.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82.20%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921679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A02BD12-E636-47EA-B15C-A5D3004C02CB}"/>
              </a:ext>
            </a:extLst>
          </p:cNvPr>
          <p:cNvSpPr txBox="1"/>
          <p:nvPr/>
        </p:nvSpPr>
        <p:spPr>
          <a:xfrm>
            <a:off x="5943600" y="2468880"/>
            <a:ext cx="576072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Why byte-level?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2D88F29-C691-48A4-8C53-6BEEAA5D0014}"/>
              </a:ext>
            </a:extLst>
          </p:cNvPr>
          <p:cNvSpPr txBox="1"/>
          <p:nvPr/>
        </p:nvSpPr>
        <p:spPr>
          <a:xfrm>
            <a:off x="5943600" y="2834640"/>
            <a:ext cx="5760720" cy="1054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50">
                <a:solidFill>
                  <a:srgbClr val="1A1A1A"/>
                </a:solidFill>
              </a:rPr>
              <a:t>•  No BPE / WordPiece tokenizer needed
•  Truly language-agnostic input
•  Fixed vocabulary of size 256
•  Trade-off: longer sequences for the same text</a:t>
            </a:r>
            <a:endParaRPr lang="it-IT" sz="1350">
              <a:solidFill>
                <a:srgbClr val="1A1A1A"/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07A5DD4-64D3-44B4-B655-E4286CAE8F72}"/>
              </a:ext>
            </a:extLst>
          </p:cNvPr>
          <p:cNvSpPr txBox="1"/>
          <p:nvPr/>
        </p:nvSpPr>
        <p:spPr>
          <a:xfrm>
            <a:off x="5943600" y="4480560"/>
            <a:ext cx="576072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MLM task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8CB5D4E4-77D6-4F2B-9E03-6C218961EC97}"/>
              </a:ext>
            </a:extLst>
          </p:cNvPr>
          <p:cNvSpPr txBox="1"/>
          <p:nvPr/>
        </p:nvSpPr>
        <p:spPr>
          <a:xfrm>
            <a:off x="5943600" y="4846320"/>
            <a:ext cx="5760720" cy="1117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50">
                <a:solidFill>
                  <a:srgbClr val="1A1A1A"/>
                </a:solidFill>
              </a:rPr>
              <a:t>•  15% of byte positions masked
•  Output queries = masked positions
•  Decoder predicts original byte values
•  Cross-entropy loss over 256 classes</a:t>
            </a:r>
            <a:endParaRPr lang="it-IT" sz="1350">
              <a:solidFill>
                <a:srgbClr val="1A1A1A"/>
              </a:solidFill>
            </a:endParaRPr>
          </a:p>
        </p:txBody>
      </p:sp>
      <p:pic>
        <p:nvPicPr>
          <p:cNvPr id="17" name="Picture 16" descr="byte_latent_arr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4937760"/>
            <a:ext cx="1645920" cy="157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87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22774BB0-407F-DF37-EB60-E99B953E95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0D85781-325F-6D19-A334-1297198C9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GLUE: Fine-tuning on 8 Tasks</a:t>
            </a:r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B5EC7784-8423-486E-B75D-9A22ADF9C836}"/>
              </a:ext>
            </a:extLst>
          </p:cNvPr>
          <p:cNvSpPr/>
          <p:nvPr/>
        </p:nvSpPr>
        <p:spPr>
          <a:xfrm>
            <a:off x="774700" y="2032000"/>
            <a:ext cx="5080000" cy="3175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56A50CD-02FE-4E53-B9B7-56989EF1B657}"/>
              </a:ext>
            </a:extLst>
          </p:cNvPr>
          <p:cNvSpPr/>
          <p:nvPr/>
        </p:nvSpPr>
        <p:spPr>
          <a:xfrm>
            <a:off x="774700" y="2032000"/>
            <a:ext cx="5080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E3CCB07-0BBA-4EDF-A8AE-46F71C2071FC}"/>
              </a:ext>
            </a:extLst>
          </p:cNvPr>
          <p:cNvSpPr txBox="1"/>
          <p:nvPr/>
        </p:nvSpPr>
        <p:spPr>
          <a:xfrm>
            <a:off x="977900" y="2184400"/>
            <a:ext cx="4673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Fine-tuning setup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B31C2AC-A697-4254-A5FF-1D132DB399C7}"/>
              </a:ext>
            </a:extLst>
          </p:cNvPr>
          <p:cNvSpPr txBox="1"/>
          <p:nvPr/>
        </p:nvSpPr>
        <p:spPr>
          <a:xfrm>
            <a:off x="977900" y="2565400"/>
            <a:ext cx="4673600" cy="2514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•  Transfer the pre-trained MLM encoder
•  Replace output queries with a classification query
•  30 epochs,  LR = 5 × 10⁻⁴
•  Byte-level input (same as pre-training)</a:t>
            </a:r>
            <a:endParaRPr lang="it-IT" sz="1400">
              <a:solidFill>
                <a:srgbClr val="1A1A1A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1F6FCA0-C8CE-440C-A8CE-938DED232528}"/>
              </a:ext>
            </a:extLst>
          </p:cNvPr>
          <p:cNvSpPr txBox="1"/>
          <p:nvPr/>
        </p:nvSpPr>
        <p:spPr>
          <a:xfrm>
            <a:off x="6223000" y="20320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8 GLUE benchmark tasks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21DF5605-3823-447E-993F-F26B6BC854A1}"/>
              </a:ext>
            </a:extLst>
          </p:cNvPr>
          <p:cNvSpPr/>
          <p:nvPr/>
        </p:nvSpPr>
        <p:spPr>
          <a:xfrm>
            <a:off x="6223000" y="2438400"/>
            <a:ext cx="5537200" cy="8128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E3DB486-0D94-4B05-8982-267387DFE847}"/>
              </a:ext>
            </a:extLst>
          </p:cNvPr>
          <p:cNvSpPr/>
          <p:nvPr/>
        </p:nvSpPr>
        <p:spPr>
          <a:xfrm>
            <a:off x="6223000" y="2438400"/>
            <a:ext cx="76200" cy="812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92248C1-242F-47F0-8411-E512FBA21872}"/>
              </a:ext>
            </a:extLst>
          </p:cNvPr>
          <p:cNvSpPr txBox="1"/>
          <p:nvPr/>
        </p:nvSpPr>
        <p:spPr>
          <a:xfrm>
            <a:off x="6426200" y="2565400"/>
            <a:ext cx="5130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50" b="1">
                <a:solidFill>
                  <a:srgbClr val="0E2841"/>
                </a:solidFill>
              </a:rPr>
              <a:t>Single sentence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68AC447-8716-411B-92DA-220FAA606814}"/>
              </a:ext>
            </a:extLst>
          </p:cNvPr>
          <p:cNvSpPr txBox="1"/>
          <p:nvPr/>
        </p:nvSpPr>
        <p:spPr>
          <a:xfrm>
            <a:off x="6426200" y="2844800"/>
            <a:ext cx="51308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400">
                <a:solidFill>
                  <a:srgbClr val="1A1A1A"/>
                </a:solidFill>
              </a:rPr>
              <a:t>CoLA  ·  SST-2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8AD6966D-DD7C-4EBB-A2EF-65D2F5CB3892}"/>
              </a:ext>
            </a:extLst>
          </p:cNvPr>
          <p:cNvSpPr/>
          <p:nvPr/>
        </p:nvSpPr>
        <p:spPr>
          <a:xfrm>
            <a:off x="6223000" y="3378200"/>
            <a:ext cx="5537200" cy="8128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627A6971-348D-4AE4-AC31-C3B53ED602DD}"/>
              </a:ext>
            </a:extLst>
          </p:cNvPr>
          <p:cNvSpPr/>
          <p:nvPr/>
        </p:nvSpPr>
        <p:spPr>
          <a:xfrm>
            <a:off x="6223000" y="3378200"/>
            <a:ext cx="76200" cy="812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5CCFD67-E03E-415E-BEE5-544B901AE99F}"/>
              </a:ext>
            </a:extLst>
          </p:cNvPr>
          <p:cNvSpPr txBox="1"/>
          <p:nvPr/>
        </p:nvSpPr>
        <p:spPr>
          <a:xfrm>
            <a:off x="6426200" y="3505200"/>
            <a:ext cx="5130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50" b="1">
                <a:solidFill>
                  <a:srgbClr val="0E2841"/>
                </a:solidFill>
              </a:rPr>
              <a:t>Similarity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8495206-264D-4836-BB25-72FA35020F01}"/>
              </a:ext>
            </a:extLst>
          </p:cNvPr>
          <p:cNvSpPr txBox="1"/>
          <p:nvPr/>
        </p:nvSpPr>
        <p:spPr>
          <a:xfrm>
            <a:off x="6426200" y="3784600"/>
            <a:ext cx="51308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400">
                <a:solidFill>
                  <a:srgbClr val="1A1A1A"/>
                </a:solidFill>
              </a:rPr>
              <a:t>MRPC  ·  STS-B  ·  QQP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1E25F3C7-AFAF-4A8C-913E-9FA177C3D940}"/>
              </a:ext>
            </a:extLst>
          </p:cNvPr>
          <p:cNvSpPr/>
          <p:nvPr/>
        </p:nvSpPr>
        <p:spPr>
          <a:xfrm>
            <a:off x="6223000" y="4318000"/>
            <a:ext cx="5537200" cy="8128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473E7462-D022-4EEB-AE09-2E96FAC48145}"/>
              </a:ext>
            </a:extLst>
          </p:cNvPr>
          <p:cNvSpPr/>
          <p:nvPr/>
        </p:nvSpPr>
        <p:spPr>
          <a:xfrm>
            <a:off x="6223000" y="4318000"/>
            <a:ext cx="76200" cy="812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B479D55-DB56-4EE3-AC96-E06789E52A25}"/>
              </a:ext>
            </a:extLst>
          </p:cNvPr>
          <p:cNvSpPr txBox="1"/>
          <p:nvPr/>
        </p:nvSpPr>
        <p:spPr>
          <a:xfrm>
            <a:off x="6426200" y="4445000"/>
            <a:ext cx="51308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50" b="1">
                <a:solidFill>
                  <a:srgbClr val="0E2841"/>
                </a:solidFill>
              </a:rPr>
              <a:t>Inference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B6EDC06-2768-4760-B45B-61D40E3BDFEC}"/>
              </a:ext>
            </a:extLst>
          </p:cNvPr>
          <p:cNvSpPr txBox="1"/>
          <p:nvPr/>
        </p:nvSpPr>
        <p:spPr>
          <a:xfrm>
            <a:off x="6426200" y="4724400"/>
            <a:ext cx="51308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400">
                <a:solidFill>
                  <a:srgbClr val="1A1A1A"/>
                </a:solidFill>
              </a:rPr>
              <a:t>MNLI  ·  QNLI  ·  RTE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301EAEC4-C271-4C9E-926A-39C5EA59EEF4}"/>
              </a:ext>
            </a:extLst>
          </p:cNvPr>
          <p:cNvSpPr/>
          <p:nvPr/>
        </p:nvSpPr>
        <p:spPr>
          <a:xfrm>
            <a:off x="774700" y="5461000"/>
            <a:ext cx="10985500" cy="584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D83A787-C478-4527-A79F-9F1B6E1E9B16}"/>
              </a:ext>
            </a:extLst>
          </p:cNvPr>
          <p:cNvSpPr txBox="1"/>
          <p:nvPr/>
        </p:nvSpPr>
        <p:spPr>
          <a:xfrm>
            <a:off x="927100" y="5461000"/>
            <a:ext cx="106807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</a:rPr>
              <a:t>Each task tests a different NLU capability — with the same architecture.</a:t>
            </a:r>
            <a:endParaRPr lang="it-IT" sz="15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13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F91C2E0B-F6F2-ECD0-DD28-21B3DEDA4F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81048D9-DB95-C151-2E93-3F6C1DD6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GLUE: Per-Task Results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5840DBF-C40D-49C1-803F-5D9DE7218E8D}"/>
              </a:ext>
            </a:extLst>
          </p:cNvPr>
          <p:cNvSpPr txBox="1"/>
          <p:nvPr/>
        </p:nvSpPr>
        <p:spPr>
          <a:xfrm>
            <a:off x="6949440" y="420624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Setup factors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C9B51C0-41F6-46E2-8B96-4A9277A8CBCB}"/>
              </a:ext>
            </a:extLst>
          </p:cNvPr>
          <p:cNvSpPr txBox="1"/>
          <p:nvPr/>
        </p:nvSpPr>
        <p:spPr>
          <a:xfrm>
            <a:off x="6949440" y="4572000"/>
            <a:ext cx="4572000" cy="1244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50">
                <a:solidFill>
                  <a:srgbClr val="1A1A1A"/>
                </a:solidFill>
              </a:rPr>
              <a:t>•  Byte-level input, no subword tokenizer
•  Smaller model: ∼10M vs 201M
•  STS-B excluded (regression metric)
•  CoLA acc. ≈ majority baseline (official metric is MCC)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27C06BC-083D-4415-802E-C7784F2FC75D}"/>
              </a:ext>
            </a:extLst>
          </p:cNvPr>
          <p:cNvSpPr txBox="1"/>
          <p:nvPr/>
        </p:nvSpPr>
        <p:spPr>
          <a:xfrm>
            <a:off x="6949440" y="219456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Per-task pattern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0B68F77-3278-4F27-9907-9473E655D7E8}"/>
              </a:ext>
            </a:extLst>
          </p:cNvPr>
          <p:cNvSpPr txBox="1"/>
          <p:nvPr/>
        </p:nvSpPr>
        <p:spPr>
          <a:xfrm>
            <a:off x="6949440" y="2560320"/>
            <a:ext cx="4572000" cy="1117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50">
                <a:solidFill>
                  <a:srgbClr val="1A1A1A"/>
                </a:solidFill>
              </a:rPr>
              <a:t>QQP is the strongest task at 75.65%, while inference tasks (MNLI, RTE) are hardest. The classification mean sits around 62% with a much smaller, tokenizer-free model.</a:t>
            </a:r>
            <a:endParaRPr lang="it-IT" sz="1350">
              <a:solidFill>
                <a:srgbClr val="1A1A1A"/>
              </a:solidFill>
            </a:endParaRPr>
          </a:p>
        </p:txBody>
      </p:sp>
      <p:pic>
        <p:nvPicPr>
          <p:cNvPr id="15" name="Picture 14" descr="glue_cor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5943600" cy="325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93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5E198C5-CA0D-9DAF-24FF-124115CC37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CB224D50-ABBF-1528-BA06-FFABB966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Convergence: Representative Checkpoints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240C00BB-FC72-4E5C-866D-CE17D5A73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157062"/>
              </p:ext>
            </p:extLst>
          </p:nvPr>
        </p:nvGraphicFramePr>
        <p:xfrm>
          <a:off x="6400800" y="2194560"/>
          <a:ext cx="508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342864650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27290677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Run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Best epoch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58053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GLUE QQP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0999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WikiText-103 MLM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49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257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ModelNet40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58479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CIFAR-10 Perceiver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108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00967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CIFAR-10 Perceiver 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120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99474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611463E3-1461-4CB9-BAF3-88FEAA8F488E}"/>
              </a:ext>
            </a:extLst>
          </p:cNvPr>
          <p:cNvSpPr txBox="1"/>
          <p:nvPr/>
        </p:nvSpPr>
        <p:spPr>
          <a:xfrm>
            <a:off x="6400800" y="4572000"/>
            <a:ext cx="50292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Pattern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A540430-0875-4506-BDB5-A9DFD48BE19D}"/>
              </a:ext>
            </a:extLst>
          </p:cNvPr>
          <p:cNvSpPr txBox="1"/>
          <p:nvPr/>
        </p:nvSpPr>
        <p:spPr>
          <a:xfrm>
            <a:off x="6400800" y="4937760"/>
            <a:ext cx="5029200" cy="1244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50">
                <a:solidFill>
                  <a:srgbClr val="1A1A1A"/>
                </a:solidFill>
              </a:rPr>
              <a:t>•  Fine-tuning peaks earlier than image training
•  Point clouds converge before CIFAR-10
•  CIFAR-10 requires the longest schedule</a:t>
            </a:r>
            <a:endParaRPr lang="it-IT" sz="1350">
              <a:solidFill>
                <a:srgbClr val="1A1A1A"/>
              </a:solidFill>
            </a:endParaRPr>
          </a:p>
        </p:txBody>
      </p:sp>
      <p:pic>
        <p:nvPicPr>
          <p:cNvPr id="15" name="Picture 14" descr="convergence_epochs_cor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5486400" cy="299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5397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F12CA6BA-465E-E295-1F15-669EA25DB4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AB1A5D0-AADA-37EF-6277-79D5257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Attention Maps Analysis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9A198CF-B057-4011-8117-9137B4455DE4}"/>
              </a:ext>
            </a:extLst>
          </p:cNvPr>
          <p:cNvSpPr txBox="1"/>
          <p:nvPr/>
        </p:nvSpPr>
        <p:spPr>
          <a:xfrm>
            <a:off x="914400" y="2212848"/>
            <a:ext cx="4114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156082"/>
                </a:solidFill>
              </a:rPr>
              <a:t>Fourier PE  (baseline, final maps)</a:t>
            </a:r>
            <a:endParaRPr lang="it-IT" sz="1600" b="1">
              <a:solidFill>
                <a:srgbClr val="156082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5F84EDA-E403-484D-9A7B-2E23E258A07D}"/>
              </a:ext>
            </a:extLst>
          </p:cNvPr>
          <p:cNvSpPr txBox="1"/>
          <p:nvPr/>
        </p:nvSpPr>
        <p:spPr>
          <a:xfrm>
            <a:off x="914400" y="4882896"/>
            <a:ext cx="4114800" cy="86868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Structured, spatially selective patterns. Latents specialize in different image regions.</a:t>
            </a:r>
            <a:endParaRPr lang="it-IT" sz="1400">
              <a:solidFill>
                <a:srgbClr val="1A1A1A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FD1E12C-4767-4736-9C57-1B36AC9179C0}"/>
              </a:ext>
            </a:extLst>
          </p:cNvPr>
          <p:cNvSpPr txBox="1"/>
          <p:nvPr/>
        </p:nvSpPr>
        <p:spPr>
          <a:xfrm>
            <a:off x="6583680" y="2212848"/>
            <a:ext cx="4114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C0392B"/>
                </a:solidFill>
              </a:rPr>
              <a:t>RGB only — no PE  (final maps)</a:t>
            </a:r>
            <a:endParaRPr lang="it-IT" sz="1600" b="1">
              <a:solidFill>
                <a:srgbClr val="C0392B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078272E-9AF7-42B0-B6FA-B9A97F128894}"/>
              </a:ext>
            </a:extLst>
          </p:cNvPr>
          <p:cNvSpPr txBox="1"/>
          <p:nvPr/>
        </p:nvSpPr>
        <p:spPr>
          <a:xfrm>
            <a:off x="6583680" y="4882896"/>
            <a:ext cx="4114800" cy="86868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400">
                <a:solidFill>
                  <a:srgbClr val="1A1A1A"/>
                </a:solidFill>
              </a:rPr>
              <a:t>Diffuse, near-uniform patterns. No spatial selectivity — the model cannot localize information.</a:t>
            </a:r>
            <a:endParaRPr lang="it-IT" sz="1400">
              <a:solidFill>
                <a:srgbClr val="1A1A1A"/>
              </a:solidFill>
            </a:endParaRPr>
          </a:p>
        </p:txBody>
      </p:sp>
      <p:pic>
        <p:nvPicPr>
          <p:cNvPr id="19" name="Picture 18" descr="exp1_baseline_fourier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32304"/>
            <a:ext cx="3611880" cy="2377440"/>
          </a:xfrm>
          <a:prstGeom prst="rect">
            <a:avLst/>
          </a:prstGeom>
        </p:spPr>
      </p:pic>
      <p:pic>
        <p:nvPicPr>
          <p:cNvPr id="20" name="Picture 19" descr="exp3B_rgb_only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32304"/>
            <a:ext cx="3611880" cy="23774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77240" y="5779008"/>
            <a:ext cx="10634472" cy="768096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DC76FBF-0BEF-4EBD-80AD-74D54439E36F}"/>
              </a:ext>
            </a:extLst>
          </p:cNvPr>
          <p:cNvSpPr txBox="1"/>
          <p:nvPr/>
        </p:nvSpPr>
        <p:spPr>
          <a:xfrm>
            <a:off x="1005840" y="5870448"/>
            <a:ext cx="10149840" cy="60350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Interpretation   </a:t>
            </a:r>
            <a:r>
              <a:rPr sz="1300">
                <a:solidFill>
                  <a:srgbClr val="FFFFFF"/>
                </a:solidFill>
              </a:rPr>
              <a:t>With Fourier PE, cross-attention learns spatially coherent patterns; without PE, entropy stays high and patterns lack structure.</a:t>
            </a:r>
            <a:endParaRPr lang="it-IT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728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25F54950-7CF0-06C3-96B1-ED9164116C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A2108F7-314D-1824-8CD9-4F78E84A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Comprehensive Results Summary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102192B3-A04B-4EED-B05A-DF0482428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990170"/>
              </p:ext>
            </p:extLst>
          </p:nvPr>
        </p:nvGraphicFramePr>
        <p:xfrm>
          <a:off x="774700" y="2006600"/>
          <a:ext cx="97282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334131408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50784190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5370487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6998881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5284623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Modality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Best Acc.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Experiments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13287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it-IT" sz="1250"/>
                        <a:t>Images (CIFAR-10)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50"/>
                        <a:t>Perceiver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/>
                        <a:t>78.12%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&gt; 90% 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7 ablations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8875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it-IT" sz="1250"/>
                        <a:t>Images (CIFAR-10)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50"/>
                        <a:t>Perceiver IO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/>
                        <a:t>78.20%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0838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it-IT" sz="1250"/>
                        <a:t>Point Clouds (ModelNet40)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50"/>
                        <a:t>Perceiver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/>
                        <a:t>84.24%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85.7%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3 augment.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36257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it-IT" sz="1250"/>
                        <a:t>Text (WikiText-103)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50"/>
                        <a:t>Perceiver IO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/>
                        <a:t>82.20% MLM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79253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it-IT" sz="1250"/>
                        <a:t>NLU (GLUE, 8 tasks)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50"/>
                        <a:t>Perceiver 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/>
                        <a:t>∼62% avg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8 fine-tune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186948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8103CBDC-E838-4CE5-8BDF-3E28E49BCF43}"/>
              </a:ext>
            </a:extLst>
          </p:cNvPr>
          <p:cNvSpPr txBox="1"/>
          <p:nvPr/>
        </p:nvSpPr>
        <p:spPr>
          <a:xfrm>
            <a:off x="774700" y="4419600"/>
            <a:ext cx="109982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150" i="1">
                <a:solidFill>
                  <a:srgbClr val="555555"/>
                </a:solidFill>
              </a:rPr>
              <a:t>† Strong ViT/CNN baselines on CIFAR-10; the original Perceiver paper does not benchmark CIFAR-10.</a:t>
            </a:r>
            <a:endParaRPr lang="it-IT" sz="1150" i="1">
              <a:solidFill>
                <a:srgbClr val="555555"/>
              </a:solidFill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7B841C89-3920-491A-81BD-CD52F6FC3590}"/>
              </a:ext>
            </a:extLst>
          </p:cNvPr>
          <p:cNvSpPr/>
          <p:nvPr/>
        </p:nvSpPr>
        <p:spPr>
          <a:xfrm>
            <a:off x="774700" y="4800600"/>
            <a:ext cx="2603500" cy="1270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6CDF52C-7A63-41E7-8906-FE594A6F7D5A}"/>
              </a:ext>
            </a:extLst>
          </p:cNvPr>
          <p:cNvSpPr/>
          <p:nvPr/>
        </p:nvSpPr>
        <p:spPr>
          <a:xfrm>
            <a:off x="774700" y="4800600"/>
            <a:ext cx="26035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A7BB1E0-33CB-4009-8225-6EA05F376D53}"/>
              </a:ext>
            </a:extLst>
          </p:cNvPr>
          <p:cNvSpPr txBox="1"/>
          <p:nvPr/>
        </p:nvSpPr>
        <p:spPr>
          <a:xfrm>
            <a:off x="876300" y="5029200"/>
            <a:ext cx="24003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2600" b="1">
                <a:solidFill>
                  <a:srgbClr val="0E2841"/>
                </a:solidFill>
              </a:rPr>
              <a:t>∼2500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39F0F58-54B6-44DE-8D7A-8F57933655A1}"/>
              </a:ext>
            </a:extLst>
          </p:cNvPr>
          <p:cNvSpPr txBox="1"/>
          <p:nvPr/>
        </p:nvSpPr>
        <p:spPr>
          <a:xfrm>
            <a:off x="876300" y="5588000"/>
            <a:ext cx="24003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250" b="1">
                <a:solidFill>
                  <a:srgbClr val="156082"/>
                </a:solidFill>
              </a:rPr>
              <a:t>lines of PyTorch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07284160-6889-4AB1-AC42-BBC775A07548}"/>
              </a:ext>
            </a:extLst>
          </p:cNvPr>
          <p:cNvSpPr/>
          <p:nvPr/>
        </p:nvSpPr>
        <p:spPr>
          <a:xfrm>
            <a:off x="3530600" y="4800600"/>
            <a:ext cx="2603500" cy="1270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951FAAF-2CC7-421F-BAFF-BDE32C113DA4}"/>
              </a:ext>
            </a:extLst>
          </p:cNvPr>
          <p:cNvSpPr/>
          <p:nvPr/>
        </p:nvSpPr>
        <p:spPr>
          <a:xfrm>
            <a:off x="3530600" y="4800600"/>
            <a:ext cx="26035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B33E5A1-D618-43FD-852E-FE2ABDA794D8}"/>
              </a:ext>
            </a:extLst>
          </p:cNvPr>
          <p:cNvSpPr txBox="1"/>
          <p:nvPr/>
        </p:nvSpPr>
        <p:spPr>
          <a:xfrm>
            <a:off x="3632200" y="5029200"/>
            <a:ext cx="24003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2600" b="1">
                <a:solidFill>
                  <a:srgbClr val="0E2841"/>
                </a:solidFill>
              </a:rPr>
              <a:t>20+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6FBC8A1-A7A6-490C-A2E6-89FF0EB4CBF8}"/>
              </a:ext>
            </a:extLst>
          </p:cNvPr>
          <p:cNvSpPr txBox="1"/>
          <p:nvPr/>
        </p:nvSpPr>
        <p:spPr>
          <a:xfrm>
            <a:off x="3632200" y="5588000"/>
            <a:ext cx="24003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250" b="1">
                <a:solidFill>
                  <a:srgbClr val="156082"/>
                </a:solidFill>
              </a:rPr>
              <a:t>training runs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CA731131-1080-4874-8D95-4B9246140D23}"/>
              </a:ext>
            </a:extLst>
          </p:cNvPr>
          <p:cNvSpPr/>
          <p:nvPr/>
        </p:nvSpPr>
        <p:spPr>
          <a:xfrm>
            <a:off x="6286500" y="4800600"/>
            <a:ext cx="2603500" cy="1270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2631EE6-B668-414E-854B-B43D7D5C8E10}"/>
              </a:ext>
            </a:extLst>
          </p:cNvPr>
          <p:cNvSpPr/>
          <p:nvPr/>
        </p:nvSpPr>
        <p:spPr>
          <a:xfrm>
            <a:off x="6286500" y="4800600"/>
            <a:ext cx="26035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BB5BEBE-0A7E-4415-B510-AE44E3D7B1BE}"/>
              </a:ext>
            </a:extLst>
          </p:cNvPr>
          <p:cNvSpPr txBox="1"/>
          <p:nvPr/>
        </p:nvSpPr>
        <p:spPr>
          <a:xfrm>
            <a:off x="6388100" y="5029200"/>
            <a:ext cx="24003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2600" b="1">
                <a:solidFill>
                  <a:srgbClr val="0E2841"/>
                </a:solidFill>
              </a:rPr>
              <a:t>3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694B682-F089-455C-8BEE-2448725F7BEF}"/>
              </a:ext>
            </a:extLst>
          </p:cNvPr>
          <p:cNvSpPr txBox="1"/>
          <p:nvPr/>
        </p:nvSpPr>
        <p:spPr>
          <a:xfrm>
            <a:off x="6388100" y="5588000"/>
            <a:ext cx="24003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250" b="1">
                <a:solidFill>
                  <a:srgbClr val="156082"/>
                </a:solidFill>
              </a:rPr>
              <a:t>modalities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5DCCBE3-5DDD-4358-8288-A411161E08EC}"/>
              </a:ext>
            </a:extLst>
          </p:cNvPr>
          <p:cNvSpPr/>
          <p:nvPr/>
        </p:nvSpPr>
        <p:spPr>
          <a:xfrm>
            <a:off x="9042400" y="4800600"/>
            <a:ext cx="2603500" cy="1270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6FADA11D-1FBF-421E-9C93-BC76CC9AA9C2}"/>
              </a:ext>
            </a:extLst>
          </p:cNvPr>
          <p:cNvSpPr/>
          <p:nvPr/>
        </p:nvSpPr>
        <p:spPr>
          <a:xfrm>
            <a:off x="9042400" y="4800600"/>
            <a:ext cx="26035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139FB0B-B6EF-48CE-BDF5-F3CDB7C221EE}"/>
              </a:ext>
            </a:extLst>
          </p:cNvPr>
          <p:cNvSpPr txBox="1"/>
          <p:nvPr/>
        </p:nvSpPr>
        <p:spPr>
          <a:xfrm>
            <a:off x="9144000" y="5029200"/>
            <a:ext cx="24003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2600" b="1">
                <a:solidFill>
                  <a:srgbClr val="0E2841"/>
                </a:solidFill>
              </a:rPr>
              <a:t>100%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6B25264D-603A-4076-B504-6BCE367123C5}"/>
              </a:ext>
            </a:extLst>
          </p:cNvPr>
          <p:cNvSpPr txBox="1"/>
          <p:nvPr/>
        </p:nvSpPr>
        <p:spPr>
          <a:xfrm>
            <a:off x="9144000" y="5588000"/>
            <a:ext cx="24003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250" b="1">
                <a:solidFill>
                  <a:srgbClr val="156082"/>
                </a:solidFill>
              </a:rPr>
              <a:t>reproducible</a:t>
            </a:r>
          </a:p>
        </p:txBody>
      </p:sp>
    </p:spTree>
    <p:extLst>
      <p:ext uri="{BB962C8B-B14F-4D97-AF65-F5344CB8AC3E}">
        <p14:creationId xmlns:p14="http://schemas.microsoft.com/office/powerpoint/2010/main" val="3305740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A3601A0-4E24-3414-F516-03ACE8AD2B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A1231F62-D219-DC1E-6DC7-9EE88FE1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Gap vs Original Papers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32CAA73-4A0D-4C8F-A65E-83F437669B66}"/>
              </a:ext>
            </a:extLst>
          </p:cNvPr>
          <p:cNvSpPr txBox="1"/>
          <p:nvPr/>
        </p:nvSpPr>
        <p:spPr>
          <a:xfrm>
            <a:off x="774700" y="20066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ModelNet40 — Point Clouds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C9266D29-616A-4D2E-B8D4-0EE66E98C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857169"/>
              </p:ext>
            </p:extLst>
          </p:nvPr>
        </p:nvGraphicFramePr>
        <p:xfrm>
          <a:off x="774700" y="2387600"/>
          <a:ext cx="5334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93842218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7131198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4062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Original Paper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85.7%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045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This implementation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84.24%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64755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C0392B"/>
                          </a:solidFill>
                        </a:rPr>
                        <a:t>Gap</a:t>
                      </a:r>
                    </a:p>
                  </a:txBody>
                  <a:tcPr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>
                          <a:solidFill>
                            <a:srgbClr val="27AE60"/>
                          </a:solidFill>
                        </a:rPr>
                        <a:t>1.46 pp</a:t>
                      </a:r>
                    </a:p>
                  </a:txBody>
                  <a:tcPr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38869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C37B6968-E9F8-48A7-9A59-DDA3620462D5}"/>
              </a:ext>
            </a:extLst>
          </p:cNvPr>
          <p:cNvSpPr txBox="1"/>
          <p:nvPr/>
        </p:nvSpPr>
        <p:spPr>
          <a:xfrm>
            <a:off x="774700" y="4064000"/>
            <a:ext cx="5334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 i="1">
                <a:solidFill>
                  <a:srgbClr val="444444"/>
                </a:solidFill>
              </a:rPr>
              <a:t>Small reproduction gap — the main scale difference is batch size (128 vs 512).</a:t>
            </a:r>
            <a:endParaRPr lang="it-IT" sz="1300" i="1">
              <a:solidFill>
                <a:srgbClr val="444444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4C57B53-7C99-46DB-98EF-527448A52CF5}"/>
              </a:ext>
            </a:extLst>
          </p:cNvPr>
          <p:cNvSpPr txBox="1"/>
          <p:nvPr/>
        </p:nvSpPr>
        <p:spPr>
          <a:xfrm>
            <a:off x="6426200" y="20066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CIFAR-10 — Images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A3A6EC7A-A1FA-446D-96BD-F44EB2E28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423856"/>
              </p:ext>
            </p:extLst>
          </p:nvPr>
        </p:nvGraphicFramePr>
        <p:xfrm>
          <a:off x="6426200" y="2387600"/>
          <a:ext cx="5334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7356346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1674302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24585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ViT / CNN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&gt; 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76044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This Perceiver IO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78.20%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85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C0392B"/>
                          </a:solidFill>
                        </a:rPr>
                        <a:t>Gap</a:t>
                      </a:r>
                    </a:p>
                  </a:txBody>
                  <a:tcPr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>
                          <a:solidFill>
                            <a:srgbClr val="E74C3C"/>
                          </a:solidFill>
                        </a:rPr>
                        <a:t>∼12 pp</a:t>
                      </a:r>
                    </a:p>
                  </a:txBody>
                  <a:tcPr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950163"/>
                  </a:ext>
                </a:extLst>
              </a:tr>
            </a:tbl>
          </a:graphicData>
        </a:graphic>
      </p:graphicFrame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06CA848-FA33-445A-9899-60C2C06A6E97}"/>
              </a:ext>
            </a:extLst>
          </p:cNvPr>
          <p:cNvSpPr txBox="1"/>
          <p:nvPr/>
        </p:nvSpPr>
        <p:spPr>
          <a:xfrm>
            <a:off x="6426200" y="4064000"/>
            <a:ext cx="5334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00" i="1">
                <a:solidFill>
                  <a:srgbClr val="444444"/>
                </a:solidFill>
              </a:rPr>
              <a:t>Larger gap vs strong ViT/CNN baselines (the Perceiver paper has no CIFAR-10); TPU cluster vs single GPU.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0B258D7-5383-49D0-B6BD-FEF1E03C4B7D}"/>
              </a:ext>
            </a:extLst>
          </p:cNvPr>
          <p:cNvSpPr/>
          <p:nvPr/>
        </p:nvSpPr>
        <p:spPr>
          <a:xfrm>
            <a:off x="774700" y="5486400"/>
            <a:ext cx="10985500" cy="6858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7E34BA7-B9F8-4BD1-B10E-8869CBFF9632}"/>
              </a:ext>
            </a:extLst>
          </p:cNvPr>
          <p:cNvSpPr txBox="1"/>
          <p:nvPr/>
        </p:nvSpPr>
        <p:spPr>
          <a:xfrm>
            <a:off x="927100" y="5486400"/>
            <a:ext cx="106807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The CIFAR-10 gap is mainly batch size (64 vs 1024), latent count (96 vs 256) and compute limits — the architecture is especially scale-sensitive on images.</a:t>
            </a:r>
            <a:endParaRPr lang="it-IT" sz="13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977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EE95C5C0-4720-568B-2048-636E6BE56C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DEDD7E1-3771-814A-3551-3076A71C8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Hardware Limitations &amp; Design Choices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60884B7C-F6B8-453C-A570-6D1437CD4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633055"/>
              </p:ext>
            </p:extLst>
          </p:nvPr>
        </p:nvGraphicFramePr>
        <p:xfrm>
          <a:off x="774700" y="2006600"/>
          <a:ext cx="10998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322263798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3837676831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416967976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Original Paper (Google)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Project Setup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30198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1300" b="1"/>
                        <a:t>Hardware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512 TPU v3 cores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1 NVIDIA consumer GPU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7055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1300" b="1"/>
                        <a:t>Batch size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up to 1024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max 64–128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59708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1300" b="1"/>
                        <a:t>Latents 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256–512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96–128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3022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1300" b="1"/>
                        <a:t>Model size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30–100M+ params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3.35–10M params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5349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1300" b="1"/>
                        <a:t>Training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days (distributed)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hours–days (single GPU)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541355"/>
                  </a:ext>
                </a:extLst>
              </a:tr>
            </a:tbl>
          </a:graphicData>
        </a:graphic>
      </p:graphicFrame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01DF70C-424D-45EE-88ED-6E66673DF277}"/>
              </a:ext>
            </a:extLst>
          </p:cNvPr>
          <p:cNvSpPr/>
          <p:nvPr/>
        </p:nvSpPr>
        <p:spPr>
          <a:xfrm>
            <a:off x="774700" y="4292600"/>
            <a:ext cx="5334000" cy="1905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A1D8643-83DA-4A2C-AF9F-CF99ADCCFDCD}"/>
              </a:ext>
            </a:extLst>
          </p:cNvPr>
          <p:cNvSpPr/>
          <p:nvPr/>
        </p:nvSpPr>
        <p:spPr>
          <a:xfrm>
            <a:off x="774700" y="4292600"/>
            <a:ext cx="5334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6F3B934-E3E3-49FE-8F68-B121F3CFF9FA}"/>
              </a:ext>
            </a:extLst>
          </p:cNvPr>
          <p:cNvSpPr txBox="1"/>
          <p:nvPr/>
        </p:nvSpPr>
        <p:spPr>
          <a:xfrm>
            <a:off x="977900" y="4445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Consequences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4B69F06-8542-42F5-9AEA-4A13AE85C723}"/>
              </a:ext>
            </a:extLst>
          </p:cNvPr>
          <p:cNvSpPr txBox="1"/>
          <p:nvPr/>
        </p:nvSpPr>
        <p:spPr>
          <a:xfrm>
            <a:off x="977900" y="4826000"/>
            <a:ext cx="4927600" cy="1244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50">
                <a:solidFill>
                  <a:srgbClr val="1A1A1A"/>
                </a:solidFill>
              </a:rPr>
              <a:t>•  LAMB less effective with small batches
•  Fewer latents limit representational capacity
•  Reduced augmentation due to time constraints
•  Fewer hyperparameter-search iterations</a:t>
            </a:r>
            <a:endParaRPr lang="it-IT" sz="1350">
              <a:solidFill>
                <a:srgbClr val="1A1A1A"/>
              </a:solidFill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61005AE-ECE5-4D62-8292-CCBEA6506530}"/>
              </a:ext>
            </a:extLst>
          </p:cNvPr>
          <p:cNvSpPr/>
          <p:nvPr/>
        </p:nvSpPr>
        <p:spPr>
          <a:xfrm>
            <a:off x="6426200" y="4292600"/>
            <a:ext cx="5334000" cy="1905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4694A6E-9A5F-4A59-B187-60AA95353739}"/>
              </a:ext>
            </a:extLst>
          </p:cNvPr>
          <p:cNvSpPr/>
          <p:nvPr/>
        </p:nvSpPr>
        <p:spPr>
          <a:xfrm>
            <a:off x="6426200" y="4292600"/>
            <a:ext cx="5334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CC4B1A9-1F78-496A-8904-AA24CD7326CF}"/>
              </a:ext>
            </a:extLst>
          </p:cNvPr>
          <p:cNvSpPr txBox="1"/>
          <p:nvPr/>
        </p:nvSpPr>
        <p:spPr>
          <a:xfrm>
            <a:off x="6629400" y="4445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Mitigation strategies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4BB5070-4855-4784-A94B-DD12BB14079D}"/>
              </a:ext>
            </a:extLst>
          </p:cNvPr>
          <p:cNvSpPr txBox="1"/>
          <p:nvPr/>
        </p:nvSpPr>
        <p:spPr>
          <a:xfrm>
            <a:off x="6629400" y="4826000"/>
            <a:ext cx="4927600" cy="1244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50">
                <a:solidFill>
                  <a:srgbClr val="1A1A1A"/>
                </a:solidFill>
              </a:rPr>
              <a:t>•  Weight sharing to reduce memory
•  Gradient accumulation where possible
•  Careful cosine-annealing schedule
•  Focus on the most informative ablations</a:t>
            </a:r>
            <a:endParaRPr lang="it-IT" sz="135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2540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C5A678F-2425-CDE8-2419-E91F97821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E0670635-9074-C54C-B8CE-FFCD94794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Possible Improvements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696820A5-C293-4190-B857-1648E6E49B8D}"/>
              </a:ext>
            </a:extLst>
          </p:cNvPr>
          <p:cNvSpPr/>
          <p:nvPr/>
        </p:nvSpPr>
        <p:spPr>
          <a:xfrm>
            <a:off x="774700" y="2006600"/>
            <a:ext cx="5334000" cy="1905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69B762DD-9B1A-4816-9196-C2DA33E068D5}"/>
              </a:ext>
            </a:extLst>
          </p:cNvPr>
          <p:cNvSpPr/>
          <p:nvPr/>
        </p:nvSpPr>
        <p:spPr>
          <a:xfrm>
            <a:off x="774700" y="2006600"/>
            <a:ext cx="5334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8E43CB-70C3-448A-99C0-B340C2021BF6}"/>
              </a:ext>
            </a:extLst>
          </p:cNvPr>
          <p:cNvSpPr txBox="1"/>
          <p:nvPr/>
        </p:nvSpPr>
        <p:spPr>
          <a:xfrm>
            <a:off x="977900" y="2159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Architecture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1BE2B0B-6634-4F75-A8F6-E58FFCF3BE8F}"/>
              </a:ext>
            </a:extLst>
          </p:cNvPr>
          <p:cNvSpPr txBox="1"/>
          <p:nvPr/>
        </p:nvSpPr>
        <p:spPr>
          <a:xfrm>
            <a:off x="977900" y="2540000"/>
            <a:ext cx="4927600" cy="1244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250">
                <a:solidFill>
                  <a:srgbClr val="1A1A1A"/>
                </a:solidFill>
              </a:rPr>
              <a:t>•  Increase latent count (N = 256+) with gradient checkpointing
•  Multi-scale cross-attention (coarse → fine)
•  Relative positional encodings (RoPE, ALiBi)
•  Deeper decoder for structured outputs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55E44D91-1D14-4642-A4F7-35D7C90634D2}"/>
              </a:ext>
            </a:extLst>
          </p:cNvPr>
          <p:cNvSpPr/>
          <p:nvPr/>
        </p:nvSpPr>
        <p:spPr>
          <a:xfrm>
            <a:off x="6426200" y="2006600"/>
            <a:ext cx="5334000" cy="1905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A61A42A-7AC0-40C8-891E-941B512F28D2}"/>
              </a:ext>
            </a:extLst>
          </p:cNvPr>
          <p:cNvSpPr/>
          <p:nvPr/>
        </p:nvSpPr>
        <p:spPr>
          <a:xfrm>
            <a:off x="6426200" y="2006600"/>
            <a:ext cx="5334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ED73FEF-90BE-45FB-880B-47C5BA861C04}"/>
              </a:ext>
            </a:extLst>
          </p:cNvPr>
          <p:cNvSpPr txBox="1"/>
          <p:nvPr/>
        </p:nvSpPr>
        <p:spPr>
          <a:xfrm>
            <a:off x="6629400" y="2159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Training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6B75BC4-9918-4DFE-9961-8247F9222B6E}"/>
              </a:ext>
            </a:extLst>
          </p:cNvPr>
          <p:cNvSpPr txBox="1"/>
          <p:nvPr/>
        </p:nvSpPr>
        <p:spPr>
          <a:xfrm>
            <a:off x="6629400" y="2540000"/>
            <a:ext cx="4927600" cy="1244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50">
                <a:solidFill>
                  <a:srgbClr val="1A1A1A"/>
                </a:solidFill>
              </a:rPr>
              <a:t>•  Larger batches via gradient accumulation
•  Mixed-precision (FP16 / BF16) training
•  Longer training schedules
•  Advanced augmentation (CutMix, MixUp)</a:t>
            </a:r>
            <a:endParaRPr lang="it-IT" sz="1250">
              <a:solidFill>
                <a:srgbClr val="1A1A1A"/>
              </a:solidFill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C77ACEF6-2273-4BCE-B678-D97EDE9A1316}"/>
              </a:ext>
            </a:extLst>
          </p:cNvPr>
          <p:cNvSpPr/>
          <p:nvPr/>
        </p:nvSpPr>
        <p:spPr>
          <a:xfrm>
            <a:off x="774700" y="4064000"/>
            <a:ext cx="5334000" cy="1905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9DAFAFB-0DEC-42A1-9DDC-A3B3B0A4BEFF}"/>
              </a:ext>
            </a:extLst>
          </p:cNvPr>
          <p:cNvSpPr/>
          <p:nvPr/>
        </p:nvSpPr>
        <p:spPr>
          <a:xfrm>
            <a:off x="774700" y="4064000"/>
            <a:ext cx="5334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3D47528-FBB0-4665-9BCE-CAD0BA2C63A7}"/>
              </a:ext>
            </a:extLst>
          </p:cNvPr>
          <p:cNvSpPr txBox="1"/>
          <p:nvPr/>
        </p:nvSpPr>
        <p:spPr>
          <a:xfrm>
            <a:off x="977900" y="42164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Data &amp; Tasks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9B8DB6F-A53B-447B-A22A-9EAE3043FA22}"/>
              </a:ext>
            </a:extLst>
          </p:cNvPr>
          <p:cNvSpPr txBox="1"/>
          <p:nvPr/>
        </p:nvSpPr>
        <p:spPr>
          <a:xfrm>
            <a:off x="977900" y="4597400"/>
            <a:ext cx="4927600" cy="1244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50">
                <a:solidFill>
                  <a:srgbClr val="1A1A1A"/>
                </a:solidFill>
              </a:rPr>
              <a:t>•  ImageNet pre-training for vision
•  Subword tokenization for NLP
•  Multi-modal joint training
•  Audio modality experiments</a:t>
            </a:r>
            <a:endParaRPr lang="it-IT" sz="1250">
              <a:solidFill>
                <a:srgbClr val="1A1A1A"/>
              </a:solidFill>
            </a:endParaRP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BB222DA0-D718-4989-B2A3-BDBD44EC28B3}"/>
              </a:ext>
            </a:extLst>
          </p:cNvPr>
          <p:cNvSpPr/>
          <p:nvPr/>
        </p:nvSpPr>
        <p:spPr>
          <a:xfrm>
            <a:off x="6426200" y="4064000"/>
            <a:ext cx="5334000" cy="19050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CCABCB3B-DCF5-44E8-A72F-AE2656CBEFD6}"/>
              </a:ext>
            </a:extLst>
          </p:cNvPr>
          <p:cNvSpPr/>
          <p:nvPr/>
        </p:nvSpPr>
        <p:spPr>
          <a:xfrm>
            <a:off x="6426200" y="4064000"/>
            <a:ext cx="5334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A14A0D4-2B87-4262-9486-CDC366B61B8D}"/>
              </a:ext>
            </a:extLst>
          </p:cNvPr>
          <p:cNvSpPr txBox="1"/>
          <p:nvPr/>
        </p:nvSpPr>
        <p:spPr>
          <a:xfrm>
            <a:off x="6629400" y="42164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56082"/>
                </a:solidFill>
              </a:rPr>
              <a:t>Analysis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387243F-5275-40F9-8904-163880ED725C}"/>
              </a:ext>
            </a:extLst>
          </p:cNvPr>
          <p:cNvSpPr txBox="1"/>
          <p:nvPr/>
        </p:nvSpPr>
        <p:spPr>
          <a:xfrm>
            <a:off x="6629400" y="4597400"/>
            <a:ext cx="4927600" cy="1244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250">
                <a:solidFill>
                  <a:srgbClr val="1A1A1A"/>
                </a:solidFill>
              </a:rPr>
              <a:t>•  Layer-wise attention probing
•  Latent-space clustering visualization
•  Systematic hyperparameter search
•  Compare with efficient Transformers (Linformer, Performer)</a:t>
            </a:r>
            <a:endParaRPr lang="it-IT" sz="1250"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674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2B9279D-4ACB-8491-98C0-785A9D16F3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410E4ED2-9FC6-962C-82D9-70B7E1C7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Empirical Summary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52D955A0-C577-44EF-B172-D4E0FD060818}"/>
              </a:ext>
            </a:extLst>
          </p:cNvPr>
          <p:cNvSpPr/>
          <p:nvPr/>
        </p:nvSpPr>
        <p:spPr>
          <a:xfrm>
            <a:off x="774700" y="2006600"/>
            <a:ext cx="5334000" cy="31496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7B014EB-E196-48FC-AE97-BF4DC75D8632}"/>
              </a:ext>
            </a:extLst>
          </p:cNvPr>
          <p:cNvSpPr/>
          <p:nvPr/>
        </p:nvSpPr>
        <p:spPr>
          <a:xfrm>
            <a:off x="774700" y="2006600"/>
            <a:ext cx="5334000" cy="762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12C409C-DD8F-4563-A883-88214E9E8AF8}"/>
              </a:ext>
            </a:extLst>
          </p:cNvPr>
          <p:cNvSpPr txBox="1"/>
          <p:nvPr/>
        </p:nvSpPr>
        <p:spPr>
          <a:xfrm>
            <a:off x="977900" y="2159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96B24"/>
                </a:solidFill>
              </a:rPr>
              <a:t>Observed strengths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3ABC9FA-9802-44A7-9DD4-7BDC90D900FC}"/>
              </a:ext>
            </a:extLst>
          </p:cNvPr>
          <p:cNvSpPr txBox="1"/>
          <p:nvPr/>
        </p:nvSpPr>
        <p:spPr>
          <a:xfrm>
            <a:off x="977900" y="2565400"/>
            <a:ext cx="4927600" cy="2463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00">
                <a:solidFill>
                  <a:srgbClr val="1A1A1A"/>
                </a:solidFill>
              </a:rPr>
              <a:t>•  Modality-agnostic architecture
•  Weight sharing: ∼2.6× fewer parameters, modest accuracy cost
•  Perceiver IO slightly edges base Perceiver on CIFAR-10
•  MLM pre-training transfers to GLUE fine-tuning
•  Fourier PE is robust and general-purpose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4308698-FF15-4638-87D4-E618F24DE0D8}"/>
              </a:ext>
            </a:extLst>
          </p:cNvPr>
          <p:cNvSpPr/>
          <p:nvPr/>
        </p:nvSpPr>
        <p:spPr>
          <a:xfrm>
            <a:off x="6426200" y="2006600"/>
            <a:ext cx="5334000" cy="31496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47963EC-37F5-4C98-93AC-FF25331D98C7}"/>
              </a:ext>
            </a:extLst>
          </p:cNvPr>
          <p:cNvSpPr/>
          <p:nvPr/>
        </p:nvSpPr>
        <p:spPr>
          <a:xfrm>
            <a:off x="6426200" y="2006600"/>
            <a:ext cx="5334000" cy="762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D5F1FAE-D8C2-4931-BCDC-4E5F5E138DF9}"/>
              </a:ext>
            </a:extLst>
          </p:cNvPr>
          <p:cNvSpPr txBox="1"/>
          <p:nvPr/>
        </p:nvSpPr>
        <p:spPr>
          <a:xfrm>
            <a:off x="6629400" y="2159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C0392B"/>
                </a:solidFill>
              </a:rPr>
              <a:t>Observed limitations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9F00F01-54B5-4114-8598-A9577E0B9500}"/>
              </a:ext>
            </a:extLst>
          </p:cNvPr>
          <p:cNvSpPr txBox="1"/>
          <p:nvPr/>
        </p:nvSpPr>
        <p:spPr>
          <a:xfrm>
            <a:off x="6629400" y="2565400"/>
            <a:ext cx="4927600" cy="2463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00">
                <a:solidFill>
                  <a:srgbClr val="1A1A1A"/>
                </a:solidFill>
              </a:rPr>
              <a:t>•  Performance gap vs paper on images (∼12 pp)
•  LAMB optimizer sensitive to batch size
•  Byte-level tokenization → very long sequences for text
•  Augmentation can hurt with limited training
•  Hyperparameter tuning is time-consuming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D5B6C75-0A2E-4A23-A0E9-B7944AB70EE9}"/>
              </a:ext>
            </a:extLst>
          </p:cNvPr>
          <p:cNvSpPr/>
          <p:nvPr/>
        </p:nvSpPr>
        <p:spPr>
          <a:xfrm>
            <a:off x="774700" y="5384800"/>
            <a:ext cx="10985500" cy="6858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328D228-9F56-43CA-BAA0-C787D49FF60F}"/>
              </a:ext>
            </a:extLst>
          </p:cNvPr>
          <p:cNvSpPr txBox="1"/>
          <p:nvPr/>
        </p:nvSpPr>
        <p:spPr>
          <a:xfrm>
            <a:off x="927100" y="5384800"/>
            <a:ext cx="106807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Central finding — positional encoding is the largest single factor in the CIFAR-10 ablation: removing it drops accuracy from 72.02% to 61.34%.</a:t>
            </a:r>
            <a:endParaRPr lang="it-IT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517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1FD264E-F91E-A55D-CBAB-F785673D9D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0C0E7B07-24B0-E0E9-E8F8-A86F4CD55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Conclusions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6CB1F92-CDEC-47DE-BF24-3C71A60DEDE2}"/>
              </a:ext>
            </a:extLst>
          </p:cNvPr>
          <p:cNvSpPr/>
          <p:nvPr/>
        </p:nvSpPr>
        <p:spPr>
          <a:xfrm>
            <a:off x="774700" y="2006600"/>
            <a:ext cx="5334000" cy="31496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A9055CF-89ED-41C3-BC60-B3AD8CBA799D}"/>
              </a:ext>
            </a:extLst>
          </p:cNvPr>
          <p:cNvSpPr/>
          <p:nvPr/>
        </p:nvSpPr>
        <p:spPr>
          <a:xfrm>
            <a:off x="774700" y="2006600"/>
            <a:ext cx="5334000" cy="762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077F1DD-B446-41B7-BDAB-E42F0256C5D0}"/>
              </a:ext>
            </a:extLst>
          </p:cNvPr>
          <p:cNvSpPr txBox="1"/>
          <p:nvPr/>
        </p:nvSpPr>
        <p:spPr>
          <a:xfrm>
            <a:off x="977900" y="2159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196B24"/>
                </a:solidFill>
              </a:rPr>
              <a:t>Architecture properties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7B56F0E-1B09-4CBA-8DBE-E37BAA65B94B}"/>
              </a:ext>
            </a:extLst>
          </p:cNvPr>
          <p:cNvSpPr txBox="1"/>
          <p:nvPr/>
        </p:nvSpPr>
        <p:spPr>
          <a:xfrm>
            <a:off x="977900" y="2565400"/>
            <a:ext cx="4927600" cy="2463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00">
                <a:solidFill>
                  <a:srgbClr val="1A1A1A"/>
                </a:solidFill>
              </a:rPr>
              <a:t>•  Single architecture for images, point clouds, and text
•  Linear complexity in input size
•  Memory efficiency via weight sharing (∼61%)
•  Zero CNN / RNN domain-specific assumptions
•  Output queries enable flexible structured decoding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535C733E-D5EA-4C2D-8109-F381D279D016}"/>
              </a:ext>
            </a:extLst>
          </p:cNvPr>
          <p:cNvSpPr/>
          <p:nvPr/>
        </p:nvSpPr>
        <p:spPr>
          <a:xfrm>
            <a:off x="6426200" y="2006600"/>
            <a:ext cx="5334000" cy="31496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8D1BABA-AE9B-4FE9-A836-DD936829B420}"/>
              </a:ext>
            </a:extLst>
          </p:cNvPr>
          <p:cNvSpPr/>
          <p:nvPr/>
        </p:nvSpPr>
        <p:spPr>
          <a:xfrm>
            <a:off x="6426200" y="2006600"/>
            <a:ext cx="5334000" cy="76200"/>
          </a:xfrm>
          <a:prstGeom prst="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D2D52C4-62E9-4F0E-A374-FED4C0A1942A}"/>
              </a:ext>
            </a:extLst>
          </p:cNvPr>
          <p:cNvSpPr txBox="1"/>
          <p:nvPr/>
        </p:nvSpPr>
        <p:spPr>
          <a:xfrm>
            <a:off x="6629400" y="2159000"/>
            <a:ext cx="49276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500" b="1">
                <a:solidFill>
                  <a:srgbClr val="C0392B"/>
                </a:solidFill>
              </a:rPr>
              <a:t>Remaining limitations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A4A80D6-02DA-4A33-A03C-0A63272E6B7E}"/>
              </a:ext>
            </a:extLst>
          </p:cNvPr>
          <p:cNvSpPr txBox="1"/>
          <p:nvPr/>
        </p:nvSpPr>
        <p:spPr>
          <a:xfrm>
            <a:off x="6629400" y="2565400"/>
            <a:ext cx="4927600" cy="2463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300">
                <a:solidFill>
                  <a:srgbClr val="1A1A1A"/>
                </a:solidFill>
              </a:rPr>
              <a:t>•  Requires large compute to match specialized models
•  Heavily depends on positional encoding
•  Outperformed by efficient CNNs on vision benchmarks
•  LAMB introduces training instability at small scale
•  Latent bottleneck limits fine-grained spatial reasoning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B65086F-9934-47BC-81A9-61B96764EA36}"/>
              </a:ext>
            </a:extLst>
          </p:cNvPr>
          <p:cNvSpPr/>
          <p:nvPr/>
        </p:nvSpPr>
        <p:spPr>
          <a:xfrm>
            <a:off x="774700" y="5384800"/>
            <a:ext cx="10985500" cy="6858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0097315-F9E0-406A-99DB-1DB9D2915F26}"/>
              </a:ext>
            </a:extLst>
          </p:cNvPr>
          <p:cNvSpPr txBox="1"/>
          <p:nvPr/>
        </p:nvSpPr>
        <p:spPr>
          <a:xfrm>
            <a:off x="927100" y="5384800"/>
            <a:ext cx="10680700" cy="685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350" b="1">
                <a:solidFill>
                  <a:srgbClr val="FFFFFF"/>
                </a:solidFill>
              </a:rPr>
              <a:t>A single general-purpose architecture applies to images, point clouds, and text. At the tested scale, performance depends strongly on positional encoding, latent capacity, and available compute.</a:t>
            </a:r>
            <a:endParaRPr lang="it-IT" sz="13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315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BC80FAA-9435-E04B-A7B3-D175AA5155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it-IT"/>
              <a:t>Questions?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0CD1E0-52F9-E149-A57F-714D455359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/>
              <a:t>Francesco Gigli  ·  Corso Vignoli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7FBA6F7-C967-CF4D-AD7D-FC03901314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/>
              <a:t>Università degli Studi di Firenze  ·  Course B031278 — Deep Learning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8EB8E93C-7698-414F-97DD-BFDA414291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Code and models available upon request</a:t>
            </a:r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5D5C45F-1F83-9949-83E6-E9AFC97601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itolo 7">
            <a:extLst>
              <a:ext uri="{FF2B5EF4-FFF2-40B4-BE49-F238E27FC236}">
                <a16:creationId xmlns:a16="http://schemas.microsoft.com/office/drawing/2014/main" id="{D4EA38DD-12F7-FB4B-8A7D-28D03E1D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Thank you!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322811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7AD2D38-0527-42EB-9BAB-BEF4CE8ED520}">
  <we:reference id="wa200010725" version="1.0.0.1" store="it-IT" storeType="OMEX"/>
  <we:alternateReferences>
    <we:reference id="wa200010725" version="1.0.0.1" store="wa200010725" storeType="OMEX"/>
  </we:alternateReferences>
  <we:properties>
    <we:property name="claude.fileId" value="&quot;194ebe41-69a4-4857-8ce7-85066af63d6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3855</Words>
  <Application>Microsoft Office PowerPoint</Application>
  <PresentationFormat>Widescreen</PresentationFormat>
  <Paragraphs>612</Paragraphs>
  <Slides>38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38</vt:i4>
      </vt:variant>
    </vt:vector>
  </HeadingPairs>
  <TitlesOfParts>
    <vt:vector size="47" baseType="lpstr">
      <vt:lpstr>Aptos</vt:lpstr>
      <vt:lpstr>Aptos Display</vt:lpstr>
      <vt:lpstr>Arial</vt:lpstr>
      <vt:lpstr>Cambria Math</vt:lpstr>
      <vt:lpstr>CMSS10</vt:lpstr>
      <vt:lpstr>Consolas</vt:lpstr>
      <vt:lpstr>Courier New</vt:lpstr>
      <vt:lpstr>Verdana</vt:lpstr>
      <vt:lpstr>Tema di Office</vt:lpstr>
      <vt:lpstr>Perceiver &amp; Perceiver IO Implementation and Experimental Analysis</vt:lpstr>
      <vt:lpstr>Presentazione standard di PowerPoint</vt:lpstr>
      <vt:lpstr>The Problem: Modality-Specific Architectures</vt:lpstr>
      <vt:lpstr>The Perceiver Solution</vt:lpstr>
      <vt:lpstr>Perceiver Architecture</vt:lpstr>
      <vt:lpstr>Presentazione standard di PowerPoint</vt:lpstr>
      <vt:lpstr>Latent Transformer &amp; Weight Sharing</vt:lpstr>
      <vt:lpstr>Fourier Positional Encoding</vt:lpstr>
      <vt:lpstr>Perceiver Forward Pass: Shape Checkpoints</vt:lpstr>
      <vt:lpstr>Original Perceiver Output: Pooling Classifier</vt:lpstr>
      <vt:lpstr>Computational Complexity Analysis</vt:lpstr>
      <vt:lpstr>GELU Activation &amp; LAMB Optimizer</vt:lpstr>
      <vt:lpstr>Implementation</vt:lpstr>
      <vt:lpstr>Implementation Differences from the Paper</vt:lpstr>
      <vt:lpstr>CIFAR-10: Experimental Setup</vt:lpstr>
      <vt:lpstr>CIFAR-10: Ablation Accuracy</vt:lpstr>
      <vt:lpstr>CIFAR-10: Ablation Matrix</vt:lpstr>
      <vt:lpstr>CIFAR-10: Weight Sharing Trade-off</vt:lpstr>
      <vt:lpstr>CIFAR-10: Fixed-Permutation Test</vt:lpstr>
      <vt:lpstr>CIFAR-10: Best Perceiver Configuration</vt:lpstr>
      <vt:lpstr>ModelNet40: Setup &amp; Results</vt:lpstr>
      <vt:lpstr>ModelNet40: Augmentation Effects</vt:lpstr>
      <vt:lpstr>Perceiver IO: Structured Outputs</vt:lpstr>
      <vt:lpstr>Perceiver IO Decoder with Output Queries</vt:lpstr>
      <vt:lpstr>Output Query Design per Task</vt:lpstr>
      <vt:lpstr>CIFAR-10: Perceiver vs Perceiver IO</vt:lpstr>
      <vt:lpstr>WikiText-103: Masked Language Model Pre-training</vt:lpstr>
      <vt:lpstr>GLUE: Fine-tuning on 8 Tasks</vt:lpstr>
      <vt:lpstr>GLUE: Per-Task Results</vt:lpstr>
      <vt:lpstr>Convergence: Representative Checkpoints</vt:lpstr>
      <vt:lpstr>Attention Maps Analysis</vt:lpstr>
      <vt:lpstr>Comprehensive Results Summary</vt:lpstr>
      <vt:lpstr>Gap vs Original Papers</vt:lpstr>
      <vt:lpstr>Hardware Limitations &amp; Design Choices</vt:lpstr>
      <vt:lpstr>Possible Improvements</vt:lpstr>
      <vt:lpstr>Empirical Summary</vt:lpstr>
      <vt:lpstr>Conclusions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Gigli</dc:creator>
  <cp:lastModifiedBy>Francesco Gigli</cp:lastModifiedBy>
  <cp:revision>4</cp:revision>
  <dcterms:created xsi:type="dcterms:W3CDTF">2026-06-15T08:59:35Z</dcterms:created>
  <dcterms:modified xsi:type="dcterms:W3CDTF">2026-06-17T14:04:39Z</dcterms:modified>
</cp:coreProperties>
</file>